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 id="2147483763" r:id="rId2"/>
  </p:sldMasterIdLst>
  <p:notesMasterIdLst>
    <p:notesMasterId r:id="rId34"/>
  </p:notesMasterIdLst>
  <p:sldIdLst>
    <p:sldId id="256" r:id="rId3"/>
    <p:sldId id="257" r:id="rId4"/>
    <p:sldId id="258" r:id="rId5"/>
    <p:sldId id="259" r:id="rId6"/>
    <p:sldId id="260" r:id="rId7"/>
    <p:sldId id="261" r:id="rId8"/>
    <p:sldId id="262" r:id="rId9"/>
    <p:sldId id="265" r:id="rId10"/>
    <p:sldId id="264" r:id="rId11"/>
    <p:sldId id="266" r:id="rId12"/>
    <p:sldId id="267" r:id="rId13"/>
    <p:sldId id="268" r:id="rId14"/>
    <p:sldId id="269" r:id="rId15"/>
    <p:sldId id="295" r:id="rId16"/>
    <p:sldId id="298" r:id="rId17"/>
    <p:sldId id="299" r:id="rId18"/>
    <p:sldId id="294" r:id="rId19"/>
    <p:sldId id="275" r:id="rId20"/>
    <p:sldId id="297" r:id="rId21"/>
    <p:sldId id="277" r:id="rId22"/>
    <p:sldId id="300" r:id="rId23"/>
    <p:sldId id="281" r:id="rId24"/>
    <p:sldId id="301" r:id="rId25"/>
    <p:sldId id="302" r:id="rId26"/>
    <p:sldId id="270" r:id="rId27"/>
    <p:sldId id="285" r:id="rId28"/>
    <p:sldId id="286" r:id="rId29"/>
    <p:sldId id="291" r:id="rId30"/>
    <p:sldId id="292" r:id="rId31"/>
    <p:sldId id="289" r:id="rId32"/>
    <p:sldId id="293" r:id="rId33"/>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3B59"/>
    <a:srgbClr val="66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5" d="100"/>
          <a:sy n="65" d="100"/>
        </p:scale>
        <p:origin x="2453"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64E432-B1C3-44C4-9D68-3FC8EEDA25F5}" type="datetimeFigureOut">
              <a:rPr lang="en-IN" smtClean="0"/>
              <a:t>31-12-2024</a:t>
            </a:fld>
            <a:endParaRPr lang="en-IN"/>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5AD6D5-7C25-4B9A-9887-13E7A4610C1B}" type="slidenum">
              <a:rPr lang="en-IN" smtClean="0"/>
              <a:t>‹#›</a:t>
            </a:fld>
            <a:endParaRPr lang="en-IN"/>
          </a:p>
        </p:txBody>
      </p:sp>
    </p:spTree>
    <p:extLst>
      <p:ext uri="{BB962C8B-B14F-4D97-AF65-F5344CB8AC3E}">
        <p14:creationId xmlns:p14="http://schemas.microsoft.com/office/powerpoint/2010/main" val="792514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g2cd1c77ac7f_0_63: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 name="Google Shape;40;g2cd1c77ac7f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abe88b6f23_0_7: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abe88b6f2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c798cac661_0_25: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c798cac66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f4f456f9df_0_0: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f4f456f9d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c798cac661_0_8: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c798cac661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c798cac661_0_18: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c798cac66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be88b6f23_0_101: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be88b6f23_0_101: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7933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be88b6f23_0_101: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7225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7d995588e_0_1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7d995588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7d995588e_0_1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7d995588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7903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ac2f510ffe_0_0: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ac2f510ff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be88b6f23_0_101: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72531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c7b31259bc_0_37: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c7b31259bc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be88b6f23_0_101: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248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be88b6f23_0_101: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be88b6f2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9730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ac2f510ff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ac2f510ff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c7b31259bc_0_165: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c7b31259bc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c7b31259bc_0_165: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c7b31259bc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97968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c7b31259bc_0_165: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c7b31259bc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57685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7b31259bc_0_64: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7b31259bc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c7b31259bc_0_165: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c7b31259bc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0131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849" y="2745349"/>
            <a:ext cx="6860063" cy="2438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05739" y="2888488"/>
            <a:ext cx="6452756" cy="2319129"/>
          </a:xfrm>
        </p:spPr>
        <p:txBody>
          <a:bodyPr tIns="45720" bIns="45720" anchor="ctr">
            <a:normAutofit/>
          </a:bodyPr>
          <a:lstStyle>
            <a:lvl1pPr algn="ctr">
              <a:lnSpc>
                <a:spcPct val="80000"/>
              </a:lnSpc>
              <a:defRPr sz="4500" spc="0" baseline="0"/>
            </a:lvl1pPr>
          </a:lstStyle>
          <a:p>
            <a:r>
              <a:rPr lang="en-US"/>
              <a:t>Click to edit Master title style</a:t>
            </a:r>
            <a:endParaRPr lang="en-US" dirty="0"/>
          </a:p>
        </p:txBody>
      </p:sp>
      <p:sp>
        <p:nvSpPr>
          <p:cNvPr id="3" name="Subtitle 2"/>
          <p:cNvSpPr>
            <a:spLocks noGrp="1"/>
          </p:cNvSpPr>
          <p:nvPr>
            <p:ph type="subTitle" idx="1"/>
          </p:nvPr>
        </p:nvSpPr>
        <p:spPr>
          <a:xfrm>
            <a:off x="857250" y="5293754"/>
            <a:ext cx="5143500" cy="1745673"/>
          </a:xfrm>
        </p:spPr>
        <p:txBody>
          <a:bodyPr>
            <a:normAutofit/>
          </a:bodyPr>
          <a:lstStyle>
            <a:lvl1pPr marL="0" indent="0" algn="ctr">
              <a:buNone/>
              <a:defRPr sz="1500"/>
            </a:lvl1pPr>
            <a:lvl2pPr marL="342900" indent="0" algn="ctr">
              <a:buNone/>
              <a:defRPr sz="1500"/>
            </a:lvl2pPr>
            <a:lvl3pPr marL="685800" indent="0" algn="ctr">
              <a:buNone/>
              <a:defRPr sz="15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01F6B2-25AA-4F49-8B29-A540EB52E9E6}"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1659421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01F6B2-25AA-4F49-8B29-A540EB52E9E6}"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192135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3849" y="2745349"/>
            <a:ext cx="6860063" cy="24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68670" y="2945172"/>
            <a:ext cx="5915025" cy="2235200"/>
          </a:xfrm>
        </p:spPr>
        <p:txBody>
          <a:bodyPr anchor="ctr">
            <a:noAutofit/>
          </a:bodyPr>
          <a:lstStyle>
            <a:lvl1pPr algn="ctr">
              <a:lnSpc>
                <a:spcPct val="80000"/>
              </a:lnSpc>
              <a:defRPr sz="4500" b="0" spc="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68670" y="5312534"/>
            <a:ext cx="5915025" cy="1566185"/>
          </a:xfrm>
        </p:spPr>
        <p:txBody>
          <a:bodyPr anchor="t">
            <a:normAutofit/>
          </a:bodyPr>
          <a:lstStyle>
            <a:lvl1pPr marL="0" indent="0" algn="ctr">
              <a:buNone/>
              <a:defRPr sz="150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7001F6B2-25AA-4F49-8B29-A540EB52E9E6}" type="datetimeFigureOut">
              <a:rPr lang="en-IN" smtClean="0"/>
              <a:t>31-12-2024</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11C36F0B-2439-4BA9-927A-D72B7D6C9B36}" type="slidenum">
              <a:rPr lang="en-IN" smtClean="0"/>
              <a:t>‹#›</a:t>
            </a:fld>
            <a:endParaRPr lang="en-IN"/>
          </a:p>
        </p:txBody>
      </p:sp>
    </p:spTree>
    <p:extLst>
      <p:ext uri="{BB962C8B-B14F-4D97-AF65-F5344CB8AC3E}">
        <p14:creationId xmlns:p14="http://schemas.microsoft.com/office/powerpoint/2010/main" val="339373939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4348" y="2682240"/>
            <a:ext cx="2743200" cy="56083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600450" y="2682240"/>
            <a:ext cx="2743200" cy="56083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01F6B2-25AA-4F49-8B29-A540EB52E9E6}" type="datetimeFigureOut">
              <a:rPr lang="en-IN" smtClean="0"/>
              <a:t>31-12-2024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236614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514350" y="2551293"/>
            <a:ext cx="2743200" cy="990792"/>
          </a:xfrm>
        </p:spPr>
        <p:txBody>
          <a:bodyPr anchor="ctr">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4350" y="3542088"/>
            <a:ext cx="2743200" cy="47548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600321" y="2551293"/>
            <a:ext cx="2743200" cy="990792"/>
          </a:xfrm>
        </p:spPr>
        <p:txBody>
          <a:bodyPr anchor="ctr">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600321" y="3542085"/>
            <a:ext cx="2743200" cy="47548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01F6B2-25AA-4F49-8B29-A540EB52E9E6}" type="datetimeFigureOut">
              <a:rPr lang="en-IN" smtClean="0"/>
              <a:t>31-12-2024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631058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01F6B2-25AA-4F49-8B29-A540EB52E9E6}" type="datetimeFigureOut">
              <a:rPr lang="en-IN" smtClean="0"/>
              <a:t>31-12-2024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780125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01F6B2-25AA-4F49-8B29-A540EB52E9E6}" type="datetimeFigureOut">
              <a:rPr lang="en-IN" smtClean="0"/>
              <a:t>31-12-2024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327213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14350" y="2865120"/>
            <a:ext cx="3429000" cy="512064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419426" y="2863317"/>
            <a:ext cx="1920240" cy="4576425"/>
          </a:xfrm>
        </p:spPr>
        <p:txBody>
          <a:bodyPr>
            <a:normAutofit/>
          </a:bodyPr>
          <a:lstStyle>
            <a:lvl1pPr marL="0" indent="0">
              <a:lnSpc>
                <a:spcPct val="95000"/>
              </a:lnSpc>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001F6B2-25AA-4F49-8B29-A540EB52E9E6}" type="datetimeFigureOut">
              <a:rPr lang="en-IN" smtClean="0"/>
              <a:t>31-12-2024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47183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514350" y="2948659"/>
            <a:ext cx="3566160" cy="5120640"/>
          </a:xfrm>
          <a:solidFill>
            <a:schemeClr val="tx2">
              <a:lumMod val="60000"/>
              <a:lumOff val="40000"/>
            </a:schemeClr>
          </a:solidFill>
        </p:spPr>
        <p:txBody>
          <a:bodyPr tIns="365760" anchor="t"/>
          <a:lstStyle>
            <a:lvl1pPr marL="0" indent="0" algn="ctr">
              <a:buNone/>
              <a:defRPr sz="2400">
                <a:solidFill>
                  <a:schemeClr val="tx1">
                    <a:lumMod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414013" y="2867495"/>
            <a:ext cx="1920240" cy="4572000"/>
          </a:xfrm>
        </p:spPr>
        <p:txBody>
          <a:bodyPr>
            <a:normAutofit/>
          </a:bodyPr>
          <a:lstStyle>
            <a:lvl1pPr marL="0" indent="0">
              <a:lnSpc>
                <a:spcPct val="95000"/>
              </a:lnSpc>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001F6B2-25AA-4F49-8B29-A540EB52E9E6}" type="datetimeFigureOut">
              <a:rPr lang="en-IN" smtClean="0"/>
              <a:t>31-12-2024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4032143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01F6B2-25AA-4F49-8B29-A540EB52E9E6}"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1744737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5073363" y="0"/>
            <a:ext cx="1543050" cy="914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5152851" y="812800"/>
            <a:ext cx="1351339" cy="7518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812800"/>
            <a:ext cx="4484976" cy="7518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71488" y="8563808"/>
            <a:ext cx="1543048" cy="486833"/>
          </a:xfrm>
        </p:spPr>
        <p:txBody>
          <a:bodyPr/>
          <a:lstStyle/>
          <a:p>
            <a:fld id="{7001F6B2-25AA-4F49-8B29-A540EB52E9E6}" type="datetimeFigureOut">
              <a:rPr lang="en-IN" smtClean="0"/>
              <a:t>31-12-2024</a:t>
            </a:fld>
            <a:endParaRPr lang="en-IN"/>
          </a:p>
        </p:txBody>
      </p:sp>
      <p:sp>
        <p:nvSpPr>
          <p:cNvPr id="5" name="Footer Placeholder 4"/>
          <p:cNvSpPr>
            <a:spLocks noGrp="1"/>
          </p:cNvSpPr>
          <p:nvPr>
            <p:ph type="ftr" sz="quarter" idx="11"/>
          </p:nvPr>
        </p:nvSpPr>
        <p:spPr>
          <a:xfrm>
            <a:off x="2124077" y="8563808"/>
            <a:ext cx="2407314" cy="486833"/>
          </a:xfrm>
        </p:spPr>
        <p:txBody>
          <a:bodyPr/>
          <a:lstStyle/>
          <a:p>
            <a:endParaRPr lang="en-IN"/>
          </a:p>
        </p:txBody>
      </p:sp>
      <p:sp>
        <p:nvSpPr>
          <p:cNvPr id="6" name="Slide Number Placeholder 5"/>
          <p:cNvSpPr>
            <a:spLocks noGrp="1"/>
          </p:cNvSpPr>
          <p:nvPr>
            <p:ph type="sldNum" sz="quarter" idx="12"/>
          </p:nvPr>
        </p:nvSpPr>
        <p:spPr>
          <a:xfrm>
            <a:off x="4541091" y="8563808"/>
            <a:ext cx="494864" cy="486833"/>
          </a:xfrm>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646912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nfo Slide">
  <p:cSld name="Info Slide">
    <p:bg>
      <p:bgPr>
        <a:solidFill>
          <a:schemeClr val="lt1"/>
        </a:solidFill>
        <a:effectLst/>
      </p:bgPr>
    </p:bg>
    <p:spTree>
      <p:nvGrpSpPr>
        <p:cNvPr id="1" name="Shape 23"/>
        <p:cNvGrpSpPr/>
        <p:nvPr/>
      </p:nvGrpSpPr>
      <p:grpSpPr>
        <a:xfrm>
          <a:off x="0" y="0"/>
          <a:ext cx="0" cy="0"/>
          <a:chOff x="0" y="0"/>
          <a:chExt cx="0" cy="0"/>
        </a:xfrm>
      </p:grpSpPr>
      <p:sp>
        <p:nvSpPr>
          <p:cNvPr id="24" name="Google Shape;24;p5"/>
          <p:cNvSpPr txBox="1"/>
          <p:nvPr/>
        </p:nvSpPr>
        <p:spPr>
          <a:xfrm>
            <a:off x="0" y="0"/>
            <a:ext cx="6858000" cy="723545"/>
          </a:xfrm>
          <a:prstGeom prst="rect">
            <a:avLst/>
          </a:prstGeom>
          <a:solidFill>
            <a:srgbClr val="DBE2E8"/>
          </a:solidFill>
          <a:ln>
            <a:noFill/>
          </a:ln>
        </p:spPr>
        <p:txBody>
          <a:bodyPr spcFirstLastPara="1" wrap="square" lIns="80669" tIns="80669" rIns="80669" bIns="80669" anchor="ctr" anchorCtr="0">
            <a:noAutofit/>
          </a:bodyPr>
          <a:lstStyle/>
          <a:p>
            <a:pPr marL="0" lvl="0" indent="0" algn="ctr" rtl="0">
              <a:spcBef>
                <a:spcPts val="0"/>
              </a:spcBef>
              <a:spcAft>
                <a:spcPts val="0"/>
              </a:spcAft>
              <a:buNone/>
            </a:pPr>
            <a:r>
              <a:rPr lang="en" sz="1941" b="1" i="1">
                <a:solidFill>
                  <a:srgbClr val="15C26B"/>
                </a:solidFill>
                <a:latin typeface="Open Sans"/>
                <a:ea typeface="Open Sans"/>
                <a:cs typeface="Open Sans"/>
                <a:sym typeface="Open Sans"/>
              </a:rPr>
              <a:t>Project Information Slide</a:t>
            </a:r>
            <a:endParaRPr sz="1941" b="1" i="1">
              <a:solidFill>
                <a:srgbClr val="15C26B"/>
              </a:solidFill>
              <a:latin typeface="Open Sans"/>
              <a:ea typeface="Open Sans"/>
              <a:cs typeface="Open Sans"/>
              <a:sym typeface="Open Sans"/>
            </a:endParaRPr>
          </a:p>
        </p:txBody>
      </p:sp>
      <p:sp>
        <p:nvSpPr>
          <p:cNvPr id="25" name="Google Shape;25;p5"/>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2824">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233775" y="2048845"/>
            <a:ext cx="6390529" cy="6073636"/>
          </a:xfrm>
          <a:prstGeom prst="rect">
            <a:avLst/>
          </a:prstGeom>
        </p:spPr>
        <p:txBody>
          <a:bodyPr spcFirstLastPara="1" wrap="square" lIns="91425" tIns="91425" rIns="91425" bIns="91425" anchor="t" anchorCtr="0">
            <a:noAutofit/>
          </a:bodyPr>
          <a:lstStyle>
            <a:lvl1pPr marL="403433" lvl="0" indent="-302575"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806867" lvl="1"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210300" lvl="2"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613733" lvl="3"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017166" lvl="4"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420600" lvl="5"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2824033" lvl="6"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227466" lvl="7"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3630900" lvl="8" indent="-302575" rtl="0">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spTree>
    <p:extLst>
      <p:ext uri="{BB962C8B-B14F-4D97-AF65-F5344CB8AC3E}">
        <p14:creationId xmlns:p14="http://schemas.microsoft.com/office/powerpoint/2010/main" val="26050538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02B3E4"/>
        </a:solid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177">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 name="Google Shape;12;p2"/>
          <p:cNvSpPr txBox="1">
            <a:spLocks noGrp="1"/>
          </p:cNvSpPr>
          <p:nvPr>
            <p:ph type="title" idx="2"/>
          </p:nvPr>
        </p:nvSpPr>
        <p:spPr>
          <a:xfrm>
            <a:off x="233731" y="7645246"/>
            <a:ext cx="6390529" cy="1018091"/>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177">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3" name="Google Shape;13;p2"/>
          <p:cNvPicPr preferRelativeResize="0"/>
          <p:nvPr/>
        </p:nvPicPr>
        <p:blipFill>
          <a:blip r:embed="rId2">
            <a:alphaModFix/>
          </a:blip>
          <a:stretch>
            <a:fillRect/>
          </a:stretch>
        </p:blipFill>
        <p:spPr>
          <a:xfrm>
            <a:off x="0" y="0"/>
            <a:ext cx="6858000" cy="623449"/>
          </a:xfrm>
          <a:prstGeom prst="rect">
            <a:avLst/>
          </a:prstGeom>
          <a:noFill/>
          <a:ln>
            <a:noFill/>
          </a:ln>
        </p:spPr>
      </p:pic>
    </p:spTree>
    <p:extLst>
      <p:ext uri="{BB962C8B-B14F-4D97-AF65-F5344CB8AC3E}">
        <p14:creationId xmlns:p14="http://schemas.microsoft.com/office/powerpoint/2010/main" val="1599113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rgbClr val="2D3D49"/>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33736" y="1963818"/>
            <a:ext cx="6390529" cy="2321727"/>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400"/>
              <a:buFont typeface="Open Sans Light"/>
              <a:buNone/>
              <a:defRPr sz="3883">
                <a:solidFill>
                  <a:schemeClr val="lt1"/>
                </a:solidFill>
                <a:latin typeface="Open Sans Light"/>
                <a:ea typeface="Open Sans Light"/>
                <a:cs typeface="Open Sans Light"/>
                <a:sym typeface="Open Sans Light"/>
              </a:defRPr>
            </a:lvl1pPr>
            <a:lvl2pPr lvl="1" algn="ctr" rtl="0">
              <a:spcBef>
                <a:spcPts val="0"/>
              </a:spcBef>
              <a:spcAft>
                <a:spcPts val="0"/>
              </a:spcAft>
              <a:buSzPts val="3600"/>
              <a:buNone/>
              <a:defRPr sz="3177"/>
            </a:lvl2pPr>
            <a:lvl3pPr lvl="2" algn="ctr" rtl="0">
              <a:spcBef>
                <a:spcPts val="0"/>
              </a:spcBef>
              <a:spcAft>
                <a:spcPts val="0"/>
              </a:spcAft>
              <a:buSzPts val="3600"/>
              <a:buNone/>
              <a:defRPr sz="3177"/>
            </a:lvl3pPr>
            <a:lvl4pPr lvl="3" algn="ctr" rtl="0">
              <a:spcBef>
                <a:spcPts val="0"/>
              </a:spcBef>
              <a:spcAft>
                <a:spcPts val="0"/>
              </a:spcAft>
              <a:buSzPts val="3600"/>
              <a:buNone/>
              <a:defRPr sz="3177"/>
            </a:lvl4pPr>
            <a:lvl5pPr lvl="4" algn="ctr" rtl="0">
              <a:spcBef>
                <a:spcPts val="0"/>
              </a:spcBef>
              <a:spcAft>
                <a:spcPts val="0"/>
              </a:spcAft>
              <a:buSzPts val="3600"/>
              <a:buNone/>
              <a:defRPr sz="3177"/>
            </a:lvl5pPr>
            <a:lvl6pPr lvl="5" algn="ctr" rtl="0">
              <a:spcBef>
                <a:spcPts val="0"/>
              </a:spcBef>
              <a:spcAft>
                <a:spcPts val="0"/>
              </a:spcAft>
              <a:buSzPts val="3600"/>
              <a:buNone/>
              <a:defRPr sz="3177"/>
            </a:lvl6pPr>
            <a:lvl7pPr lvl="6" algn="ctr" rtl="0">
              <a:spcBef>
                <a:spcPts val="0"/>
              </a:spcBef>
              <a:spcAft>
                <a:spcPts val="0"/>
              </a:spcAft>
              <a:buSzPts val="3600"/>
              <a:buNone/>
              <a:defRPr sz="3177"/>
            </a:lvl7pPr>
            <a:lvl8pPr lvl="7" algn="ctr" rtl="0">
              <a:spcBef>
                <a:spcPts val="0"/>
              </a:spcBef>
              <a:spcAft>
                <a:spcPts val="0"/>
              </a:spcAft>
              <a:buSzPts val="3600"/>
              <a:buNone/>
              <a:defRPr sz="3177"/>
            </a:lvl8pPr>
            <a:lvl9pPr lvl="8" algn="ctr" rtl="0">
              <a:spcBef>
                <a:spcPts val="0"/>
              </a:spcBef>
              <a:spcAft>
                <a:spcPts val="0"/>
              </a:spcAft>
              <a:buSzPts val="3600"/>
              <a:buNone/>
              <a:defRPr sz="3177"/>
            </a:lvl9pPr>
          </a:lstStyle>
          <a:p>
            <a:endParaRPr/>
          </a:p>
        </p:txBody>
      </p:sp>
      <p:pic>
        <p:nvPicPr>
          <p:cNvPr id="16" name="Google Shape;16;p3"/>
          <p:cNvPicPr preferRelativeResize="0"/>
          <p:nvPr/>
        </p:nvPicPr>
        <p:blipFill>
          <a:blip r:embed="rId2">
            <a:alphaModFix/>
          </a:blip>
          <a:stretch>
            <a:fillRect/>
          </a:stretch>
        </p:blipFill>
        <p:spPr>
          <a:xfrm>
            <a:off x="6194293" y="140273"/>
            <a:ext cx="468000" cy="482182"/>
          </a:xfrm>
          <a:prstGeom prst="rect">
            <a:avLst/>
          </a:prstGeom>
          <a:noFill/>
          <a:ln>
            <a:noFill/>
          </a:ln>
        </p:spPr>
      </p:pic>
      <p:pic>
        <p:nvPicPr>
          <p:cNvPr id="17" name="Google Shape;17;p3"/>
          <p:cNvPicPr preferRelativeResize="0"/>
          <p:nvPr/>
        </p:nvPicPr>
        <p:blipFill>
          <a:blip r:embed="rId3">
            <a:alphaModFix/>
          </a:blip>
          <a:stretch>
            <a:fillRect/>
          </a:stretch>
        </p:blipFill>
        <p:spPr>
          <a:xfrm>
            <a:off x="738640" y="4147000"/>
            <a:ext cx="924485" cy="138545"/>
          </a:xfrm>
          <a:prstGeom prst="rect">
            <a:avLst/>
          </a:prstGeom>
          <a:noFill/>
          <a:ln>
            <a:noFill/>
          </a:ln>
        </p:spPr>
      </p:pic>
    </p:spTree>
    <p:extLst>
      <p:ext uri="{BB962C8B-B14F-4D97-AF65-F5344CB8AC3E}">
        <p14:creationId xmlns:p14="http://schemas.microsoft.com/office/powerpoint/2010/main" val="3723343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Remove slide">
  <p:cSld name="Remove slide">
    <p:bg>
      <p:bgPr>
        <a:solidFill>
          <a:schemeClr val="lt1"/>
        </a:solid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2824">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p:nvPr/>
        </p:nvSpPr>
        <p:spPr>
          <a:xfrm>
            <a:off x="780132" y="7174524"/>
            <a:ext cx="5297824" cy="1590273"/>
          </a:xfrm>
          <a:prstGeom prst="rect">
            <a:avLst/>
          </a:prstGeom>
          <a:solidFill>
            <a:srgbClr val="DBE2E8"/>
          </a:solidFill>
          <a:ln>
            <a:noFill/>
          </a:ln>
        </p:spPr>
        <p:txBody>
          <a:bodyPr spcFirstLastPara="1" wrap="square" lIns="80669" tIns="80669" rIns="80669" bIns="80669" anchor="ctr" anchorCtr="0">
            <a:noAutofit/>
          </a:bodyPr>
          <a:lstStyle/>
          <a:p>
            <a:pPr marL="0" lvl="0" indent="0" algn="ctr" rtl="0">
              <a:spcBef>
                <a:spcPts val="0"/>
              </a:spcBef>
              <a:spcAft>
                <a:spcPts val="0"/>
              </a:spcAft>
              <a:buNone/>
            </a:pPr>
            <a:r>
              <a:rPr lang="en" sz="3177" b="1" i="1">
                <a:solidFill>
                  <a:srgbClr val="15C26B"/>
                </a:solidFill>
                <a:latin typeface="Open Sans"/>
                <a:ea typeface="Open Sans"/>
                <a:cs typeface="Open Sans"/>
                <a:sym typeface="Open Sans"/>
              </a:rPr>
              <a:t>Remove this slide </a:t>
            </a:r>
            <a:endParaRPr sz="3177" b="1" i="1">
              <a:solidFill>
                <a:srgbClr val="15C26B"/>
              </a:solidFill>
              <a:latin typeface="Open Sans"/>
              <a:ea typeface="Open Sans"/>
              <a:cs typeface="Open Sans"/>
              <a:sym typeface="Open Sans"/>
            </a:endParaRPr>
          </a:p>
        </p:txBody>
      </p:sp>
      <p:sp>
        <p:nvSpPr>
          <p:cNvPr id="21" name="Google Shape;21;p4"/>
          <p:cNvSpPr txBox="1">
            <a:spLocks noGrp="1"/>
          </p:cNvSpPr>
          <p:nvPr>
            <p:ph type="body" idx="1"/>
          </p:nvPr>
        </p:nvSpPr>
        <p:spPr>
          <a:xfrm>
            <a:off x="233775" y="2048845"/>
            <a:ext cx="6390529" cy="6073636"/>
          </a:xfrm>
          <a:prstGeom prst="rect">
            <a:avLst/>
          </a:prstGeom>
        </p:spPr>
        <p:txBody>
          <a:bodyPr spcFirstLastPara="1" wrap="square" lIns="91425" tIns="91425" rIns="91425" bIns="91425" anchor="t" anchorCtr="0">
            <a:noAutofit/>
          </a:bodyPr>
          <a:lstStyle>
            <a:lvl1pPr marL="403433" lvl="0" indent="-302575"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806867" lvl="1"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210300" lvl="2"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613733" lvl="3"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017166" lvl="4"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420600" lvl="5"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2824033" lvl="6"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227466" lvl="7"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3630900" lvl="8" indent="-302575" rtl="0">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pic>
        <p:nvPicPr>
          <p:cNvPr id="22" name="Google Shape;22;p4"/>
          <p:cNvPicPr preferRelativeResize="0"/>
          <p:nvPr/>
        </p:nvPicPr>
        <p:blipFill rotWithShape="1">
          <a:blip r:embed="rId2">
            <a:alphaModFix/>
          </a:blip>
          <a:srcRect/>
          <a:stretch/>
        </p:blipFill>
        <p:spPr>
          <a:xfrm>
            <a:off x="6194293" y="140273"/>
            <a:ext cx="468000" cy="482182"/>
          </a:xfrm>
          <a:prstGeom prst="rect">
            <a:avLst/>
          </a:prstGeom>
          <a:noFill/>
          <a:ln>
            <a:noFill/>
          </a:ln>
        </p:spPr>
      </p:pic>
    </p:spTree>
    <p:extLst>
      <p:ext uri="{BB962C8B-B14F-4D97-AF65-F5344CB8AC3E}">
        <p14:creationId xmlns:p14="http://schemas.microsoft.com/office/powerpoint/2010/main" val="4029371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nfo Slide">
  <p:cSld name="Info Slide">
    <p:bg>
      <p:bgPr>
        <a:solidFill>
          <a:schemeClr val="lt1"/>
        </a:solidFill>
        <a:effectLst/>
      </p:bgPr>
    </p:bg>
    <p:spTree>
      <p:nvGrpSpPr>
        <p:cNvPr id="1" name="Shape 23"/>
        <p:cNvGrpSpPr/>
        <p:nvPr/>
      </p:nvGrpSpPr>
      <p:grpSpPr>
        <a:xfrm>
          <a:off x="0" y="0"/>
          <a:ext cx="0" cy="0"/>
          <a:chOff x="0" y="0"/>
          <a:chExt cx="0" cy="0"/>
        </a:xfrm>
      </p:grpSpPr>
      <p:sp>
        <p:nvSpPr>
          <p:cNvPr id="24" name="Google Shape;24;p5"/>
          <p:cNvSpPr txBox="1"/>
          <p:nvPr/>
        </p:nvSpPr>
        <p:spPr>
          <a:xfrm>
            <a:off x="0" y="0"/>
            <a:ext cx="6858000" cy="723545"/>
          </a:xfrm>
          <a:prstGeom prst="rect">
            <a:avLst/>
          </a:prstGeom>
          <a:solidFill>
            <a:srgbClr val="DBE2E8"/>
          </a:solidFill>
          <a:ln>
            <a:noFill/>
          </a:ln>
        </p:spPr>
        <p:txBody>
          <a:bodyPr spcFirstLastPara="1" wrap="square" lIns="80669" tIns="80669" rIns="80669" bIns="80669" anchor="ctr" anchorCtr="0">
            <a:noAutofit/>
          </a:bodyPr>
          <a:lstStyle/>
          <a:p>
            <a:pPr marL="0" lvl="0" indent="0" algn="ctr" rtl="0">
              <a:spcBef>
                <a:spcPts val="0"/>
              </a:spcBef>
              <a:spcAft>
                <a:spcPts val="0"/>
              </a:spcAft>
              <a:buNone/>
            </a:pPr>
            <a:r>
              <a:rPr lang="en" sz="1941" b="1" i="1">
                <a:solidFill>
                  <a:srgbClr val="15C26B"/>
                </a:solidFill>
                <a:latin typeface="Open Sans"/>
                <a:ea typeface="Open Sans"/>
                <a:cs typeface="Open Sans"/>
                <a:sym typeface="Open Sans"/>
              </a:rPr>
              <a:t>Project Information Slide</a:t>
            </a:r>
            <a:endParaRPr sz="1941" b="1" i="1">
              <a:solidFill>
                <a:srgbClr val="15C26B"/>
              </a:solidFill>
              <a:latin typeface="Open Sans"/>
              <a:ea typeface="Open Sans"/>
              <a:cs typeface="Open Sans"/>
              <a:sym typeface="Open Sans"/>
            </a:endParaRPr>
          </a:p>
        </p:txBody>
      </p:sp>
      <p:sp>
        <p:nvSpPr>
          <p:cNvPr id="25" name="Google Shape;25;p5"/>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2824">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233775" y="2048845"/>
            <a:ext cx="6390529" cy="6073636"/>
          </a:xfrm>
          <a:prstGeom prst="rect">
            <a:avLst/>
          </a:prstGeom>
        </p:spPr>
        <p:txBody>
          <a:bodyPr spcFirstLastPara="1" wrap="square" lIns="91425" tIns="91425" rIns="91425" bIns="91425" anchor="t" anchorCtr="0">
            <a:noAutofit/>
          </a:bodyPr>
          <a:lstStyle>
            <a:lvl1pPr marL="403433" lvl="0" indent="-302575"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806867" lvl="1"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210300" lvl="2"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613733" lvl="3"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017166" lvl="4"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420600" lvl="5"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2824033" lvl="6"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227466" lvl="7"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3630900" lvl="8" indent="-302575" rtl="0">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spTree>
    <p:extLst>
      <p:ext uri="{BB962C8B-B14F-4D97-AF65-F5344CB8AC3E}">
        <p14:creationId xmlns:p14="http://schemas.microsoft.com/office/powerpoint/2010/main" val="1668344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theme" Target="../theme/theme2.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271" y="234813"/>
            <a:ext cx="6856286" cy="21945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513764" y="378901"/>
            <a:ext cx="5829300" cy="20116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3764" y="2682240"/>
            <a:ext cx="5829300" cy="56083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1168" y="8563808"/>
            <a:ext cx="1946282" cy="486833"/>
          </a:xfrm>
          <a:prstGeom prst="rect">
            <a:avLst/>
          </a:prstGeom>
        </p:spPr>
        <p:txBody>
          <a:bodyPr vert="horz" lIns="91440" tIns="45720" rIns="45720" bIns="45720" rtlCol="0" anchor="ctr"/>
          <a:lstStyle>
            <a:lvl1pPr algn="l">
              <a:defRPr sz="788">
                <a:solidFill>
                  <a:schemeClr val="tx1"/>
                </a:solidFill>
              </a:defRPr>
            </a:lvl1pPr>
          </a:lstStyle>
          <a:p>
            <a:fld id="{7001F6B2-25AA-4F49-8B29-A540EB52E9E6}" type="datetimeFigureOut">
              <a:rPr lang="en-IN" smtClean="0"/>
              <a:t>31-12-2024</a:t>
            </a:fld>
            <a:endParaRPr lang="en-IN"/>
          </a:p>
        </p:txBody>
      </p:sp>
      <p:sp>
        <p:nvSpPr>
          <p:cNvPr id="5" name="Footer Placeholder 4"/>
          <p:cNvSpPr>
            <a:spLocks noGrp="1"/>
          </p:cNvSpPr>
          <p:nvPr>
            <p:ph type="ftr" sz="quarter" idx="3"/>
          </p:nvPr>
        </p:nvSpPr>
        <p:spPr>
          <a:xfrm>
            <a:off x="3143251" y="8563808"/>
            <a:ext cx="3045470" cy="486833"/>
          </a:xfrm>
          <a:prstGeom prst="rect">
            <a:avLst/>
          </a:prstGeom>
        </p:spPr>
        <p:txBody>
          <a:bodyPr vert="horz" lIns="91440" tIns="45720" rIns="91440" bIns="45720" rtlCol="0" anchor="ctr"/>
          <a:lstStyle>
            <a:lvl1pPr algn="r">
              <a:defRPr sz="788">
                <a:solidFill>
                  <a:schemeClr val="tx1"/>
                </a:solidFill>
              </a:defRPr>
            </a:lvl1pPr>
          </a:lstStyle>
          <a:p>
            <a:endParaRPr lang="en-IN"/>
          </a:p>
        </p:txBody>
      </p:sp>
      <p:sp>
        <p:nvSpPr>
          <p:cNvPr id="6" name="Slide Number Placeholder 5"/>
          <p:cNvSpPr>
            <a:spLocks noGrp="1"/>
          </p:cNvSpPr>
          <p:nvPr>
            <p:ph type="sldNum" sz="quarter" idx="4"/>
          </p:nvPr>
        </p:nvSpPr>
        <p:spPr>
          <a:xfrm>
            <a:off x="6198854" y="8563808"/>
            <a:ext cx="532274" cy="486833"/>
          </a:xfrm>
          <a:prstGeom prst="rect">
            <a:avLst/>
          </a:prstGeom>
        </p:spPr>
        <p:txBody>
          <a:bodyPr vert="horz" lIns="45720" tIns="45720" rIns="91440" bIns="45720" rtlCol="0" anchor="ctr"/>
          <a:lstStyle>
            <a:lvl1pPr algn="l">
              <a:defRPr sz="900" b="0">
                <a:solidFill>
                  <a:schemeClr val="tx1"/>
                </a:solidFill>
              </a:defRPr>
            </a:lvl1pPr>
          </a:lstStyle>
          <a:p>
            <a:fld id="{11C36F0B-2439-4BA9-927A-D72B7D6C9B36}" type="slidenum">
              <a:rPr lang="en-IN" smtClean="0"/>
              <a:t>‹#›</a:t>
            </a:fld>
            <a:endParaRPr lang="en-IN"/>
          </a:p>
        </p:txBody>
      </p:sp>
    </p:spTree>
    <p:extLst>
      <p:ext uri="{BB962C8B-B14F-4D97-AF65-F5344CB8AC3E}">
        <p14:creationId xmlns:p14="http://schemas.microsoft.com/office/powerpoint/2010/main" val="3360457452"/>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Lst>
  <p:txStyles>
    <p:titleStyle>
      <a:lvl1pPr algn="l" defTabSz="685800" rtl="0" eaLnBrk="1" latinLnBrk="0" hangingPunct="1">
        <a:lnSpc>
          <a:spcPct val="85000"/>
        </a:lnSpc>
        <a:spcBef>
          <a:spcPct val="0"/>
        </a:spcBef>
        <a:buNone/>
        <a:defRPr sz="3000" kern="1200" cap="all" baseline="0">
          <a:solidFill>
            <a:schemeClr val="bg2"/>
          </a:solidFill>
          <a:latin typeface="+mj-lt"/>
          <a:ea typeface="+mj-ea"/>
          <a:cs typeface="+mj-cs"/>
        </a:defRPr>
      </a:lvl1pPr>
    </p:titleStyle>
    <p:bodyStyle>
      <a:lvl1pPr marL="137160" indent="-137160" algn="l" defTabSz="685800" rtl="0" eaLnBrk="1" latinLnBrk="0" hangingPunct="1">
        <a:lnSpc>
          <a:spcPct val="90000"/>
        </a:lnSpc>
        <a:spcBef>
          <a:spcPts val="900"/>
        </a:spcBef>
        <a:spcAft>
          <a:spcPts val="150"/>
        </a:spcAft>
        <a:buClr>
          <a:schemeClr val="tx1"/>
        </a:buClr>
        <a:buFont typeface="Wingdings" pitchFamily="2" charset="2"/>
        <a:buChar char=""/>
        <a:defRPr sz="1650" kern="1200">
          <a:solidFill>
            <a:schemeClr val="tx1"/>
          </a:solidFill>
          <a:latin typeface="+mn-lt"/>
          <a:ea typeface="+mn-ea"/>
          <a:cs typeface="+mn-cs"/>
        </a:defRPr>
      </a:lvl1pPr>
      <a:lvl2pPr marL="308610" indent="-137160" algn="l" defTabSz="685800" rtl="0" eaLnBrk="1" latinLnBrk="0" hangingPunct="1">
        <a:lnSpc>
          <a:spcPct val="90000"/>
        </a:lnSpc>
        <a:spcBef>
          <a:spcPts val="150"/>
        </a:spcBef>
        <a:spcAft>
          <a:spcPts val="300"/>
        </a:spcAft>
        <a:buClr>
          <a:schemeClr val="tx1"/>
        </a:buClr>
        <a:buFont typeface="Wingdings" pitchFamily="2" charset="2"/>
        <a:buChar char=""/>
        <a:defRPr sz="1500" kern="1200">
          <a:solidFill>
            <a:schemeClr val="tx1"/>
          </a:solidFill>
          <a:latin typeface="+mn-lt"/>
          <a:ea typeface="+mn-ea"/>
          <a:cs typeface="+mn-cs"/>
        </a:defRPr>
      </a:lvl2pPr>
      <a:lvl3pPr marL="480060" indent="-137160" algn="l" defTabSz="685800" rtl="0" eaLnBrk="1" latinLnBrk="0" hangingPunct="1">
        <a:lnSpc>
          <a:spcPct val="90000"/>
        </a:lnSpc>
        <a:spcBef>
          <a:spcPts val="150"/>
        </a:spcBef>
        <a:spcAft>
          <a:spcPts val="300"/>
        </a:spcAft>
        <a:buClr>
          <a:schemeClr val="tx1"/>
        </a:buClr>
        <a:buFont typeface="Wingdings" pitchFamily="2" charset="2"/>
        <a:buChar char=""/>
        <a:defRPr sz="1350" kern="1200">
          <a:solidFill>
            <a:schemeClr val="tx1"/>
          </a:solidFill>
          <a:latin typeface="+mn-lt"/>
          <a:ea typeface="+mn-ea"/>
          <a:cs typeface="+mn-cs"/>
        </a:defRPr>
      </a:lvl3pPr>
      <a:lvl4pPr marL="651510" indent="-13716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4pPr>
      <a:lvl5pPr marL="822960" indent="-13716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5pPr>
      <a:lvl6pPr marL="9634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6pPr>
      <a:lvl7pPr marL="11038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7pPr>
      <a:lvl8pPr marL="12217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8pPr>
      <a:lvl9pPr marL="13546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3000"/>
              <a:buNone/>
              <a:defRPr sz="3000">
                <a:solidFill>
                  <a:srgbClr val="2E3D49"/>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33775" y="2048845"/>
            <a:ext cx="6390529" cy="6073636"/>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rgbClr val="525C65"/>
              </a:buClr>
              <a:buSzPts val="1800"/>
              <a:buFont typeface="Open Sans"/>
              <a:buChar char="●"/>
              <a:defRPr sz="1800">
                <a:solidFill>
                  <a:srgbClr val="525C65"/>
                </a:solidFill>
                <a:latin typeface="Open Sans"/>
                <a:ea typeface="Open Sans"/>
                <a:cs typeface="Open Sans"/>
                <a:sym typeface="Open Sans"/>
              </a:defRPr>
            </a:lvl1pPr>
            <a:lvl2pPr marL="914400" lvl="1"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2pPr>
            <a:lvl3pPr marL="1371600" lvl="2"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3pPr>
            <a:lvl4pPr marL="1828800" lvl="3"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4pPr>
            <a:lvl5pPr marL="2286000" lvl="4"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5pPr>
            <a:lvl6pPr marL="2743200" lvl="5"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6pPr>
            <a:lvl7pPr marL="3200400" lvl="6"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7pPr>
            <a:lvl8pPr marL="3657600" lvl="7"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8pPr>
            <a:lvl9pPr marL="4114800" lvl="8" indent="-317500" rtl="0">
              <a:lnSpc>
                <a:spcPct val="115000"/>
              </a:lnSpc>
              <a:spcBef>
                <a:spcPts val="1600"/>
              </a:spcBef>
              <a:spcAft>
                <a:spcPts val="1600"/>
              </a:spcAft>
              <a:buClr>
                <a:srgbClr val="525C65"/>
              </a:buClr>
              <a:buSzPts val="1400"/>
              <a:buFont typeface="Open Sans"/>
              <a:buChar char="■"/>
              <a:defRPr>
                <a:solidFill>
                  <a:srgbClr val="525C65"/>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6354343" y="8290164"/>
            <a:ext cx="411618" cy="699818"/>
          </a:xfrm>
          <a:prstGeom prst="rect">
            <a:avLst/>
          </a:prstGeom>
          <a:noFill/>
          <a:ln>
            <a:noFill/>
          </a:ln>
        </p:spPr>
        <p:txBody>
          <a:bodyPr spcFirstLastPara="1" wrap="square" lIns="91425" tIns="91425" rIns="91425" bIns="91425" anchor="ctr" anchorCtr="0">
            <a:noAutofit/>
          </a:bodyPr>
          <a:lstStyle>
            <a:lvl1pPr lvl="0" algn="r" rtl="0">
              <a:buNone/>
              <a:defRPr sz="882">
                <a:solidFill>
                  <a:schemeClr val="dk2"/>
                </a:solidFill>
              </a:defRPr>
            </a:lvl1pPr>
            <a:lvl2pPr lvl="1" algn="r" rtl="0">
              <a:buNone/>
              <a:defRPr sz="882">
                <a:solidFill>
                  <a:schemeClr val="dk2"/>
                </a:solidFill>
              </a:defRPr>
            </a:lvl2pPr>
            <a:lvl3pPr lvl="2" algn="r" rtl="0">
              <a:buNone/>
              <a:defRPr sz="882">
                <a:solidFill>
                  <a:schemeClr val="dk2"/>
                </a:solidFill>
              </a:defRPr>
            </a:lvl3pPr>
            <a:lvl4pPr lvl="3" algn="r" rtl="0">
              <a:buNone/>
              <a:defRPr sz="882">
                <a:solidFill>
                  <a:schemeClr val="dk2"/>
                </a:solidFill>
              </a:defRPr>
            </a:lvl4pPr>
            <a:lvl5pPr lvl="4" algn="r" rtl="0">
              <a:buNone/>
              <a:defRPr sz="882">
                <a:solidFill>
                  <a:schemeClr val="dk2"/>
                </a:solidFill>
              </a:defRPr>
            </a:lvl5pPr>
            <a:lvl6pPr lvl="5" algn="r" rtl="0">
              <a:buNone/>
              <a:defRPr sz="882">
                <a:solidFill>
                  <a:schemeClr val="dk2"/>
                </a:solidFill>
              </a:defRPr>
            </a:lvl6pPr>
            <a:lvl7pPr lvl="6" algn="r" rtl="0">
              <a:buNone/>
              <a:defRPr sz="882">
                <a:solidFill>
                  <a:schemeClr val="dk2"/>
                </a:solidFill>
              </a:defRPr>
            </a:lvl7pPr>
            <a:lvl8pPr lvl="7" algn="r" rtl="0">
              <a:buNone/>
              <a:defRPr sz="882">
                <a:solidFill>
                  <a:schemeClr val="dk2"/>
                </a:solidFill>
              </a:defRPr>
            </a:lvl8pPr>
            <a:lvl9pPr lvl="8" algn="r" rtl="0">
              <a:buNone/>
              <a:defRPr sz="882">
                <a:solidFill>
                  <a:schemeClr val="dk2"/>
                </a:solidFill>
              </a:defRPr>
            </a:lvl9pPr>
          </a:lstStyle>
          <a:p>
            <a:fld id="{00000000-1234-1234-1234-123412341234}" type="slidenum">
              <a:rPr lang="en" smtClean="0"/>
              <a:pPr/>
              <a:t>‹#›</a:t>
            </a:fld>
            <a:endParaRPr lang="en"/>
          </a:p>
        </p:txBody>
      </p:sp>
      <p:sp>
        <p:nvSpPr>
          <p:cNvPr id="9" name="Google Shape;9;p1"/>
          <p:cNvSpPr/>
          <p:nvPr/>
        </p:nvSpPr>
        <p:spPr>
          <a:xfrm>
            <a:off x="-10" y="876756"/>
            <a:ext cx="28588" cy="846818"/>
          </a:xfrm>
          <a:prstGeom prst="rect">
            <a:avLst/>
          </a:prstGeom>
          <a:solidFill>
            <a:srgbClr val="15C26B"/>
          </a:solidFill>
          <a:ln>
            <a:noFill/>
          </a:ln>
        </p:spPr>
        <p:txBody>
          <a:bodyPr spcFirstLastPara="1" wrap="square" lIns="23625" tIns="23625" rIns="23625" bIns="2362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059" b="0" i="0" u="none" strike="noStrike" cap="none">
              <a:solidFill>
                <a:srgbClr val="FFFFFF"/>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425291354"/>
      </p:ext>
    </p:extLst>
  </p:cSld>
  <p:clrMap bg1="lt1" tx1="dk1" bg2="dk2"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drawio.com/" TargetMode="External"/><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7.jpg"/><Relationship Id="rId4" Type="http://schemas.openxmlformats.org/officeDocument/2006/relationships/hyperlink" Target="https://drive.google.com/file/d/1TDzbbcS_14MjAmrovcn2rp41ldFJribH/view?usp=sharing"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hyperlink" Target="http://drawio.com/" TargetMode="External"/><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hyperlink" Target="https://drive.google.com/file/d/1TDzbbcS_14MjAmrovcn2rp41ldFJribH/view?usp=shar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21630-0811-4527-B3F7-DDD2796E7E07}"/>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A8334C46-6152-4895-8528-D35809CE033B}"/>
              </a:ext>
            </a:extLst>
          </p:cNvPr>
          <p:cNvSpPr>
            <a:spLocks noGrp="1"/>
          </p:cNvSpPr>
          <p:nvPr>
            <p:ph type="subTitle" idx="1"/>
          </p:nvPr>
        </p:nvSpPr>
        <p:spPr/>
        <p:txBody>
          <a:bodyPr/>
          <a:lstStyle/>
          <a:p>
            <a:endParaRPr lang="en-IN"/>
          </a:p>
        </p:txBody>
      </p:sp>
      <p:pic>
        <p:nvPicPr>
          <p:cNvPr id="4" name="Google Shape;35;p7">
            <a:extLst>
              <a:ext uri="{FF2B5EF4-FFF2-40B4-BE49-F238E27FC236}">
                <a16:creationId xmlns:a16="http://schemas.microsoft.com/office/drawing/2014/main" id="{BBE7CED8-4D34-49D5-AC83-7B3C4F6A163C}"/>
              </a:ext>
            </a:extLst>
          </p:cNvPr>
          <p:cNvPicPr preferRelativeResize="0"/>
          <p:nvPr/>
        </p:nvPicPr>
        <p:blipFill rotWithShape="1">
          <a:blip r:embed="rId2">
            <a:alphaModFix/>
          </a:blip>
          <a:srcRect l="1606" r="1606"/>
          <a:stretch/>
        </p:blipFill>
        <p:spPr>
          <a:xfrm>
            <a:off x="0" y="1335505"/>
            <a:ext cx="6858000" cy="6473477"/>
          </a:xfrm>
          <a:prstGeom prst="rect">
            <a:avLst/>
          </a:prstGeom>
          <a:noFill/>
          <a:ln>
            <a:noFill/>
          </a:ln>
        </p:spPr>
      </p:pic>
      <p:sp>
        <p:nvSpPr>
          <p:cNvPr id="6" name="Google Shape;36;p7">
            <a:extLst>
              <a:ext uri="{FF2B5EF4-FFF2-40B4-BE49-F238E27FC236}">
                <a16:creationId xmlns:a16="http://schemas.microsoft.com/office/drawing/2014/main" id="{EC02DC39-A980-45DF-8F66-9C4076BBCF2F}"/>
              </a:ext>
            </a:extLst>
          </p:cNvPr>
          <p:cNvSpPr txBox="1">
            <a:spLocks/>
          </p:cNvSpPr>
          <p:nvPr/>
        </p:nvSpPr>
        <p:spPr>
          <a:xfrm>
            <a:off x="86262" y="600989"/>
            <a:ext cx="6685477" cy="1033754"/>
          </a:xfrm>
          <a:prstGeom prst="rect">
            <a:avLst/>
          </a:prstGeom>
        </p:spPr>
        <p:txBody>
          <a:bodyPr spcFirstLastPara="1" vert="horz" wrap="square" lIns="84392" tIns="84392" rIns="84392" bIns="84392" rtlCol="0" anchor="ctr" anchorCtr="0">
            <a:noAutofit/>
          </a:bodyPr>
          <a:lstStyle>
            <a:lvl1pPr algn="ctr" defTabSz="685800" rtl="0" eaLnBrk="1" latinLnBrk="0" hangingPunct="1">
              <a:lnSpc>
                <a:spcPct val="80000"/>
              </a:lnSpc>
              <a:spcBef>
                <a:spcPct val="0"/>
              </a:spcBef>
              <a:buNone/>
              <a:defRPr sz="4500" kern="1200" cap="all" spc="0" baseline="0">
                <a:solidFill>
                  <a:schemeClr val="bg2"/>
                </a:solidFill>
                <a:latin typeface="+mj-lt"/>
                <a:ea typeface="+mj-ea"/>
                <a:cs typeface="+mj-cs"/>
              </a:defRPr>
            </a:lvl1pPr>
          </a:lstStyle>
          <a:p>
            <a:pPr>
              <a:spcBef>
                <a:spcPts val="0"/>
              </a:spcBef>
            </a:pPr>
            <a:r>
              <a:rPr lang="en-IN" sz="4154" dirty="0">
                <a:solidFill>
                  <a:schemeClr val="tx1"/>
                </a:solidFill>
              </a:rPr>
              <a:t>Securing the Perimeter</a:t>
            </a:r>
          </a:p>
        </p:txBody>
      </p:sp>
      <p:sp>
        <p:nvSpPr>
          <p:cNvPr id="7" name="Google Shape;37;p7">
            <a:extLst>
              <a:ext uri="{FF2B5EF4-FFF2-40B4-BE49-F238E27FC236}">
                <a16:creationId xmlns:a16="http://schemas.microsoft.com/office/drawing/2014/main" id="{4BEC11E8-86C9-47B7-8BBA-DA53814D1AFC}"/>
              </a:ext>
            </a:extLst>
          </p:cNvPr>
          <p:cNvSpPr txBox="1">
            <a:spLocks/>
          </p:cNvSpPr>
          <p:nvPr/>
        </p:nvSpPr>
        <p:spPr>
          <a:xfrm>
            <a:off x="86262" y="7668724"/>
            <a:ext cx="6685477" cy="1398185"/>
          </a:xfrm>
          <a:prstGeom prst="rect">
            <a:avLst/>
          </a:prstGeom>
        </p:spPr>
        <p:txBody>
          <a:bodyPr spcFirstLastPara="1" vert="horz" wrap="square" lIns="84392" tIns="84392" rIns="84392" bIns="84392" rtlCol="0" anchor="ctr" anchorCtr="0">
            <a:noAutofit/>
          </a:bodyPr>
          <a:lstStyle>
            <a:lvl1pPr algn="ctr" defTabSz="685800" rtl="0" eaLnBrk="1" latinLnBrk="0" hangingPunct="1">
              <a:lnSpc>
                <a:spcPct val="80000"/>
              </a:lnSpc>
              <a:spcBef>
                <a:spcPct val="0"/>
              </a:spcBef>
              <a:buNone/>
              <a:defRPr sz="4500" kern="1200" cap="all" spc="0" baseline="0">
                <a:solidFill>
                  <a:schemeClr val="bg2"/>
                </a:solidFill>
                <a:latin typeface="+mj-lt"/>
                <a:ea typeface="+mj-ea"/>
                <a:cs typeface="+mj-cs"/>
              </a:defRPr>
            </a:lvl1pPr>
          </a:lstStyle>
          <a:p>
            <a:pPr>
              <a:spcBef>
                <a:spcPts val="0"/>
              </a:spcBef>
            </a:pPr>
            <a:r>
              <a:rPr lang="en-IN" sz="3692" i="1" dirty="0">
                <a:solidFill>
                  <a:schemeClr val="tx1"/>
                </a:solidFill>
              </a:rPr>
              <a:t>[Your Name]</a:t>
            </a:r>
          </a:p>
          <a:p>
            <a:pPr>
              <a:spcBef>
                <a:spcPts val="0"/>
              </a:spcBef>
            </a:pPr>
            <a:r>
              <a:rPr lang="en-IN" sz="3692" i="1" dirty="0">
                <a:solidFill>
                  <a:schemeClr val="tx1"/>
                </a:solidFill>
              </a:rPr>
              <a:t>[Date]</a:t>
            </a:r>
          </a:p>
        </p:txBody>
      </p:sp>
    </p:spTree>
    <p:extLst>
      <p:ext uri="{BB962C8B-B14F-4D97-AF65-F5344CB8AC3E}">
        <p14:creationId xmlns:p14="http://schemas.microsoft.com/office/powerpoint/2010/main" val="4193713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233775" y="902357"/>
            <a:ext cx="6390529" cy="988147"/>
          </a:xfrm>
          <a:prstGeom prst="rect">
            <a:avLst/>
          </a:prstGeom>
        </p:spPr>
        <p:txBody>
          <a:bodyPr spcFirstLastPara="1" vert="horz" wrap="square" lIns="80669" tIns="80669" rIns="80669" bIns="80669" rtlCol="0" anchor="ctr" anchorCtr="0">
            <a:noAutofit/>
          </a:bodyPr>
          <a:lstStyle/>
          <a:p>
            <a:r>
              <a:rPr lang="en" dirty="0"/>
              <a:t>How to Use this Template</a:t>
            </a:r>
            <a:endParaRPr dirty="0"/>
          </a:p>
        </p:txBody>
      </p:sp>
      <p:sp>
        <p:nvSpPr>
          <p:cNvPr id="43" name="Google Shape;43;p8"/>
          <p:cNvSpPr txBox="1">
            <a:spLocks noGrp="1"/>
          </p:cNvSpPr>
          <p:nvPr>
            <p:ph type="body" idx="1"/>
          </p:nvPr>
        </p:nvSpPr>
        <p:spPr>
          <a:xfrm>
            <a:off x="233775" y="2123055"/>
            <a:ext cx="6390529" cy="5895000"/>
          </a:xfrm>
          <a:prstGeom prst="rect">
            <a:avLst/>
          </a:prstGeom>
        </p:spPr>
        <p:txBody>
          <a:bodyPr spcFirstLastPara="1" vert="horz" wrap="square" lIns="80669" tIns="80669" rIns="80669" bIns="80669" rtlCol="0" anchor="t" anchorCtr="0">
            <a:noAutofit/>
          </a:bodyPr>
          <a:lstStyle/>
          <a:p>
            <a:pPr marL="457200" marR="0" lvl="0" indent="-342900" algn="l" defTabSz="914400" rtl="0" eaLnBrk="1" fontAlgn="auto" latinLnBrk="0" hangingPunct="1">
              <a:lnSpc>
                <a:spcPct val="115000"/>
              </a:lnSpc>
              <a:spcBef>
                <a:spcPts val="0"/>
              </a:spcBef>
              <a:spcAft>
                <a:spcPts val="0"/>
              </a:spcAft>
              <a:buClr>
                <a:srgbClr val="525C65"/>
              </a:buClr>
              <a:buSzPts val="1800"/>
              <a:buFont typeface="Open Sans Light"/>
              <a:buChar char="●"/>
              <a:tabLst/>
              <a:defRPr/>
            </a:pPr>
            <a:r>
              <a:rPr kumimoji="0" lang="en-US" sz="1800" b="0" i="0" u="none" strike="noStrike" kern="0" cap="none" spc="0" normalizeH="0" baseline="0" noProof="0" dirty="0">
                <a:ln>
                  <a:noFill/>
                </a:ln>
                <a:solidFill>
                  <a:srgbClr val="525C65"/>
                </a:solidFill>
                <a:effectLst/>
                <a:uLnTx/>
                <a:uFillTx/>
                <a:latin typeface="Open Sans Light"/>
                <a:ea typeface="Open Sans Light"/>
                <a:cs typeface="Open Sans Light"/>
                <a:sym typeface="Open Sans Light"/>
              </a:rPr>
              <a:t>We have provided these slides as a guide to ensure you submit all the required components to complete your project successfully.</a:t>
            </a:r>
          </a:p>
          <a:p>
            <a:pPr marL="457200" marR="0" lvl="0" indent="-342900" algn="l" defTabSz="914400" rtl="0" eaLnBrk="1" fontAlgn="auto" latinLnBrk="0" hangingPunct="1">
              <a:lnSpc>
                <a:spcPct val="115000"/>
              </a:lnSpc>
              <a:spcBef>
                <a:spcPts val="0"/>
              </a:spcBef>
              <a:spcAft>
                <a:spcPts val="0"/>
              </a:spcAft>
              <a:buClr>
                <a:srgbClr val="525C65"/>
              </a:buClr>
              <a:buSzPts val="1800"/>
              <a:buFont typeface="Open Sans Light"/>
              <a:buChar char="●"/>
              <a:tabLst/>
              <a:defRPr/>
            </a:pPr>
            <a:r>
              <a:rPr kumimoji="0" lang="en-US" sz="1800" b="0" i="0" u="none" strike="noStrike" kern="0" cap="none" spc="0" normalizeH="0" baseline="0" noProof="0" dirty="0">
                <a:ln>
                  <a:noFill/>
                </a:ln>
                <a:solidFill>
                  <a:srgbClr val="525C65"/>
                </a:solidFill>
                <a:effectLst/>
                <a:uLnTx/>
                <a:uFillTx/>
                <a:latin typeface="Open Sans Light"/>
                <a:ea typeface="Open Sans Light"/>
                <a:cs typeface="Open Sans Light"/>
                <a:sym typeface="Open Sans Light"/>
              </a:rPr>
              <a:t>When presenting your project, remember that these slides are merely a guide. We strongly encourage you to embrace your creative freedom and make changes that reflect your unique vision as long as the required information is present.</a:t>
            </a:r>
          </a:p>
          <a:p>
            <a:pPr marL="457200" marR="0" lvl="0" indent="-342900" algn="l" defTabSz="914400" rtl="0" eaLnBrk="1" fontAlgn="auto" latinLnBrk="0" hangingPunct="1">
              <a:lnSpc>
                <a:spcPct val="115000"/>
              </a:lnSpc>
              <a:spcBef>
                <a:spcPts val="0"/>
              </a:spcBef>
              <a:spcAft>
                <a:spcPts val="0"/>
              </a:spcAft>
              <a:buClr>
                <a:srgbClr val="525C65"/>
              </a:buClr>
              <a:buSzPts val="1800"/>
              <a:buFont typeface="Open Sans Light"/>
              <a:buChar char="●"/>
              <a:tabLst/>
              <a:defRPr/>
            </a:pPr>
            <a:r>
              <a:rPr kumimoji="0" lang="en-US" sz="1800" b="0" i="0" u="none" strike="noStrike" kern="0" cap="none" spc="0" normalizeH="0" baseline="0" noProof="0" dirty="0">
                <a:ln>
                  <a:noFill/>
                </a:ln>
                <a:solidFill>
                  <a:srgbClr val="525C65"/>
                </a:solidFill>
                <a:effectLst/>
                <a:uLnTx/>
                <a:uFillTx/>
                <a:latin typeface="Open Sans Light"/>
                <a:ea typeface="Open Sans Light"/>
                <a:cs typeface="Open Sans Light"/>
                <a:sym typeface="Open Sans Light"/>
              </a:rPr>
              <a:t>You can add slides to the template when your answers or screenshots do not fit on the previously provided pages.</a:t>
            </a:r>
          </a:p>
          <a:p>
            <a:pPr marL="457200" marR="0" lvl="0" indent="-342900" algn="l" defTabSz="914400" rtl="0" eaLnBrk="1" fontAlgn="auto" latinLnBrk="0" hangingPunct="1">
              <a:lnSpc>
                <a:spcPct val="115000"/>
              </a:lnSpc>
              <a:spcBef>
                <a:spcPts val="0"/>
              </a:spcBef>
              <a:spcAft>
                <a:spcPts val="0"/>
              </a:spcAft>
              <a:buClr>
                <a:srgbClr val="525C65"/>
              </a:buClr>
              <a:buSzPts val="1800"/>
              <a:buFont typeface="Open Sans Light"/>
              <a:buChar char="●"/>
              <a:tabLst/>
              <a:defRPr/>
            </a:pPr>
            <a:r>
              <a:rPr kumimoji="0" lang="en-US" sz="1800" b="0" i="0" u="none" strike="noStrike" kern="0" cap="none" spc="0" normalizeH="0" baseline="0" noProof="0" dirty="0">
                <a:ln>
                  <a:noFill/>
                </a:ln>
                <a:solidFill>
                  <a:srgbClr val="525C65"/>
                </a:solidFill>
                <a:effectLst/>
                <a:uLnTx/>
                <a:uFillTx/>
                <a:latin typeface="Open Sans Light"/>
                <a:ea typeface="Open Sans Light"/>
                <a:cs typeface="Open Sans Light"/>
                <a:sym typeface="Open Sans Light"/>
              </a:rPr>
              <a:t>Delete this and all other project instruction slides before submitting your project.</a:t>
            </a:r>
          </a:p>
          <a:p>
            <a:pPr marL="457200" marR="0" lvl="0" indent="-342900" algn="l" defTabSz="914400" rtl="0" eaLnBrk="1" fontAlgn="auto" latinLnBrk="0" hangingPunct="1">
              <a:lnSpc>
                <a:spcPct val="115000"/>
              </a:lnSpc>
              <a:spcBef>
                <a:spcPts val="0"/>
              </a:spcBef>
              <a:spcAft>
                <a:spcPts val="0"/>
              </a:spcAft>
              <a:buClr>
                <a:srgbClr val="525C65"/>
              </a:buClr>
              <a:buSzPts val="1800"/>
              <a:buFont typeface="Open Sans"/>
              <a:buChar char="●"/>
              <a:tabLst/>
              <a:defRPr/>
            </a:pPr>
            <a:r>
              <a:rPr kumimoji="0" lang="en-US" sz="1800" b="1" i="0" u="none" strike="noStrike" kern="0" cap="none" spc="0" normalizeH="0" baseline="0" noProof="0" dirty="0">
                <a:ln>
                  <a:noFill/>
                </a:ln>
                <a:solidFill>
                  <a:srgbClr val="525C65"/>
                </a:solidFill>
                <a:effectLst/>
                <a:uLnTx/>
                <a:uFillTx/>
                <a:latin typeface="Open Sans"/>
                <a:ea typeface="Open Sans"/>
                <a:cs typeface="Open Sans"/>
                <a:sym typeface="Open Sans"/>
              </a:rPr>
              <a:t>Remember to add your name and the date to the cover page.</a:t>
            </a:r>
          </a:p>
          <a:p>
            <a:pPr marL="0" marR="0" lvl="0" indent="0" algn="l" defTabSz="914400" rtl="0" eaLnBrk="1" fontAlgn="auto" latinLnBrk="0" hangingPunct="1">
              <a:lnSpc>
                <a:spcPct val="115000"/>
              </a:lnSpc>
              <a:spcBef>
                <a:spcPts val="0"/>
              </a:spcBef>
              <a:spcAft>
                <a:spcPts val="0"/>
              </a:spcAft>
              <a:buClr>
                <a:srgbClr val="525C65"/>
              </a:buClr>
              <a:buSzPts val="1800"/>
              <a:buFont typeface="Open Sans Light"/>
              <a:buNone/>
              <a:tabLst/>
              <a:defRPr/>
            </a:pPr>
            <a:endParaRPr kumimoji="0" lang="en-US" sz="1800" b="1" i="0" u="none" strike="noStrike" kern="0" cap="none" spc="0" normalizeH="0" baseline="0" noProof="0" dirty="0">
              <a:ln>
                <a:noFill/>
              </a:ln>
              <a:solidFill>
                <a:srgbClr val="525C65"/>
              </a:solidFill>
              <a:effectLst/>
              <a:uLnTx/>
              <a:uFillTx/>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830997"/>
          </a:xfrm>
          <a:prstGeom prst="rect">
            <a:avLst/>
          </a:prstGeom>
          <a:noFill/>
        </p:spPr>
        <p:txBody>
          <a:bodyPr wrap="square" rtlCol="0">
            <a:spAutoFit/>
          </a:bodyPr>
          <a:lstStyle/>
          <a:p>
            <a:r>
              <a:rPr lang="en-US" sz="4800" dirty="0">
                <a:latin typeface="+mj-lt"/>
              </a:rPr>
              <a:t>Project Scenario</a:t>
            </a:r>
            <a:endParaRPr lang="en-IN" sz="4800" dirty="0">
              <a:latin typeface="+mj-lt"/>
            </a:endParaRPr>
          </a:p>
        </p:txBody>
      </p:sp>
    </p:spTree>
    <p:extLst>
      <p:ext uri="{BB962C8B-B14F-4D97-AF65-F5344CB8AC3E}">
        <p14:creationId xmlns:p14="http://schemas.microsoft.com/office/powerpoint/2010/main" val="2093014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Overview</a:t>
            </a:r>
            <a:endParaRPr/>
          </a:p>
        </p:txBody>
      </p:sp>
      <p:sp>
        <p:nvSpPr>
          <p:cNvPr id="55" name="Google Shape;55;p10"/>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buClr>
                <a:schemeClr val="dk1"/>
              </a:buClr>
              <a:buSzPts val="1100"/>
              <a:buNone/>
            </a:pPr>
            <a:r>
              <a:rPr lang="en" dirty="0"/>
              <a:t>XYZ is the premier cryptocurrency exchange. They transact over a billion trades everyday and are considered to be one of the most reliable and secure exchanges in the world. Due to their rapid growth, they've faced challenges in scaling their security posture.</a:t>
            </a:r>
            <a:endParaRPr dirty="0"/>
          </a:p>
          <a:p>
            <a:pPr marL="0" indent="0">
              <a:buNone/>
            </a:pPr>
            <a:r>
              <a:rPr lang="en" dirty="0"/>
              <a:t>The largest challenge they've faced is with their Perimeter Network Security being secure. The networking team was overburdened with the rapid growth and a majority of the network infrastructure was built insecurely.</a:t>
            </a:r>
            <a:endParaRPr dirty="0"/>
          </a:p>
          <a:p>
            <a:pPr marL="0" indent="0">
              <a:buClr>
                <a:schemeClr val="dk1"/>
              </a:buClr>
              <a:buSzPts val="1100"/>
              <a:buNone/>
            </a:pPr>
            <a:endParaRPr dirty="0"/>
          </a:p>
          <a:p>
            <a:pPr marL="0" indent="0">
              <a:buNone/>
            </a:pPr>
            <a:r>
              <a:rPr lang="en" dirty="0"/>
              <a:t>Due to a lack of visibility and a lack of proper access control setup on the network, it was inevitable that a breach took place! XYZ was hit with a massive attack in which their network was breached and their internal servers were compromised resulting in over 500 Bitcoin being stolen!</a:t>
            </a:r>
            <a:endParaRPr dirty="0"/>
          </a:p>
          <a:p>
            <a:pPr marL="0" indent="0">
              <a:buClr>
                <a:schemeClr val="dk1"/>
              </a:buClr>
              <a:buSzPts val="1100"/>
              <a:buNone/>
            </a:pPr>
            <a:endParaRPr dirty="0"/>
          </a:p>
          <a:p>
            <a:pPr marL="0" indent="0">
              <a:buClr>
                <a:schemeClr val="dk1"/>
              </a:buClr>
              <a:buSzPts val="1100"/>
              <a:buNone/>
            </a:pPr>
            <a:r>
              <a:rPr lang="en" dirty="0"/>
              <a:t>Needing to get the bottom of this breach and resolving their current perimeter issues they've contracted you from SecureCorp, a world renowned cybersecurity consulting firm. Your job is to redesign their network architecture securely and set up a SIEM to monitor against future attacks.</a:t>
            </a:r>
            <a:endParaRPr dirty="0"/>
          </a:p>
          <a:p>
            <a:pPr marL="0" indent="0">
              <a:spcBef>
                <a:spcPts val="1059"/>
              </a:spcBef>
              <a:spcAft>
                <a:spcPts val="1059"/>
              </a:spcAft>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1:</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3200" dirty="0">
                <a:solidFill>
                  <a:srgbClr val="FFFFFF"/>
                </a:solidFill>
                <a:latin typeface="Corbel" panose="020B0503020204020204"/>
              </a:rPr>
              <a:t>Designing a secure Network Architecture</a:t>
            </a:r>
            <a:endPar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512790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Network Description</a:t>
            </a:r>
            <a:endParaRPr/>
          </a:p>
        </p:txBody>
      </p:sp>
      <p:sp>
        <p:nvSpPr>
          <p:cNvPr id="67" name="Google Shape;67;p12"/>
          <p:cNvSpPr txBox="1">
            <a:spLocks noGrp="1"/>
          </p:cNvSpPr>
          <p:nvPr>
            <p:ph type="body" idx="1"/>
          </p:nvPr>
        </p:nvSpPr>
        <p:spPr>
          <a:xfrm>
            <a:off x="269361" y="5985951"/>
            <a:ext cx="6390529" cy="2734676"/>
          </a:xfrm>
          <a:prstGeom prst="rect">
            <a:avLst/>
          </a:prstGeom>
        </p:spPr>
        <p:txBody>
          <a:bodyPr spcFirstLastPara="1" wrap="square" lIns="80669" tIns="80669" rIns="80669" bIns="80669" anchor="t" anchorCtr="0">
            <a:noAutofit/>
          </a:bodyPr>
          <a:lstStyle/>
          <a:p>
            <a:r>
              <a:rPr lang="en" i="1"/>
              <a:t>The on-premise network is connected to a virtual network through the internet.</a:t>
            </a:r>
            <a:endParaRPr i="1"/>
          </a:p>
          <a:p>
            <a:r>
              <a:rPr lang="en" i="1"/>
              <a:t>All five servers are located within a single virtual network and in one subnet.</a:t>
            </a:r>
            <a:endParaRPr i="1"/>
          </a:p>
          <a:p>
            <a:r>
              <a:rPr lang="en" i="1"/>
              <a:t>All servers have direct connections to the internet.</a:t>
            </a:r>
            <a:endParaRPr i="1"/>
          </a:p>
          <a:p>
            <a:r>
              <a:rPr lang="en" i="1"/>
              <a:t>The two web servers are required to communicate with the two database servers to function correctly.</a:t>
            </a:r>
            <a:endParaRPr i="1"/>
          </a:p>
          <a:p>
            <a:r>
              <a:rPr lang="en" i="1"/>
              <a:t>The file storage server only needs to be accessible from the on-premise network.</a:t>
            </a:r>
            <a:endParaRPr b="1" i="1">
              <a:latin typeface="Open Sans"/>
              <a:ea typeface="Open Sans"/>
              <a:cs typeface="Open Sans"/>
              <a:sym typeface="Open Sans"/>
            </a:endParaRPr>
          </a:p>
        </p:txBody>
      </p:sp>
      <p:sp>
        <p:nvSpPr>
          <p:cNvPr id="68" name="Google Shape;68;p12"/>
          <p:cNvSpPr txBox="1">
            <a:spLocks noGrp="1"/>
          </p:cNvSpPr>
          <p:nvPr>
            <p:ph type="body" idx="1"/>
          </p:nvPr>
        </p:nvSpPr>
        <p:spPr>
          <a:xfrm>
            <a:off x="269361" y="1771833"/>
            <a:ext cx="6390529" cy="639265"/>
          </a:xfrm>
          <a:prstGeom prst="rect">
            <a:avLst/>
          </a:prstGeom>
        </p:spPr>
        <p:txBody>
          <a:bodyPr spcFirstLastPara="1" wrap="square" lIns="80669" tIns="80669" rIns="80669" bIns="80669" anchor="t" anchorCtr="0">
            <a:noAutofit/>
          </a:bodyPr>
          <a:lstStyle/>
          <a:p>
            <a:pPr marL="0" indent="0">
              <a:spcBef>
                <a:spcPts val="1324"/>
              </a:spcBef>
              <a:buNone/>
            </a:pPr>
            <a:r>
              <a:rPr lang="en" i="1" dirty="0"/>
              <a:t>Download the </a:t>
            </a:r>
            <a:r>
              <a:rPr lang="en" i="1" u="sng" dirty="0">
                <a:solidFill>
                  <a:schemeClr val="hlink"/>
                </a:solidFill>
                <a:hlinkClick r:id="rId3"/>
              </a:rPr>
              <a:t>drawio.com</a:t>
            </a:r>
            <a:r>
              <a:rPr lang="en" i="1" dirty="0"/>
              <a:t> file </a:t>
            </a:r>
            <a:r>
              <a:rPr lang="en" i="1" u="sng" dirty="0">
                <a:solidFill>
                  <a:schemeClr val="hlink"/>
                </a:solidFill>
                <a:hlinkClick r:id="rId4"/>
              </a:rPr>
              <a:t>from here.</a:t>
            </a:r>
            <a:endParaRPr b="1" i="1" dirty="0">
              <a:latin typeface="Open Sans"/>
              <a:ea typeface="Open Sans"/>
              <a:cs typeface="Open Sans"/>
              <a:sym typeface="Open Sans"/>
            </a:endParaRPr>
          </a:p>
        </p:txBody>
      </p:sp>
      <p:pic>
        <p:nvPicPr>
          <p:cNvPr id="69" name="Google Shape;69;p12"/>
          <p:cNvPicPr preferRelativeResize="0"/>
          <p:nvPr/>
        </p:nvPicPr>
        <p:blipFill>
          <a:blip r:embed="rId5">
            <a:alphaModFix/>
          </a:blip>
          <a:stretch>
            <a:fillRect/>
          </a:stretch>
        </p:blipFill>
        <p:spPr>
          <a:xfrm>
            <a:off x="2109706" y="2545568"/>
            <a:ext cx="2709839" cy="33059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Identify Network Vulnerabilities</a:t>
            </a:r>
            <a:endParaRPr/>
          </a:p>
        </p:txBody>
      </p:sp>
      <p:sp>
        <p:nvSpPr>
          <p:cNvPr id="75" name="Google Shape;75;p13"/>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buNone/>
            </a:pPr>
            <a:r>
              <a:rPr lang="en"/>
              <a:t>In your initial assessment of the company's network, it's essential to pinpoint specific vulnerabilities that could be exploited by malicious actors. Identifying these weaknesses is the first step in reinforcing the network's defenses.</a:t>
            </a:r>
            <a:endParaRPr/>
          </a:p>
          <a:p>
            <a:pPr marL="0" indent="0">
              <a:spcBef>
                <a:spcPts val="1059"/>
              </a:spcBef>
              <a:buNone/>
            </a:pPr>
            <a:endParaRPr i="1"/>
          </a:p>
          <a:p>
            <a:pPr indent="-268956">
              <a:spcBef>
                <a:spcPts val="1324"/>
              </a:spcBef>
              <a:buClr>
                <a:srgbClr val="0D0D0D"/>
              </a:buClr>
              <a:buSzPts val="1200"/>
              <a:buFont typeface="Roboto"/>
              <a:buChar char="●"/>
            </a:pPr>
            <a:r>
              <a:rPr lang="en" i="1"/>
              <a:t>Review the provided network diagram</a:t>
            </a:r>
            <a:endParaRPr i="1"/>
          </a:p>
          <a:p>
            <a:pPr indent="-268956">
              <a:buClr>
                <a:srgbClr val="0D0D0D"/>
              </a:buClr>
              <a:buSzPts val="1200"/>
              <a:buFont typeface="Roboto"/>
              <a:buChar char="●"/>
            </a:pPr>
            <a:r>
              <a:rPr lang="en" i="1"/>
              <a:t>Identify three major security problems with the current network setup</a:t>
            </a:r>
            <a:endParaRPr i="1"/>
          </a:p>
          <a:p>
            <a:pPr indent="-268956">
              <a:buClr>
                <a:srgbClr val="0D0D0D"/>
              </a:buClr>
              <a:buSzPts val="1200"/>
              <a:buFont typeface="Roboto"/>
              <a:buChar char="●"/>
            </a:pPr>
            <a:r>
              <a:rPr lang="en" i="1"/>
              <a:t>Describe each identified problem and explain how it poses a risk to the network</a:t>
            </a:r>
            <a:endParaRPr sz="1059">
              <a:solidFill>
                <a:srgbClr val="0D0D0D"/>
              </a:solidFill>
              <a:highlight>
                <a:srgbClr val="FFFFFF"/>
              </a:highlight>
              <a:latin typeface="Roboto"/>
              <a:ea typeface="Roboto"/>
              <a:cs typeface="Roboto"/>
              <a:sym typeface="Roboto"/>
            </a:endParaRPr>
          </a:p>
          <a:p>
            <a:pPr marL="0" indent="0">
              <a:spcBef>
                <a:spcPts val="1324"/>
              </a:spcBef>
              <a:buNone/>
            </a:pPr>
            <a:endParaRPr b="1" i="1">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2824"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Identify Network Vulnerabilities</a:t>
            </a:r>
            <a:endParaRPr lang="en-IN" dirty="0"/>
          </a:p>
        </p:txBody>
      </p:sp>
      <p:graphicFrame>
        <p:nvGraphicFramePr>
          <p:cNvPr id="5" name="Google Shape;81;p14">
            <a:extLst>
              <a:ext uri="{FF2B5EF4-FFF2-40B4-BE49-F238E27FC236}">
                <a16:creationId xmlns:a16="http://schemas.microsoft.com/office/drawing/2014/main" id="{B57F1FAA-B4BB-4DD3-9A66-4C9D807CB572}"/>
              </a:ext>
            </a:extLst>
          </p:cNvPr>
          <p:cNvGraphicFramePr/>
          <p:nvPr/>
        </p:nvGraphicFramePr>
        <p:xfrm>
          <a:off x="233736" y="2123074"/>
          <a:ext cx="6390529" cy="6101452"/>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03385">
                <a:tc>
                  <a:txBody>
                    <a:bodyPr/>
                    <a:lstStyle/>
                    <a:p>
                      <a:pPr marL="0" lvl="0" indent="0" algn="l" rtl="0">
                        <a:spcBef>
                          <a:spcPts val="0"/>
                        </a:spcBef>
                        <a:spcAft>
                          <a:spcPts val="0"/>
                        </a:spcAft>
                        <a:buNone/>
                      </a:pPr>
                      <a:r>
                        <a:rPr lang="en" sz="1600" b="1">
                          <a:solidFill>
                            <a:srgbClr val="525C65"/>
                          </a:solidFill>
                          <a:latin typeface="Open Sans"/>
                          <a:ea typeface="Open Sans"/>
                          <a:cs typeface="Open Sans"/>
                          <a:sym typeface="Open Sans"/>
                        </a:rPr>
                        <a:t>1. [Security problem]</a:t>
                      </a:r>
                      <a:endParaRPr sz="1600" b="1"/>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520757">
                <a:tc>
                  <a:txBody>
                    <a:bodyPr/>
                    <a:lstStyle/>
                    <a:p>
                      <a:pPr marL="0" lvl="0" indent="0" algn="l" rtl="0">
                        <a:spcBef>
                          <a:spcPts val="0"/>
                        </a:spcBef>
                        <a:spcAft>
                          <a:spcPts val="0"/>
                        </a:spcAft>
                        <a:buNone/>
                      </a:pPr>
                      <a:r>
                        <a:rPr lang="en" sz="1400" dirty="0">
                          <a:solidFill>
                            <a:srgbClr val="525C65"/>
                          </a:solidFill>
                          <a:latin typeface="Open Sans"/>
                          <a:ea typeface="Open Sans"/>
                          <a:cs typeface="Open Sans"/>
                          <a:sym typeface="Open Sans"/>
                        </a:rPr>
                        <a:t>[Describe each identified problem and explain how it poses a risk to the network]</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3385">
                <a:tc>
                  <a:txBody>
                    <a:bodyPr/>
                    <a:lstStyle/>
                    <a:p>
                      <a:pPr marL="0" lvl="0" indent="0" algn="l" rtl="0">
                        <a:spcBef>
                          <a:spcPts val="0"/>
                        </a:spcBef>
                        <a:spcAft>
                          <a:spcPts val="0"/>
                        </a:spcAft>
                        <a:buNone/>
                      </a:pPr>
                      <a:r>
                        <a:rPr lang="en" sz="1600" b="1">
                          <a:solidFill>
                            <a:srgbClr val="525C65"/>
                          </a:solidFill>
                          <a:latin typeface="Open Sans"/>
                          <a:ea typeface="Open Sans"/>
                          <a:cs typeface="Open Sans"/>
                          <a:sym typeface="Open Sans"/>
                        </a:rPr>
                        <a:t>2. [Security problem]</a:t>
                      </a:r>
                      <a:endParaRPr sz="1600" b="1"/>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602551">
                <a:tc>
                  <a:txBody>
                    <a:bodyPr/>
                    <a:lstStyle/>
                    <a:p>
                      <a:pPr marL="0" lvl="0" indent="0" algn="l" rtl="0">
                        <a:spcBef>
                          <a:spcPts val="0"/>
                        </a:spcBef>
                        <a:spcAft>
                          <a:spcPts val="0"/>
                        </a:spcAft>
                        <a:buNone/>
                      </a:pPr>
                      <a:r>
                        <a:rPr lang="en" sz="1400" dirty="0">
                          <a:solidFill>
                            <a:srgbClr val="525C65"/>
                          </a:solidFill>
                          <a:latin typeface="Open Sans"/>
                          <a:ea typeface="Open Sans"/>
                          <a:cs typeface="Open Sans"/>
                          <a:sym typeface="Open Sans"/>
                        </a:rPr>
                        <a:t>[Describe each identified problem and explain how it poses a risk to the network]</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03385">
                <a:tc>
                  <a:txBody>
                    <a:bodyPr/>
                    <a:lstStyle/>
                    <a:p>
                      <a:pPr marL="0" lvl="0" indent="0" algn="l" rtl="0">
                        <a:spcBef>
                          <a:spcPts val="0"/>
                        </a:spcBef>
                        <a:spcAft>
                          <a:spcPts val="0"/>
                        </a:spcAft>
                        <a:buNone/>
                      </a:pPr>
                      <a:r>
                        <a:rPr lang="en" sz="1600" b="1">
                          <a:solidFill>
                            <a:srgbClr val="525C65"/>
                          </a:solidFill>
                          <a:latin typeface="Open Sans"/>
                          <a:ea typeface="Open Sans"/>
                          <a:cs typeface="Open Sans"/>
                          <a:sym typeface="Open Sans"/>
                        </a:rPr>
                        <a:t>3. [Security problem]</a:t>
                      </a:r>
                      <a:endParaRPr sz="1600" b="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1762610">
                <a:tc>
                  <a:txBody>
                    <a:bodyPr/>
                    <a:lstStyle/>
                    <a:p>
                      <a:pPr marL="0" lvl="0" indent="0" algn="l" rtl="0">
                        <a:spcBef>
                          <a:spcPts val="0"/>
                        </a:spcBef>
                        <a:spcAft>
                          <a:spcPts val="0"/>
                        </a:spcAft>
                        <a:buNone/>
                      </a:pPr>
                      <a:r>
                        <a:rPr lang="en" sz="1400" dirty="0">
                          <a:solidFill>
                            <a:srgbClr val="525C65"/>
                          </a:solidFill>
                          <a:latin typeface="Open Sans"/>
                          <a:ea typeface="Open Sans"/>
                          <a:cs typeface="Open Sans"/>
                          <a:sym typeface="Open Sans"/>
                        </a:rPr>
                        <a:t>[Describe each identified problem and explain how it poses a risk to the network]</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05006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Network Redesign</a:t>
            </a:r>
            <a:endParaRPr/>
          </a:p>
        </p:txBody>
      </p:sp>
      <p:sp>
        <p:nvSpPr>
          <p:cNvPr id="87" name="Google Shape;87;p15"/>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buNone/>
            </a:pPr>
            <a:r>
              <a:rPr lang="en" dirty="0"/>
              <a:t>With the vulnerabilities identified, it’s time to rearchitect the network. A well-structured network with proper security controls is vital for defending the company's digital assets.</a:t>
            </a:r>
            <a:endParaRPr dirty="0"/>
          </a:p>
          <a:p>
            <a:pPr marL="0" indent="0">
              <a:buNone/>
            </a:pPr>
            <a:endParaRPr dirty="0"/>
          </a:p>
          <a:p>
            <a:r>
              <a:rPr lang="en" dirty="0"/>
              <a:t>Use </a:t>
            </a:r>
            <a:r>
              <a:rPr lang="en" u="sng" dirty="0">
                <a:solidFill>
                  <a:schemeClr val="hlink"/>
                </a:solidFill>
                <a:hlinkClick r:id="rId3"/>
              </a:rPr>
              <a:t>drawio.com</a:t>
            </a:r>
            <a:r>
              <a:rPr lang="en" dirty="0"/>
              <a:t> to create the updated diagram. You can download the original diagram from </a:t>
            </a:r>
            <a:r>
              <a:rPr lang="en" u="sng" dirty="0">
                <a:solidFill>
                  <a:schemeClr val="hlink"/>
                </a:solidFill>
                <a:hlinkClick r:id="rId4"/>
              </a:rPr>
              <a:t>here</a:t>
            </a:r>
            <a:r>
              <a:rPr lang="en" dirty="0"/>
              <a:t>.</a:t>
            </a:r>
            <a:endParaRPr dirty="0"/>
          </a:p>
          <a:p>
            <a:pPr indent="-268956">
              <a:buClr>
                <a:srgbClr val="0D0D0D"/>
              </a:buClr>
              <a:buSzPts val="1200"/>
              <a:buFont typeface="Roboto"/>
              <a:buChar char="●"/>
            </a:pPr>
            <a:r>
              <a:rPr lang="en" i="1" dirty="0"/>
              <a:t>Update the network diagram to include:</a:t>
            </a:r>
            <a:endParaRPr i="1" dirty="0"/>
          </a:p>
          <a:p>
            <a:pPr lvl="1" indent="-268956">
              <a:spcBef>
                <a:spcPts val="0"/>
              </a:spcBef>
              <a:buClr>
                <a:srgbClr val="0D0D0D"/>
              </a:buClr>
              <a:buSzPts val="1200"/>
              <a:buFont typeface="Roboto"/>
              <a:buChar char="○"/>
            </a:pPr>
            <a:r>
              <a:rPr lang="en" i="1" dirty="0"/>
              <a:t>Network segmentation separating public-facing services from internal services.</a:t>
            </a:r>
            <a:endParaRPr i="1" dirty="0"/>
          </a:p>
          <a:p>
            <a:pPr lvl="1" indent="-268956">
              <a:spcBef>
                <a:spcPts val="0"/>
              </a:spcBef>
              <a:buClr>
                <a:srgbClr val="0D0D0D"/>
              </a:buClr>
              <a:buSzPts val="1200"/>
              <a:buFont typeface="Roboto"/>
              <a:buChar char="○"/>
            </a:pPr>
            <a:r>
              <a:rPr lang="en" i="1" dirty="0"/>
              <a:t>Placement of firewalls to control and filter traffic</a:t>
            </a:r>
            <a:endParaRPr i="1" dirty="0"/>
          </a:p>
          <a:p>
            <a:pPr lvl="1" indent="-268956">
              <a:spcBef>
                <a:spcPts val="0"/>
              </a:spcBef>
              <a:buClr>
                <a:srgbClr val="0D0D0D"/>
              </a:buClr>
              <a:buSzPts val="1200"/>
              <a:buFont typeface="Roboto"/>
              <a:buChar char="○"/>
            </a:pPr>
            <a:r>
              <a:rPr lang="en" i="1" dirty="0"/>
              <a:t>A secure, encrypted connection method for the on-premise network to access the file storage server.</a:t>
            </a:r>
            <a:endParaRPr i="1" dirty="0"/>
          </a:p>
          <a:p>
            <a:pPr indent="-268956">
              <a:buClr>
                <a:srgbClr val="0D0D0D"/>
              </a:buClr>
              <a:buSzPts val="1200"/>
              <a:buFont typeface="Roboto"/>
              <a:buChar char="●"/>
            </a:pPr>
            <a:r>
              <a:rPr lang="en" i="1" dirty="0"/>
              <a:t>Ensure the updated diagram reflects these additions clearly.</a:t>
            </a:r>
            <a:endParaRPr b="1" i="1" dirty="0">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1A2D0-AA22-4A70-95A6-06885D778D99}"/>
              </a:ext>
            </a:extLst>
          </p:cNvPr>
          <p:cNvSpPr>
            <a:spLocks noGrp="1"/>
          </p:cNvSpPr>
          <p:nvPr>
            <p:ph type="title"/>
          </p:nvPr>
        </p:nvSpPr>
        <p:spPr/>
        <p:txBody>
          <a:bodyPr/>
          <a:lstStyle/>
          <a:p>
            <a:r>
              <a:rPr kumimoji="0" lang="en" sz="3200"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Network Redesign</a:t>
            </a:r>
            <a:endParaRPr lang="en-IN" dirty="0"/>
          </a:p>
        </p:txBody>
      </p:sp>
      <p:sp>
        <p:nvSpPr>
          <p:cNvPr id="4" name="Google Shape;93;p16">
            <a:extLst>
              <a:ext uri="{FF2B5EF4-FFF2-40B4-BE49-F238E27FC236}">
                <a16:creationId xmlns:a16="http://schemas.microsoft.com/office/drawing/2014/main" id="{1B401A50-15D1-4FB8-89B4-A5596D2A2E60}"/>
              </a:ext>
            </a:extLst>
          </p:cNvPr>
          <p:cNvSpPr txBox="1"/>
          <p:nvPr/>
        </p:nvSpPr>
        <p:spPr>
          <a:xfrm>
            <a:off x="233775" y="1593696"/>
            <a:ext cx="73155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i="1" dirty="0">
                <a:solidFill>
                  <a:srgbClr val="525C65"/>
                </a:solidFill>
                <a:latin typeface="Open Sans Light"/>
                <a:ea typeface="Open Sans Light"/>
                <a:cs typeface="Open Sans Light"/>
                <a:sym typeface="Open Sans Light"/>
              </a:rPr>
              <a:t>Place the updated network diagram here.</a:t>
            </a:r>
            <a:endParaRPr sz="1600" dirty="0"/>
          </a:p>
        </p:txBody>
      </p:sp>
    </p:spTree>
    <p:extLst>
      <p:ext uri="{BB962C8B-B14F-4D97-AF65-F5344CB8AC3E}">
        <p14:creationId xmlns:p14="http://schemas.microsoft.com/office/powerpoint/2010/main" val="1439456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7"/>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Convince the Stakeholders</a:t>
            </a:r>
            <a:endParaRPr/>
          </a:p>
        </p:txBody>
      </p:sp>
      <p:sp>
        <p:nvSpPr>
          <p:cNvPr id="99" name="Google Shape;99;p17"/>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buNone/>
            </a:pPr>
            <a:r>
              <a:rPr lang="en"/>
              <a:t>With a proposed network redesign, stakeholders will require a clear understanding of the benefits and necessity of these changes. Your next task is to prepare answers to the following potential questions they may have. In all your answers, make sure to emphasize the security aspects.</a:t>
            </a:r>
            <a:endParaRPr/>
          </a:p>
          <a:p>
            <a:pPr marL="0" indent="0">
              <a:buNone/>
            </a:pPr>
            <a:endParaRPr/>
          </a:p>
          <a:p>
            <a:r>
              <a:rPr lang="en"/>
              <a:t>Why do we need to add firewalls to our network?</a:t>
            </a:r>
            <a:endParaRPr/>
          </a:p>
          <a:p>
            <a:r>
              <a:rPr lang="en"/>
              <a:t>What is the benefit of having different areas in our network for web servers and database servers?</a:t>
            </a:r>
            <a:endParaRPr/>
          </a:p>
          <a:p>
            <a:r>
              <a:rPr lang="en"/>
              <a:t>What does a VPN do for our connection to the file storage server?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3200"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Identify Network Vulnerabilities</a:t>
            </a:r>
            <a:endParaRPr lang="en-IN" dirty="0"/>
          </a:p>
        </p:txBody>
      </p:sp>
      <p:graphicFrame>
        <p:nvGraphicFramePr>
          <p:cNvPr id="4" name="Google Shape;105;p18">
            <a:extLst>
              <a:ext uri="{FF2B5EF4-FFF2-40B4-BE49-F238E27FC236}">
                <a16:creationId xmlns:a16="http://schemas.microsoft.com/office/drawing/2014/main" id="{7BD3A79D-5556-44F2-81EB-A893E88CFB14}"/>
              </a:ext>
            </a:extLst>
          </p:cNvPr>
          <p:cNvGraphicFramePr/>
          <p:nvPr>
            <p:extLst>
              <p:ext uri="{D42A27DB-BD31-4B8C-83A1-F6EECF244321}">
                <p14:modId xmlns:p14="http://schemas.microsoft.com/office/powerpoint/2010/main" val="1243757099"/>
              </p:ext>
            </p:extLst>
          </p:nvPr>
        </p:nvGraphicFramePr>
        <p:xfrm>
          <a:off x="233696" y="1667597"/>
          <a:ext cx="6359404" cy="7305235"/>
        </p:xfrm>
        <a:graphic>
          <a:graphicData uri="http://schemas.openxmlformats.org/drawingml/2006/table">
            <a:tbl>
              <a:tblPr>
                <a:noFill/>
              </a:tblPr>
              <a:tblGrid>
                <a:gridCol w="6359404">
                  <a:extLst>
                    <a:ext uri="{9D8B030D-6E8A-4147-A177-3AD203B41FA5}">
                      <a16:colId xmlns:a16="http://schemas.microsoft.com/office/drawing/2014/main" val="20000"/>
                    </a:ext>
                  </a:extLst>
                </a:gridCol>
              </a:tblGrid>
              <a:tr h="451574">
                <a:tc>
                  <a:txBody>
                    <a:bodyPr/>
                    <a:lstStyle/>
                    <a:p>
                      <a:pPr marL="0" lvl="0" indent="0" algn="l" rtl="0">
                        <a:lnSpc>
                          <a:spcPct val="115000"/>
                        </a:lnSpc>
                        <a:spcBef>
                          <a:spcPts val="0"/>
                        </a:spcBef>
                        <a:spcAft>
                          <a:spcPts val="0"/>
                        </a:spcAft>
                        <a:buNone/>
                      </a:pPr>
                      <a:r>
                        <a:rPr lang="en" sz="1800">
                          <a:solidFill>
                            <a:srgbClr val="525C65"/>
                          </a:solidFill>
                          <a:latin typeface="Open Sans Light"/>
                          <a:ea typeface="Open Sans Light"/>
                          <a:cs typeface="Open Sans Light"/>
                          <a:sym typeface="Open Sans Light"/>
                        </a:rPr>
                        <a:t>Why do we need to add firewalls to our network?</a:t>
                      </a:r>
                      <a:endParaRPr sz="1800"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631495">
                <a:tc>
                  <a:txBody>
                    <a:bodyPr/>
                    <a:lstStyle/>
                    <a:p>
                      <a:pPr marL="0" lvl="0" indent="0" algn="l" rtl="0">
                        <a:spcBef>
                          <a:spcPts val="0"/>
                        </a:spcBef>
                        <a:spcAft>
                          <a:spcPts val="0"/>
                        </a:spcAft>
                        <a:buNone/>
                      </a:pPr>
                      <a:r>
                        <a:rPr lang="en" sz="1600" dirty="0">
                          <a:solidFill>
                            <a:srgbClr val="525C65"/>
                          </a:solidFill>
                          <a:latin typeface="Open Sans"/>
                          <a:ea typeface="Open Sans"/>
                          <a:cs typeface="Open Sans"/>
                          <a:sym typeface="Open Sans"/>
                        </a:rPr>
                        <a:t>[Write your answer here]</a:t>
                      </a:r>
                      <a:endParaRPr sz="1600" dirty="0">
                        <a:solidFill>
                          <a:srgbClr val="525C65"/>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750197">
                <a:tc>
                  <a:txBody>
                    <a:bodyPr/>
                    <a:lstStyle/>
                    <a:p>
                      <a:pPr marL="0" lvl="0" indent="0" algn="l" rtl="0">
                        <a:lnSpc>
                          <a:spcPct val="115000"/>
                        </a:lnSpc>
                        <a:spcBef>
                          <a:spcPts val="0"/>
                        </a:spcBef>
                        <a:spcAft>
                          <a:spcPts val="0"/>
                        </a:spcAft>
                        <a:buNone/>
                      </a:pPr>
                      <a:r>
                        <a:rPr lang="en" sz="1800">
                          <a:solidFill>
                            <a:srgbClr val="525C65"/>
                          </a:solidFill>
                          <a:latin typeface="Open Sans Light"/>
                          <a:ea typeface="Open Sans Light"/>
                          <a:cs typeface="Open Sans Light"/>
                          <a:sym typeface="Open Sans Light"/>
                        </a:rPr>
                        <a:t>What is the benefit of having different areas in our network for web servers and database servers?</a:t>
                      </a:r>
                      <a:endParaRPr sz="1800"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719246">
                <a:tc>
                  <a:txBody>
                    <a:bodyPr/>
                    <a:lstStyle/>
                    <a:p>
                      <a:pPr marL="0" lvl="0" indent="0" algn="l" rtl="0">
                        <a:spcBef>
                          <a:spcPts val="0"/>
                        </a:spcBef>
                        <a:spcAft>
                          <a:spcPts val="0"/>
                        </a:spcAft>
                        <a:buClr>
                          <a:schemeClr val="dk1"/>
                        </a:buClr>
                        <a:buSzPts val="1100"/>
                        <a:buFont typeface="Arial"/>
                        <a:buNone/>
                      </a:pPr>
                      <a:r>
                        <a:rPr lang="en" sz="1600">
                          <a:solidFill>
                            <a:srgbClr val="525C65"/>
                          </a:solidFill>
                          <a:latin typeface="Open Sans"/>
                          <a:ea typeface="Open Sans"/>
                          <a:cs typeface="Open Sans"/>
                          <a:sym typeface="Open Sans"/>
                        </a:rPr>
                        <a:t>[Write your answer here]</a:t>
                      </a:r>
                      <a:endParaRPr sz="1600">
                        <a:solidFill>
                          <a:srgbClr val="525C65"/>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751579">
                <a:tc>
                  <a:txBody>
                    <a:bodyPr/>
                    <a:lstStyle/>
                    <a:p>
                      <a:pPr marL="0" lvl="0" indent="0" algn="l" rtl="0">
                        <a:lnSpc>
                          <a:spcPct val="115000"/>
                        </a:lnSpc>
                        <a:spcBef>
                          <a:spcPts val="0"/>
                        </a:spcBef>
                        <a:spcAft>
                          <a:spcPts val="0"/>
                        </a:spcAft>
                        <a:buNone/>
                      </a:pPr>
                      <a:r>
                        <a:rPr lang="en" sz="1800">
                          <a:solidFill>
                            <a:srgbClr val="525C65"/>
                          </a:solidFill>
                          <a:latin typeface="Open Sans Light"/>
                          <a:ea typeface="Open Sans Light"/>
                          <a:cs typeface="Open Sans Light"/>
                          <a:sym typeface="Open Sans Light"/>
                        </a:rPr>
                        <a:t>What does a VPN do for our connection to the file storage server?</a:t>
                      </a:r>
                      <a:endParaRPr sz="1800" b="1">
                        <a:solidFill>
                          <a:srgbClr val="525C65"/>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1890960">
                <a:tc>
                  <a:txBody>
                    <a:bodyPr/>
                    <a:lstStyle/>
                    <a:p>
                      <a:pPr marL="0" lvl="0" indent="0" algn="l" rtl="0">
                        <a:spcBef>
                          <a:spcPts val="0"/>
                        </a:spcBef>
                        <a:spcAft>
                          <a:spcPts val="0"/>
                        </a:spcAft>
                        <a:buNone/>
                      </a:pPr>
                      <a:r>
                        <a:rPr lang="en" sz="1600" dirty="0">
                          <a:solidFill>
                            <a:srgbClr val="525C65"/>
                          </a:solidFill>
                          <a:latin typeface="Open Sans"/>
                          <a:ea typeface="Open Sans"/>
                          <a:cs typeface="Open Sans"/>
                          <a:sym typeface="Open Sans"/>
                        </a:rPr>
                        <a:t>[Write your answer here]</a:t>
                      </a:r>
                      <a:endParaRPr sz="1600" dirty="0">
                        <a:solidFill>
                          <a:srgbClr val="525C65"/>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44353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2:</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3200" dirty="0">
                <a:solidFill>
                  <a:srgbClr val="FFFFFF"/>
                </a:solidFill>
                <a:latin typeface="Corbel" panose="020B0503020204020204"/>
              </a:rPr>
              <a:t>Building</a:t>
            </a:r>
            <a:r>
              <a:rPr kumimoji="0" lang="en-US" sz="3200" b="0" i="0" u="none" strike="noStrike" kern="1200" cap="none" spc="0" normalizeH="0" baseline="0" noProof="0" dirty="0">
                <a:ln>
                  <a:noFill/>
                </a:ln>
                <a:solidFill>
                  <a:srgbClr val="FFFFFF"/>
                </a:solidFill>
                <a:effectLst/>
                <a:uLnTx/>
                <a:uFillTx/>
                <a:latin typeface="Corbel" panose="020B0503020204020204"/>
                <a:ea typeface="+mn-ea"/>
                <a:cs typeface="+mn-cs"/>
              </a:rPr>
              <a:t> a secure Network Architecture in VirtualBox</a:t>
            </a:r>
            <a:endPar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3467847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Network Setup</a:t>
            </a:r>
            <a:endParaRPr/>
          </a:p>
        </p:txBody>
      </p:sp>
      <p:sp>
        <p:nvSpPr>
          <p:cNvPr id="117" name="Google Shape;117;p20"/>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spcBef>
                <a:spcPts val="1059"/>
              </a:spcBef>
              <a:buNone/>
            </a:pPr>
            <a:r>
              <a:rPr lang="en" dirty="0"/>
              <a:t>Following the favorable reception of your network diagram, management is keen to see this blueprint come to life in a test environment. They have chosen VirtualBox as the platform to host this venture into the cloud. Your next task is to build the test network, which is detailed below. </a:t>
            </a:r>
            <a:endParaRPr i="1" dirty="0"/>
          </a:p>
          <a:p>
            <a:pPr>
              <a:spcBef>
                <a:spcPts val="1324"/>
              </a:spcBef>
            </a:pPr>
            <a:r>
              <a:rPr lang="en" i="1" dirty="0"/>
              <a:t>Construct two VirtualBox virtual networks (VNet):</a:t>
            </a:r>
            <a:endParaRPr i="1" dirty="0"/>
          </a:p>
          <a:p>
            <a:pPr lvl="1">
              <a:spcBef>
                <a:spcPts val="0"/>
              </a:spcBef>
            </a:pPr>
            <a:r>
              <a:rPr lang="en" i="1" dirty="0"/>
              <a:t>Name the first VNet DMZ. Within it, create two subnets:</a:t>
            </a:r>
            <a:endParaRPr i="1" dirty="0"/>
          </a:p>
          <a:p>
            <a:pPr lvl="2">
              <a:spcBef>
                <a:spcPts val="0"/>
              </a:spcBef>
            </a:pPr>
            <a:r>
              <a:rPr lang="en" i="1" dirty="0"/>
              <a:t>Public-DMZ for future web servers.</a:t>
            </a:r>
            <a:endParaRPr i="1" dirty="0"/>
          </a:p>
          <a:p>
            <a:pPr lvl="2">
              <a:spcBef>
                <a:spcPts val="0"/>
              </a:spcBef>
            </a:pPr>
            <a:r>
              <a:rPr lang="en" i="1" dirty="0"/>
              <a:t>Private-DMZ for database servers.</a:t>
            </a:r>
            <a:endParaRPr i="1" dirty="0"/>
          </a:p>
          <a:p>
            <a:pPr lvl="1">
              <a:spcBef>
                <a:spcPts val="0"/>
              </a:spcBef>
            </a:pPr>
            <a:r>
              <a:rPr lang="en" i="1" dirty="0"/>
              <a:t>Name the second VNet Internal and create one subnet within it called Internal-Subnet.</a:t>
            </a:r>
            <a:endParaRPr i="1" dirty="0"/>
          </a:p>
          <a:p>
            <a:r>
              <a:rPr lang="en" i="1" dirty="0"/>
              <a:t>Take and submit a screenshot of the DMZ Virtual Network with the two subnets</a:t>
            </a:r>
            <a:endParaRPr i="1" dirty="0"/>
          </a:p>
          <a:p>
            <a:r>
              <a:rPr lang="en" i="1" dirty="0"/>
              <a:t>Take and submit a screenshot of the Internal Virtual Network with the subnet</a:t>
            </a:r>
            <a:endParaRPr sz="971" i="1" dirty="0">
              <a:solidFill>
                <a:srgbClr val="0E101A"/>
              </a:solidFill>
              <a:latin typeface="Arial"/>
              <a:ea typeface="Arial"/>
              <a:cs typeface="Arial"/>
              <a:sym typeface="Arial"/>
            </a:endParaRPr>
          </a:p>
          <a:p>
            <a:pPr marL="0" indent="0">
              <a:spcBef>
                <a:spcPts val="1324"/>
              </a:spcBef>
              <a:spcAft>
                <a:spcPts val="1324"/>
              </a:spcAft>
              <a:buNone/>
            </a:pPr>
            <a:endParaRPr i="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Network Setup</a:t>
            </a:r>
            <a:endParaRPr dirty="0"/>
          </a:p>
        </p:txBody>
      </p:sp>
      <p:sp>
        <p:nvSpPr>
          <p:cNvPr id="6" name="Google Shape;123;p21">
            <a:extLst>
              <a:ext uri="{FF2B5EF4-FFF2-40B4-BE49-F238E27FC236}">
                <a16:creationId xmlns:a16="http://schemas.microsoft.com/office/drawing/2014/main" id="{12D8861E-3B1D-4A51-BA4A-32A321249F99}"/>
              </a:ext>
            </a:extLst>
          </p:cNvPr>
          <p:cNvSpPr txBox="1">
            <a:spLocks noGrp="1"/>
          </p:cNvSpPr>
          <p:nvPr>
            <p:ph type="body" idx="1"/>
          </p:nvPr>
        </p:nvSpPr>
        <p:spPr>
          <a:xfrm>
            <a:off x="233363" y="2049463"/>
            <a:ext cx="6391275" cy="6073775"/>
          </a:xfrm>
          <a:prstGeom prst="rect">
            <a:avLst/>
          </a:prstGeom>
        </p:spPr>
        <p:txBody>
          <a:bodyPr spcFirstLastPara="1" wrap="square" lIns="80669" tIns="80669" rIns="80669" bIns="80669" anchor="t" anchorCtr="0">
            <a:noAutofit/>
          </a:bodyPr>
          <a:lstStyle/>
          <a:p>
            <a:pPr marL="0" indent="0">
              <a:spcBef>
                <a:spcPts val="1324"/>
              </a:spcBef>
              <a:buNone/>
            </a:pPr>
            <a:r>
              <a:rPr lang="en" i="1" dirty="0">
                <a:latin typeface="Open Sans Light"/>
                <a:ea typeface="Open Sans Light"/>
                <a:cs typeface="Open Sans Light"/>
                <a:sym typeface="Open Sans Light"/>
              </a:rPr>
              <a:t>Screenshot of the DMZ Virtual Network with the two subnets</a:t>
            </a:r>
            <a:endParaRPr i="1" dirty="0">
              <a:latin typeface="Open Sans Light"/>
              <a:ea typeface="Open Sans Light"/>
              <a:cs typeface="Open Sans Light"/>
              <a:sym typeface="Open Sans Light"/>
            </a:endParaRPr>
          </a:p>
          <a:p>
            <a:pPr marL="0" indent="0">
              <a:spcBef>
                <a:spcPts val="1324"/>
              </a:spcBef>
              <a:buNone/>
            </a:pPr>
            <a:endParaRPr i="1" dirty="0">
              <a:latin typeface="Open Sans Light"/>
              <a:ea typeface="Open Sans Light"/>
              <a:cs typeface="Open Sans Light"/>
              <a:sym typeface="Open Sans Light"/>
            </a:endParaRPr>
          </a:p>
          <a:p>
            <a:pPr marL="0" indent="0">
              <a:spcBef>
                <a:spcPts val="1324"/>
              </a:spcBef>
              <a:buNone/>
            </a:pPr>
            <a:endParaRPr dirty="0">
              <a:latin typeface="Open Sans Light"/>
              <a:ea typeface="Open Sans Light"/>
              <a:cs typeface="Open Sans Light"/>
              <a:sym typeface="Open Sans Light"/>
            </a:endParaRPr>
          </a:p>
        </p:txBody>
      </p:sp>
      <p:sp>
        <p:nvSpPr>
          <p:cNvPr id="7" name="TextBox 6">
            <a:extLst>
              <a:ext uri="{FF2B5EF4-FFF2-40B4-BE49-F238E27FC236}">
                <a16:creationId xmlns:a16="http://schemas.microsoft.com/office/drawing/2014/main" id="{1C96491A-C15C-4C64-A42E-BCE204581102}"/>
              </a:ext>
            </a:extLst>
          </p:cNvPr>
          <p:cNvSpPr txBox="1"/>
          <p:nvPr/>
        </p:nvSpPr>
        <p:spPr>
          <a:xfrm>
            <a:off x="1714500" y="4387334"/>
            <a:ext cx="3429000" cy="369332"/>
          </a:xfrm>
          <a:prstGeom prst="rect">
            <a:avLst/>
          </a:prstGeom>
          <a:noFill/>
        </p:spPr>
        <p:txBody>
          <a:bodyPr wrap="square">
            <a:spAutoFit/>
          </a:bodyPr>
          <a:lstStyle/>
          <a:p>
            <a:pPr marL="0" lvl="0" indent="0" algn="l" rtl="0">
              <a:spcBef>
                <a:spcPts val="0"/>
              </a:spcBef>
              <a:spcAft>
                <a:spcPts val="0"/>
              </a:spcAft>
              <a:buNone/>
            </a:pPr>
            <a:r>
              <a:rPr lang="en-IN" sz="1800" dirty="0">
                <a:solidFill>
                  <a:srgbClr val="525C65"/>
                </a:solidFill>
                <a:latin typeface="Open Sans"/>
                <a:ea typeface="Open Sans"/>
                <a:cs typeface="Open Sans"/>
                <a:sym typeface="Open Sans"/>
              </a:rPr>
              <a:t>[Add Screenshot here]</a:t>
            </a:r>
          </a:p>
        </p:txBody>
      </p:sp>
    </p:spTree>
    <p:extLst>
      <p:ext uri="{BB962C8B-B14F-4D97-AF65-F5344CB8AC3E}">
        <p14:creationId xmlns:p14="http://schemas.microsoft.com/office/powerpoint/2010/main" val="1804705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Network Setup</a:t>
            </a:r>
            <a:endParaRPr dirty="0"/>
          </a:p>
        </p:txBody>
      </p:sp>
      <p:sp>
        <p:nvSpPr>
          <p:cNvPr id="7" name="TextBox 6">
            <a:extLst>
              <a:ext uri="{FF2B5EF4-FFF2-40B4-BE49-F238E27FC236}">
                <a16:creationId xmlns:a16="http://schemas.microsoft.com/office/drawing/2014/main" id="{1C96491A-C15C-4C64-A42E-BCE204581102}"/>
              </a:ext>
            </a:extLst>
          </p:cNvPr>
          <p:cNvSpPr txBox="1"/>
          <p:nvPr/>
        </p:nvSpPr>
        <p:spPr>
          <a:xfrm>
            <a:off x="1714500" y="4387334"/>
            <a:ext cx="3429000" cy="369332"/>
          </a:xfrm>
          <a:prstGeom prst="rect">
            <a:avLst/>
          </a:prstGeom>
          <a:noFill/>
        </p:spPr>
        <p:txBody>
          <a:bodyPr wrap="square">
            <a:spAutoFit/>
          </a:bodyPr>
          <a:lstStyle/>
          <a:p>
            <a:pPr marL="0" lvl="0" indent="0" algn="l" rtl="0">
              <a:spcBef>
                <a:spcPts val="0"/>
              </a:spcBef>
              <a:spcAft>
                <a:spcPts val="0"/>
              </a:spcAft>
              <a:buNone/>
            </a:pPr>
            <a:r>
              <a:rPr lang="en-IN" sz="1800" dirty="0">
                <a:solidFill>
                  <a:srgbClr val="525C65"/>
                </a:solidFill>
                <a:latin typeface="Open Sans"/>
                <a:ea typeface="Open Sans"/>
                <a:cs typeface="Open Sans"/>
                <a:sym typeface="Open Sans"/>
              </a:rPr>
              <a:t>[Add Screenshot here]</a:t>
            </a:r>
          </a:p>
        </p:txBody>
      </p:sp>
      <p:sp>
        <p:nvSpPr>
          <p:cNvPr id="8" name="Google Shape;130;p22">
            <a:extLst>
              <a:ext uri="{FF2B5EF4-FFF2-40B4-BE49-F238E27FC236}">
                <a16:creationId xmlns:a16="http://schemas.microsoft.com/office/drawing/2014/main" id="{9136182C-950A-40C2-915A-FAC5204A1E29}"/>
              </a:ext>
            </a:extLst>
          </p:cNvPr>
          <p:cNvSpPr txBox="1">
            <a:spLocks/>
          </p:cNvSpPr>
          <p:nvPr/>
        </p:nvSpPr>
        <p:spPr>
          <a:xfrm>
            <a:off x="233775" y="2123055"/>
            <a:ext cx="6390529" cy="5895000"/>
          </a:xfrm>
          <a:prstGeom prst="rect">
            <a:avLst/>
          </a:prstGeom>
          <a:noFill/>
          <a:ln>
            <a:noFill/>
          </a:ln>
        </p:spPr>
        <p:txBody>
          <a:bodyPr spcFirstLastPara="1" wrap="square" lIns="80669" tIns="80669" rIns="80669" bIns="80669" anchor="t" anchorCtr="0">
            <a:noAutofit/>
          </a:bodyPr>
          <a:lstStyle>
            <a:defPPr marR="0" lvl="0" algn="l" rtl="0">
              <a:lnSpc>
                <a:spcPct val="100000"/>
              </a:lnSpc>
              <a:spcBef>
                <a:spcPts val="0"/>
              </a:spcBef>
              <a:spcAft>
                <a:spcPts val="0"/>
              </a:spcAft>
            </a:defPPr>
            <a:lvl1pPr marL="403433" marR="0" lvl="0" indent="-302575" algn="l" rtl="0">
              <a:lnSpc>
                <a:spcPct val="115000"/>
              </a:lnSpc>
              <a:spcBef>
                <a:spcPts val="0"/>
              </a:spcBef>
              <a:spcAft>
                <a:spcPts val="0"/>
              </a:spcAft>
              <a:buClr>
                <a:srgbClr val="525C65"/>
              </a:buClr>
              <a:buSzPts val="1800"/>
              <a:buFont typeface="Open Sans Light"/>
              <a:buChar char="●"/>
              <a:defRPr sz="1800" b="0" i="0" u="none" strike="noStrike" cap="none">
                <a:solidFill>
                  <a:srgbClr val="525C65"/>
                </a:solidFill>
                <a:latin typeface="Open Sans Light"/>
                <a:ea typeface="Open Sans Light"/>
                <a:cs typeface="Open Sans Light"/>
                <a:sym typeface="Open Sans Light"/>
              </a:defRPr>
            </a:lvl1pPr>
            <a:lvl2pPr marL="806867" marR="0" lvl="1"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2pPr>
            <a:lvl3pPr marL="1210300" marR="0" lvl="2"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3pPr>
            <a:lvl4pPr marL="1613733" marR="0" lvl="3"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4pPr>
            <a:lvl5pPr marL="2017166" marR="0" lvl="4"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5pPr>
            <a:lvl6pPr marL="2420600" marR="0" lvl="5"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6pPr>
            <a:lvl7pPr marL="2824033" marR="0" lvl="6"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7pPr>
            <a:lvl8pPr marL="3227466" marR="0" lvl="7"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8pPr>
            <a:lvl9pPr marL="3630900" marR="0" lvl="8" indent="-302575" algn="l" rtl="0">
              <a:lnSpc>
                <a:spcPct val="115000"/>
              </a:lnSpc>
              <a:spcBef>
                <a:spcPts val="1412"/>
              </a:spcBef>
              <a:spcAft>
                <a:spcPts val="1412"/>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9pPr>
          </a:lstStyle>
          <a:p>
            <a:pPr marL="0" indent="0" defTabSz="914400">
              <a:spcBef>
                <a:spcPts val="1324"/>
              </a:spcBef>
              <a:buFont typeface="Open Sans Light"/>
              <a:buNone/>
            </a:pPr>
            <a:r>
              <a:rPr lang="en-US" i="1" kern="0"/>
              <a:t>Screenshot of the Internal Virtual Network with the subnet</a:t>
            </a:r>
            <a:endParaRPr lang="en-US" sz="971" i="1" kern="0">
              <a:solidFill>
                <a:srgbClr val="0E101A"/>
              </a:solidFill>
              <a:latin typeface="Arial"/>
              <a:ea typeface="Arial"/>
              <a:cs typeface="Arial"/>
              <a:sym typeface="Arial"/>
            </a:endParaRPr>
          </a:p>
          <a:p>
            <a:pPr marL="0" indent="0" defTabSz="914400">
              <a:spcBef>
                <a:spcPts val="1324"/>
              </a:spcBef>
              <a:spcAft>
                <a:spcPts val="1324"/>
              </a:spcAft>
              <a:buFont typeface="Open Sans Light"/>
              <a:buNone/>
            </a:pPr>
            <a:endParaRPr lang="en-US" i="1" kern="0" dirty="0"/>
          </a:p>
        </p:txBody>
      </p:sp>
    </p:spTree>
    <p:extLst>
      <p:ext uri="{BB962C8B-B14F-4D97-AF65-F5344CB8AC3E}">
        <p14:creationId xmlns:p14="http://schemas.microsoft.com/office/powerpoint/2010/main" val="3084094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3:</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solidFill>
                <a:effectLst/>
                <a:uLnTx/>
                <a:uFillTx/>
                <a:latin typeface="Corbel" panose="020B0503020204020204"/>
                <a:ea typeface="+mn-ea"/>
                <a:cs typeface="+mn-cs"/>
              </a:rPr>
              <a:t>Continuous Monitoring with a SIEM</a:t>
            </a:r>
            <a:endPar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2034461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Understanding SIEM Benefits</a:t>
            </a:r>
            <a:endParaRPr/>
          </a:p>
        </p:txBody>
      </p:sp>
      <p:sp>
        <p:nvSpPr>
          <p:cNvPr id="157" name="Google Shape;157;p26"/>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lnSpc>
                <a:spcPct val="100000"/>
              </a:lnSpc>
              <a:buClr>
                <a:schemeClr val="dk1"/>
              </a:buClr>
              <a:buSzPts val="1100"/>
              <a:buNone/>
            </a:pPr>
            <a:r>
              <a:rPr lang="en"/>
              <a:t>As cyber threats evolve, staying ahead with proactive monitoring is crucial. It's time to get everyone on board with adding a SIEM system to the network. Your task is simple but crucial: convince the stakeholders by pinpointing three major benefits of implementing a SIEM. </a:t>
            </a:r>
            <a:endParaRPr/>
          </a:p>
          <a:p>
            <a:pPr marL="0" indent="0">
              <a:spcBef>
                <a:spcPts val="1324"/>
              </a:spcBef>
              <a:buNone/>
            </a:pPr>
            <a:endParaRPr/>
          </a:p>
          <a:p>
            <a:pPr indent="-268956">
              <a:spcBef>
                <a:spcPts val="1324"/>
              </a:spcBef>
              <a:buClr>
                <a:srgbClr val="0D0D0D"/>
              </a:buClr>
              <a:buSzPts val="1200"/>
              <a:buFont typeface="Roboto"/>
              <a:buChar char="●"/>
            </a:pPr>
            <a:r>
              <a:rPr lang="en"/>
              <a:t>Identify at least 3 distinct benefits of implementing a SIEM in an enterprise environment</a:t>
            </a:r>
            <a:endParaRPr/>
          </a:p>
          <a:p>
            <a:pPr indent="-268956">
              <a:buClr>
                <a:srgbClr val="0D0D0D"/>
              </a:buClr>
              <a:buSzPts val="1200"/>
              <a:buFont typeface="Roboto"/>
              <a:buChar char="●"/>
            </a:pPr>
            <a:r>
              <a:rPr lang="en"/>
              <a:t>Write a short description of each benefit </a:t>
            </a:r>
            <a:endParaRPr i="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Understanding SIEM Benefits</a:t>
            </a:r>
            <a:endParaRPr/>
          </a:p>
        </p:txBody>
      </p:sp>
      <p:graphicFrame>
        <p:nvGraphicFramePr>
          <p:cNvPr id="6" name="Google Shape;163;p27">
            <a:extLst>
              <a:ext uri="{FF2B5EF4-FFF2-40B4-BE49-F238E27FC236}">
                <a16:creationId xmlns:a16="http://schemas.microsoft.com/office/drawing/2014/main" id="{F9571E70-2E9C-437A-A36C-B226AB41941C}"/>
              </a:ext>
            </a:extLst>
          </p:cNvPr>
          <p:cNvGraphicFramePr/>
          <p:nvPr>
            <p:extLst>
              <p:ext uri="{D42A27DB-BD31-4B8C-83A1-F6EECF244321}">
                <p14:modId xmlns:p14="http://schemas.microsoft.com/office/powerpoint/2010/main" val="2312807311"/>
              </p:ext>
            </p:extLst>
          </p:nvPr>
        </p:nvGraphicFramePr>
        <p:xfrm>
          <a:off x="233735" y="2140191"/>
          <a:ext cx="6390529" cy="6101452"/>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03385">
                <a:tc>
                  <a:txBody>
                    <a:bodyPr/>
                    <a:lstStyle/>
                    <a:p>
                      <a:pPr marL="0" lvl="0" indent="0" algn="l" rtl="0">
                        <a:spcBef>
                          <a:spcPts val="0"/>
                        </a:spcBef>
                        <a:spcAft>
                          <a:spcPts val="0"/>
                        </a:spcAft>
                        <a:buNone/>
                      </a:pPr>
                      <a:r>
                        <a:rPr lang="en" sz="1600" b="1">
                          <a:solidFill>
                            <a:srgbClr val="525C65"/>
                          </a:solidFill>
                          <a:latin typeface="Open Sans"/>
                          <a:ea typeface="Open Sans"/>
                          <a:cs typeface="Open Sans"/>
                          <a:sym typeface="Open Sans"/>
                        </a:rPr>
                        <a:t>1. [SIEM Benefit]</a:t>
                      </a:r>
                      <a:endParaRPr sz="1600" b="1"/>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520757">
                <a:tc>
                  <a:txBody>
                    <a:bodyPr/>
                    <a:lstStyle/>
                    <a:p>
                      <a:pPr marL="0" lvl="0" indent="0" algn="l" rtl="0">
                        <a:spcBef>
                          <a:spcPts val="0"/>
                        </a:spcBef>
                        <a:spcAft>
                          <a:spcPts val="0"/>
                        </a:spcAft>
                        <a:buNone/>
                      </a:pPr>
                      <a:r>
                        <a:rPr lang="en" sz="1400">
                          <a:solidFill>
                            <a:srgbClr val="525C65"/>
                          </a:solidFill>
                          <a:latin typeface="Open Sans"/>
                          <a:ea typeface="Open Sans"/>
                          <a:cs typeface="Open Sans"/>
                          <a:sym typeface="Open Sans"/>
                        </a:rPr>
                        <a:t>[Write a short description detailing its significance]</a:t>
                      </a:r>
                      <a:endParaRPr sz="14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3385">
                <a:tc>
                  <a:txBody>
                    <a:bodyPr/>
                    <a:lstStyle/>
                    <a:p>
                      <a:pPr marL="0" lvl="0" indent="0" algn="l" rtl="0">
                        <a:spcBef>
                          <a:spcPts val="0"/>
                        </a:spcBef>
                        <a:spcAft>
                          <a:spcPts val="0"/>
                        </a:spcAft>
                        <a:buNone/>
                      </a:pPr>
                      <a:r>
                        <a:rPr lang="en" sz="1600" b="1">
                          <a:solidFill>
                            <a:srgbClr val="525C65"/>
                          </a:solidFill>
                          <a:latin typeface="Open Sans"/>
                          <a:ea typeface="Open Sans"/>
                          <a:cs typeface="Open Sans"/>
                          <a:sym typeface="Open Sans"/>
                        </a:rPr>
                        <a:t>2. [SIEM Benefit]</a:t>
                      </a:r>
                      <a:endParaRPr sz="1600" b="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602551">
                <a:tc>
                  <a:txBody>
                    <a:bodyPr/>
                    <a:lstStyle/>
                    <a:p>
                      <a:pPr marL="0" lvl="0" indent="0" algn="l" rtl="0">
                        <a:spcBef>
                          <a:spcPts val="0"/>
                        </a:spcBef>
                        <a:spcAft>
                          <a:spcPts val="0"/>
                        </a:spcAft>
                        <a:buClr>
                          <a:schemeClr val="dk1"/>
                        </a:buClr>
                        <a:buSzPts val="1100"/>
                        <a:buFont typeface="Arial"/>
                        <a:buNone/>
                      </a:pPr>
                      <a:r>
                        <a:rPr lang="en" sz="1400">
                          <a:solidFill>
                            <a:srgbClr val="525C65"/>
                          </a:solidFill>
                          <a:latin typeface="Open Sans"/>
                          <a:ea typeface="Open Sans"/>
                          <a:cs typeface="Open Sans"/>
                          <a:sym typeface="Open Sans"/>
                        </a:rPr>
                        <a:t>[Write a short description detailing its significance]</a:t>
                      </a:r>
                      <a:endParaRPr sz="14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03385">
                <a:tc>
                  <a:txBody>
                    <a:bodyPr/>
                    <a:lstStyle/>
                    <a:p>
                      <a:pPr marL="0" lvl="0" indent="0" algn="l" rtl="0">
                        <a:spcBef>
                          <a:spcPts val="0"/>
                        </a:spcBef>
                        <a:spcAft>
                          <a:spcPts val="0"/>
                        </a:spcAft>
                        <a:buNone/>
                      </a:pPr>
                      <a:r>
                        <a:rPr lang="en" sz="1600" b="1">
                          <a:solidFill>
                            <a:srgbClr val="525C65"/>
                          </a:solidFill>
                          <a:latin typeface="Open Sans"/>
                          <a:ea typeface="Open Sans"/>
                          <a:cs typeface="Open Sans"/>
                          <a:sym typeface="Open Sans"/>
                        </a:rPr>
                        <a:t>3. [SIEM Benefit]</a:t>
                      </a:r>
                      <a:endParaRPr sz="1600" b="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1762610">
                <a:tc>
                  <a:txBody>
                    <a:bodyPr/>
                    <a:lstStyle/>
                    <a:p>
                      <a:pPr marL="0" lvl="0" indent="0" algn="l" rtl="0">
                        <a:spcBef>
                          <a:spcPts val="0"/>
                        </a:spcBef>
                        <a:spcAft>
                          <a:spcPts val="0"/>
                        </a:spcAft>
                        <a:buClr>
                          <a:schemeClr val="dk1"/>
                        </a:buClr>
                        <a:buSzPts val="1100"/>
                        <a:buFont typeface="Arial"/>
                        <a:buNone/>
                      </a:pPr>
                      <a:r>
                        <a:rPr lang="en" sz="1400" dirty="0">
                          <a:solidFill>
                            <a:srgbClr val="525C65"/>
                          </a:solidFill>
                          <a:latin typeface="Open Sans"/>
                          <a:ea typeface="Open Sans"/>
                          <a:cs typeface="Open Sans"/>
                          <a:sym typeface="Open Sans"/>
                        </a:rPr>
                        <a:t>[Write a short description detailing its significance]</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05556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8"/>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Deploy SIEM Components in VirtualBox</a:t>
            </a:r>
            <a:endParaRPr dirty="0"/>
          </a:p>
        </p:txBody>
      </p:sp>
      <p:sp>
        <p:nvSpPr>
          <p:cNvPr id="169" name="Google Shape;169;p28"/>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lnSpc>
                <a:spcPct val="100000"/>
              </a:lnSpc>
              <a:buClr>
                <a:schemeClr val="dk1"/>
              </a:buClr>
              <a:buSzPts val="1100"/>
              <a:buNone/>
            </a:pPr>
            <a:r>
              <a:rPr lang="en" dirty="0"/>
              <a:t>To give management a tangible understanding of how a Security Information and Event Management (SIEM) system operates, we're going to set up a demonstration in our VirtualBox test environment. This setup will involve deploying a virtual machine for the ELK server within the private subnet and a virtual machine for Filebeat within the public subnet. These components will work in tandem to illustrate the power of centralized logging and real-time analysis.</a:t>
            </a:r>
            <a:endParaRPr dirty="0"/>
          </a:p>
          <a:p>
            <a:pPr marL="0" indent="0">
              <a:lnSpc>
                <a:spcPct val="100000"/>
              </a:lnSpc>
              <a:buClr>
                <a:schemeClr val="dk1"/>
              </a:buClr>
              <a:buSzPts val="1100"/>
              <a:buNone/>
            </a:pPr>
            <a:endParaRPr i="1" dirty="0"/>
          </a:p>
          <a:p>
            <a:pPr>
              <a:lnSpc>
                <a:spcPct val="100000"/>
              </a:lnSpc>
            </a:pPr>
            <a:r>
              <a:rPr lang="en" i="1" dirty="0"/>
              <a:t>Deploy a virtual machine named Elk-Server in the Private-DMZ subnet of the DMZ VNet for the ELK stack.</a:t>
            </a:r>
            <a:endParaRPr i="1" dirty="0"/>
          </a:p>
          <a:p>
            <a:r>
              <a:rPr lang="en" i="1" dirty="0"/>
              <a:t>Deploy a virtual machine named Filebeat-VM in the Public-DMZ subnet of the DMZ VNet for Filebeat.</a:t>
            </a:r>
            <a:endParaRPr i="1" dirty="0"/>
          </a:p>
          <a:p>
            <a:r>
              <a:rPr lang="en" i="1" dirty="0"/>
              <a:t>Take and submit screenshots of the VM instances confirming their creation and network placement.</a:t>
            </a:r>
            <a:endParaRPr sz="1059" dirty="0">
              <a:solidFill>
                <a:srgbClr val="0D0D0D"/>
              </a:solidFill>
              <a:highlight>
                <a:srgbClr val="FFFFFF"/>
              </a:highlight>
              <a:latin typeface="Roboto"/>
              <a:ea typeface="Roboto"/>
              <a:cs typeface="Roboto"/>
              <a:sym typeface="Roboto"/>
            </a:endParaRPr>
          </a:p>
          <a:p>
            <a:pPr marL="0" indent="0">
              <a:spcBef>
                <a:spcPts val="1324"/>
              </a:spcBef>
              <a:buNone/>
            </a:pPr>
            <a:endParaRPr i="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Deploy SIEM Components in Azure</a:t>
            </a:r>
            <a:endParaRPr dirty="0"/>
          </a:p>
        </p:txBody>
      </p:sp>
      <p:sp>
        <p:nvSpPr>
          <p:cNvPr id="7" name="TextBox 6">
            <a:extLst>
              <a:ext uri="{FF2B5EF4-FFF2-40B4-BE49-F238E27FC236}">
                <a16:creationId xmlns:a16="http://schemas.microsoft.com/office/drawing/2014/main" id="{1C96491A-C15C-4C64-A42E-BCE204581102}"/>
              </a:ext>
            </a:extLst>
          </p:cNvPr>
          <p:cNvSpPr txBox="1"/>
          <p:nvPr/>
        </p:nvSpPr>
        <p:spPr>
          <a:xfrm>
            <a:off x="1714500" y="4387334"/>
            <a:ext cx="3429000" cy="369332"/>
          </a:xfrm>
          <a:prstGeom prst="rect">
            <a:avLst/>
          </a:prstGeom>
          <a:noFill/>
        </p:spPr>
        <p:txBody>
          <a:bodyPr wrap="square">
            <a:spAutoFit/>
          </a:bodyPr>
          <a:lstStyle/>
          <a:p>
            <a:pPr marL="0" lvl="0" indent="0" algn="l" rtl="0">
              <a:spcBef>
                <a:spcPts val="0"/>
              </a:spcBef>
              <a:spcAft>
                <a:spcPts val="0"/>
              </a:spcAft>
              <a:buNone/>
            </a:pPr>
            <a:r>
              <a:rPr lang="en-IN" sz="1800" dirty="0">
                <a:solidFill>
                  <a:srgbClr val="525C65"/>
                </a:solidFill>
                <a:latin typeface="Open Sans"/>
                <a:ea typeface="Open Sans"/>
                <a:cs typeface="Open Sans"/>
                <a:sym typeface="Open Sans"/>
              </a:rPr>
              <a:t>[Add Screenshot here]</a:t>
            </a:r>
          </a:p>
        </p:txBody>
      </p:sp>
      <p:sp>
        <p:nvSpPr>
          <p:cNvPr id="8" name="Google Shape;130;p22">
            <a:extLst>
              <a:ext uri="{FF2B5EF4-FFF2-40B4-BE49-F238E27FC236}">
                <a16:creationId xmlns:a16="http://schemas.microsoft.com/office/drawing/2014/main" id="{9136182C-950A-40C2-915A-FAC5204A1E29}"/>
              </a:ext>
            </a:extLst>
          </p:cNvPr>
          <p:cNvSpPr txBox="1">
            <a:spLocks/>
          </p:cNvSpPr>
          <p:nvPr/>
        </p:nvSpPr>
        <p:spPr>
          <a:xfrm>
            <a:off x="233775" y="2123055"/>
            <a:ext cx="6390529" cy="5895000"/>
          </a:xfrm>
          <a:prstGeom prst="rect">
            <a:avLst/>
          </a:prstGeom>
          <a:noFill/>
          <a:ln>
            <a:noFill/>
          </a:ln>
        </p:spPr>
        <p:txBody>
          <a:bodyPr spcFirstLastPara="1" wrap="square" lIns="80669" tIns="80669" rIns="80669" bIns="80669" anchor="t" anchorCtr="0">
            <a:noAutofit/>
          </a:bodyPr>
          <a:lstStyle>
            <a:defPPr marR="0" lvl="0" algn="l" rtl="0">
              <a:lnSpc>
                <a:spcPct val="100000"/>
              </a:lnSpc>
              <a:spcBef>
                <a:spcPts val="0"/>
              </a:spcBef>
              <a:spcAft>
                <a:spcPts val="0"/>
              </a:spcAft>
            </a:defPPr>
            <a:lvl1pPr marL="403433" marR="0" lvl="0" indent="-302575" algn="l" rtl="0">
              <a:lnSpc>
                <a:spcPct val="115000"/>
              </a:lnSpc>
              <a:spcBef>
                <a:spcPts val="0"/>
              </a:spcBef>
              <a:spcAft>
                <a:spcPts val="0"/>
              </a:spcAft>
              <a:buClr>
                <a:srgbClr val="525C65"/>
              </a:buClr>
              <a:buSzPts val="1800"/>
              <a:buFont typeface="Open Sans Light"/>
              <a:buChar char="●"/>
              <a:defRPr sz="1800" b="0" i="0" u="none" strike="noStrike" cap="none">
                <a:solidFill>
                  <a:srgbClr val="525C65"/>
                </a:solidFill>
                <a:latin typeface="Open Sans Light"/>
                <a:ea typeface="Open Sans Light"/>
                <a:cs typeface="Open Sans Light"/>
                <a:sym typeface="Open Sans Light"/>
              </a:defRPr>
            </a:lvl1pPr>
            <a:lvl2pPr marL="806867" marR="0" lvl="1"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2pPr>
            <a:lvl3pPr marL="1210300" marR="0" lvl="2"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3pPr>
            <a:lvl4pPr marL="1613733" marR="0" lvl="3"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4pPr>
            <a:lvl5pPr marL="2017166" marR="0" lvl="4"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5pPr>
            <a:lvl6pPr marL="2420600" marR="0" lvl="5"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6pPr>
            <a:lvl7pPr marL="2824033" marR="0" lvl="6"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7pPr>
            <a:lvl8pPr marL="3227466" marR="0" lvl="7"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8pPr>
            <a:lvl9pPr marL="3630900" marR="0" lvl="8" indent="-302575" algn="l" rtl="0">
              <a:lnSpc>
                <a:spcPct val="115000"/>
              </a:lnSpc>
              <a:spcBef>
                <a:spcPts val="1412"/>
              </a:spcBef>
              <a:spcAft>
                <a:spcPts val="1412"/>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9pPr>
          </a:lstStyle>
          <a:p>
            <a:pPr marL="0" indent="0">
              <a:spcBef>
                <a:spcPts val="1324"/>
              </a:spcBef>
              <a:buNone/>
            </a:pPr>
            <a:r>
              <a:rPr lang="en-US" i="1" dirty="0">
                <a:latin typeface="Open Sans Light"/>
                <a:ea typeface="Open Sans Light"/>
                <a:cs typeface="Open Sans Light"/>
                <a:sym typeface="Open Sans Light"/>
              </a:rPr>
              <a:t>Screenshots of the VM instances confirming their creation and network placement.</a:t>
            </a:r>
            <a:endParaRPr lang="en-US" sz="1059" dirty="0">
              <a:solidFill>
                <a:srgbClr val="0D0D0D"/>
              </a:solidFill>
              <a:highlight>
                <a:srgbClr val="FFFFFF"/>
              </a:highlight>
              <a:latin typeface="Roboto"/>
              <a:ea typeface="Roboto"/>
              <a:cs typeface="Roboto"/>
              <a:sym typeface="Roboto"/>
            </a:endParaRPr>
          </a:p>
          <a:p>
            <a:pPr marL="0" indent="0">
              <a:spcBef>
                <a:spcPts val="1324"/>
              </a:spcBef>
              <a:buNone/>
            </a:pPr>
            <a:endParaRPr lang="en-US" dirty="0">
              <a:latin typeface="Open Sans Light"/>
              <a:ea typeface="Open Sans Light"/>
              <a:cs typeface="Open Sans Light"/>
              <a:sym typeface="Open Sans Light"/>
            </a:endParaRPr>
          </a:p>
        </p:txBody>
      </p:sp>
    </p:spTree>
    <p:extLst>
      <p:ext uri="{BB962C8B-B14F-4D97-AF65-F5344CB8AC3E}">
        <p14:creationId xmlns:p14="http://schemas.microsoft.com/office/powerpoint/2010/main" val="1464301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2"/>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Setup Monitoring</a:t>
            </a:r>
            <a:endParaRPr/>
          </a:p>
        </p:txBody>
      </p:sp>
      <p:sp>
        <p:nvSpPr>
          <p:cNvPr id="196" name="Google Shape;196;p32"/>
          <p:cNvSpPr txBox="1">
            <a:spLocks noGrp="1"/>
          </p:cNvSpPr>
          <p:nvPr>
            <p:ph type="body" idx="1"/>
          </p:nvPr>
        </p:nvSpPr>
        <p:spPr>
          <a:xfrm>
            <a:off x="233735" y="1890504"/>
            <a:ext cx="6390529" cy="5895000"/>
          </a:xfrm>
          <a:prstGeom prst="rect">
            <a:avLst/>
          </a:prstGeom>
        </p:spPr>
        <p:txBody>
          <a:bodyPr spcFirstLastPara="1" wrap="square" lIns="80669" tIns="80669" rIns="80669" bIns="80669" anchor="t" anchorCtr="0">
            <a:noAutofit/>
          </a:bodyPr>
          <a:lstStyle/>
          <a:p>
            <a:pPr marL="0" indent="0">
              <a:lnSpc>
                <a:spcPct val="100000"/>
              </a:lnSpc>
              <a:buClr>
                <a:schemeClr val="dk1"/>
              </a:buClr>
              <a:buSzPts val="1100"/>
              <a:buNone/>
            </a:pPr>
            <a:r>
              <a:rPr lang="en" dirty="0"/>
              <a:t>To fully showcase our SIEM's capabilities, we will set up the ELK (Elasticsearch, Logstash, Kibana) server, install Filebeat on our web server, and ensure that web server logs are correctly forwarded and displayed in Kibana. This comprehensive task is pivotal for demonstrating effective real-time monitoring and analysis of web server activity, which is essential for maintaining operational health and security within our infrastructure.</a:t>
            </a:r>
            <a:endParaRPr i="1" dirty="0"/>
          </a:p>
          <a:p>
            <a:pPr>
              <a:spcBef>
                <a:spcPts val="1324"/>
              </a:spcBef>
            </a:pPr>
            <a:r>
              <a:rPr lang="en" i="1" dirty="0"/>
              <a:t>Install and configure the ELK server on a VM within the Private-DMZ subnet.</a:t>
            </a:r>
            <a:endParaRPr i="1" dirty="0"/>
          </a:p>
          <a:p>
            <a:r>
              <a:rPr lang="en" i="1" dirty="0"/>
              <a:t>Install Filebeat on the web server in the Public-DMZ subnet.</a:t>
            </a:r>
            <a:endParaRPr i="1" dirty="0"/>
          </a:p>
          <a:p>
            <a:r>
              <a:rPr lang="en" i="1" dirty="0"/>
              <a:t>Configure Filebeat to forward logs to the ELK server's Elasticsearch.</a:t>
            </a:r>
            <a:endParaRPr i="1" dirty="0"/>
          </a:p>
          <a:p>
            <a:r>
              <a:rPr lang="en" i="1" dirty="0"/>
              <a:t>Generate traffic on the web server to create log data (i.e. access the server).</a:t>
            </a:r>
            <a:endParaRPr i="1" dirty="0"/>
          </a:p>
          <a:p>
            <a:r>
              <a:rPr lang="en" i="1" dirty="0"/>
              <a:t>Verify logs are forwarded to Elasticsearch and visible in Kibana.</a:t>
            </a:r>
            <a:endParaRPr i="1" dirty="0"/>
          </a:p>
          <a:p>
            <a:r>
              <a:rPr lang="en" i="1" dirty="0"/>
              <a:t>Create screenshots to confirm that the services are running:</a:t>
            </a:r>
            <a:endParaRPr i="1" dirty="0"/>
          </a:p>
          <a:p>
            <a:pPr lvl="1">
              <a:spcBef>
                <a:spcPts val="0"/>
              </a:spcBef>
            </a:pPr>
            <a:r>
              <a:rPr lang="en" i="1" dirty="0"/>
              <a:t>Filebeat service running on the web server </a:t>
            </a:r>
            <a:endParaRPr i="1" dirty="0"/>
          </a:p>
          <a:p>
            <a:pPr lvl="2">
              <a:spcBef>
                <a:spcPts val="0"/>
              </a:spcBef>
            </a:pPr>
            <a:r>
              <a:rPr lang="en" i="1" dirty="0"/>
              <a:t>Make it from the CLI, with the ‘systemctl status filebeat’</a:t>
            </a:r>
            <a:endParaRPr i="1" dirty="0"/>
          </a:p>
          <a:p>
            <a:pPr lvl="1">
              <a:spcBef>
                <a:spcPts val="0"/>
              </a:spcBef>
            </a:pPr>
            <a:r>
              <a:rPr lang="en" i="1" dirty="0"/>
              <a:t>Kibana receives logs from the Filebeat host</a:t>
            </a:r>
            <a:endParaRPr i="1" dirty="0"/>
          </a:p>
          <a:p>
            <a:pPr lvl="2">
              <a:spcBef>
                <a:spcPts val="0"/>
              </a:spcBef>
            </a:pPr>
            <a:r>
              <a:rPr lang="en" i="1" dirty="0"/>
              <a:t>From Kibana site SIEM/Hosts/Filebeat-VM </a:t>
            </a:r>
            <a:endParaRPr i="1" dirty="0"/>
          </a:p>
          <a:p>
            <a:pPr marL="0" indent="0">
              <a:spcBef>
                <a:spcPts val="1324"/>
              </a:spcBef>
              <a:buNone/>
            </a:pPr>
            <a:endParaRPr i="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Setup Monitoring</a:t>
            </a:r>
            <a:endParaRPr dirty="0"/>
          </a:p>
        </p:txBody>
      </p:sp>
      <p:sp>
        <p:nvSpPr>
          <p:cNvPr id="7" name="TextBox 6">
            <a:extLst>
              <a:ext uri="{FF2B5EF4-FFF2-40B4-BE49-F238E27FC236}">
                <a16:creationId xmlns:a16="http://schemas.microsoft.com/office/drawing/2014/main" id="{1C96491A-C15C-4C64-A42E-BCE204581102}"/>
              </a:ext>
            </a:extLst>
          </p:cNvPr>
          <p:cNvSpPr txBox="1"/>
          <p:nvPr/>
        </p:nvSpPr>
        <p:spPr>
          <a:xfrm>
            <a:off x="1714500" y="4387334"/>
            <a:ext cx="3429000" cy="369332"/>
          </a:xfrm>
          <a:prstGeom prst="rect">
            <a:avLst/>
          </a:prstGeom>
          <a:noFill/>
        </p:spPr>
        <p:txBody>
          <a:bodyPr wrap="square">
            <a:spAutoFit/>
          </a:bodyPr>
          <a:lstStyle/>
          <a:p>
            <a:pPr marL="0" lvl="0" indent="0" algn="l" rtl="0">
              <a:spcBef>
                <a:spcPts val="0"/>
              </a:spcBef>
              <a:spcAft>
                <a:spcPts val="0"/>
              </a:spcAft>
              <a:buNone/>
            </a:pPr>
            <a:r>
              <a:rPr lang="en-IN" sz="1800" dirty="0">
                <a:solidFill>
                  <a:srgbClr val="525C65"/>
                </a:solidFill>
                <a:latin typeface="Open Sans"/>
                <a:ea typeface="Open Sans"/>
                <a:cs typeface="Open Sans"/>
                <a:sym typeface="Open Sans"/>
              </a:rPr>
              <a:t>[Add Screenshot here]</a:t>
            </a:r>
          </a:p>
        </p:txBody>
      </p:sp>
      <p:sp>
        <p:nvSpPr>
          <p:cNvPr id="8" name="Google Shape;130;p22">
            <a:extLst>
              <a:ext uri="{FF2B5EF4-FFF2-40B4-BE49-F238E27FC236}">
                <a16:creationId xmlns:a16="http://schemas.microsoft.com/office/drawing/2014/main" id="{9136182C-950A-40C2-915A-FAC5204A1E29}"/>
              </a:ext>
            </a:extLst>
          </p:cNvPr>
          <p:cNvSpPr txBox="1">
            <a:spLocks/>
          </p:cNvSpPr>
          <p:nvPr/>
        </p:nvSpPr>
        <p:spPr>
          <a:xfrm>
            <a:off x="233775" y="2123055"/>
            <a:ext cx="6390529" cy="5895000"/>
          </a:xfrm>
          <a:prstGeom prst="rect">
            <a:avLst/>
          </a:prstGeom>
          <a:noFill/>
          <a:ln>
            <a:noFill/>
          </a:ln>
        </p:spPr>
        <p:txBody>
          <a:bodyPr spcFirstLastPara="1" wrap="square" lIns="80669" tIns="80669" rIns="80669" bIns="80669" anchor="t" anchorCtr="0">
            <a:noAutofit/>
          </a:bodyPr>
          <a:lstStyle>
            <a:defPPr marR="0" lvl="0" algn="l" rtl="0">
              <a:lnSpc>
                <a:spcPct val="100000"/>
              </a:lnSpc>
              <a:spcBef>
                <a:spcPts val="0"/>
              </a:spcBef>
              <a:spcAft>
                <a:spcPts val="0"/>
              </a:spcAft>
            </a:defPPr>
            <a:lvl1pPr marL="403433" marR="0" lvl="0" indent="-302575" algn="l" rtl="0">
              <a:lnSpc>
                <a:spcPct val="115000"/>
              </a:lnSpc>
              <a:spcBef>
                <a:spcPts val="0"/>
              </a:spcBef>
              <a:spcAft>
                <a:spcPts val="0"/>
              </a:spcAft>
              <a:buClr>
                <a:srgbClr val="525C65"/>
              </a:buClr>
              <a:buSzPts val="1800"/>
              <a:buFont typeface="Open Sans Light"/>
              <a:buChar char="●"/>
              <a:defRPr sz="1800" b="0" i="0" u="none" strike="noStrike" cap="none">
                <a:solidFill>
                  <a:srgbClr val="525C65"/>
                </a:solidFill>
                <a:latin typeface="Open Sans Light"/>
                <a:ea typeface="Open Sans Light"/>
                <a:cs typeface="Open Sans Light"/>
                <a:sym typeface="Open Sans Light"/>
              </a:defRPr>
            </a:lvl1pPr>
            <a:lvl2pPr marL="806867" marR="0" lvl="1"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2pPr>
            <a:lvl3pPr marL="1210300" marR="0" lvl="2"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3pPr>
            <a:lvl4pPr marL="1613733" marR="0" lvl="3"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4pPr>
            <a:lvl5pPr marL="2017166" marR="0" lvl="4"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5pPr>
            <a:lvl6pPr marL="2420600" marR="0" lvl="5"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6pPr>
            <a:lvl7pPr marL="2824033" marR="0" lvl="6"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7pPr>
            <a:lvl8pPr marL="3227466" marR="0" lvl="7"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8pPr>
            <a:lvl9pPr marL="3630900" marR="0" lvl="8" indent="-302575" algn="l" rtl="0">
              <a:lnSpc>
                <a:spcPct val="115000"/>
              </a:lnSpc>
              <a:spcBef>
                <a:spcPts val="1412"/>
              </a:spcBef>
              <a:spcAft>
                <a:spcPts val="1412"/>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9pPr>
          </a:lstStyle>
          <a:p>
            <a:pPr marL="0" indent="0">
              <a:spcBef>
                <a:spcPts val="1324"/>
              </a:spcBef>
              <a:buNone/>
            </a:pPr>
            <a:r>
              <a:rPr lang="en-US" i="1" dirty="0">
                <a:latin typeface="Open Sans Light"/>
                <a:ea typeface="Open Sans Light"/>
                <a:cs typeface="Open Sans Light"/>
                <a:sym typeface="Open Sans Light"/>
              </a:rPr>
              <a:t>Screenshot of the </a:t>
            </a:r>
            <a:r>
              <a:rPr lang="en-US" i="1" dirty="0" err="1">
                <a:latin typeface="Open Sans Light"/>
                <a:ea typeface="Open Sans Light"/>
                <a:cs typeface="Open Sans Light"/>
                <a:sym typeface="Open Sans Light"/>
              </a:rPr>
              <a:t>Filebeat</a:t>
            </a:r>
            <a:r>
              <a:rPr lang="en-US" i="1" dirty="0">
                <a:latin typeface="Open Sans Light"/>
                <a:ea typeface="Open Sans Light"/>
                <a:cs typeface="Open Sans Light"/>
                <a:sym typeface="Open Sans Light"/>
              </a:rPr>
              <a:t> service on the web server (command: ‘</a:t>
            </a:r>
            <a:r>
              <a:rPr lang="en-US" i="1" dirty="0" err="1">
                <a:latin typeface="Open Sans Light"/>
                <a:ea typeface="Open Sans Light"/>
                <a:cs typeface="Open Sans Light"/>
                <a:sym typeface="Open Sans Light"/>
              </a:rPr>
              <a:t>systemctl</a:t>
            </a:r>
            <a:r>
              <a:rPr lang="en-US" i="1" dirty="0">
                <a:latin typeface="Open Sans Light"/>
                <a:ea typeface="Open Sans Light"/>
                <a:cs typeface="Open Sans Light"/>
                <a:sym typeface="Open Sans Light"/>
              </a:rPr>
              <a:t> status </a:t>
            </a:r>
            <a:r>
              <a:rPr lang="en-US" i="1" dirty="0" err="1">
                <a:latin typeface="Open Sans Light"/>
                <a:ea typeface="Open Sans Light"/>
                <a:cs typeface="Open Sans Light"/>
                <a:sym typeface="Open Sans Light"/>
              </a:rPr>
              <a:t>filebeat</a:t>
            </a:r>
            <a:r>
              <a:rPr lang="en-US" i="1" dirty="0">
                <a:latin typeface="Open Sans Light"/>
                <a:ea typeface="Open Sans Light"/>
                <a:cs typeface="Open Sans Light"/>
                <a:sym typeface="Open Sans Light"/>
              </a:rPr>
              <a:t>’)</a:t>
            </a:r>
          </a:p>
          <a:p>
            <a:pPr marL="0" indent="0">
              <a:spcBef>
                <a:spcPts val="1324"/>
              </a:spcBef>
              <a:buNone/>
            </a:pPr>
            <a:r>
              <a:rPr lang="en-US" i="1" dirty="0">
                <a:latin typeface="Open Sans Light"/>
                <a:ea typeface="Open Sans Light"/>
                <a:cs typeface="Open Sans Light"/>
                <a:sym typeface="Open Sans Light"/>
              </a:rPr>
              <a:t>.</a:t>
            </a:r>
            <a:endParaRPr lang="en-US" sz="1059" dirty="0">
              <a:solidFill>
                <a:srgbClr val="0D0D0D"/>
              </a:solidFill>
              <a:highlight>
                <a:srgbClr val="FFFFFF"/>
              </a:highlight>
              <a:latin typeface="Roboto"/>
              <a:ea typeface="Roboto"/>
              <a:cs typeface="Roboto"/>
              <a:sym typeface="Roboto"/>
            </a:endParaRPr>
          </a:p>
          <a:p>
            <a:pPr marL="0" indent="0">
              <a:spcBef>
                <a:spcPts val="1324"/>
              </a:spcBef>
              <a:buNone/>
            </a:pPr>
            <a:endParaRPr lang="en-US" i="1" dirty="0">
              <a:latin typeface="Open Sans Light"/>
              <a:ea typeface="Open Sans Light"/>
              <a:cs typeface="Open Sans Light"/>
              <a:sym typeface="Open Sans Light"/>
            </a:endParaRPr>
          </a:p>
          <a:p>
            <a:pPr marL="0" indent="0">
              <a:spcBef>
                <a:spcPts val="1324"/>
              </a:spcBef>
              <a:buNone/>
            </a:pPr>
            <a:endParaRPr lang="en-US" dirty="0">
              <a:latin typeface="Open Sans Light"/>
              <a:ea typeface="Open Sans Light"/>
              <a:cs typeface="Open Sans Light"/>
              <a:sym typeface="Open Sans Light"/>
            </a:endParaRPr>
          </a:p>
        </p:txBody>
      </p:sp>
    </p:spTree>
    <p:extLst>
      <p:ext uri="{BB962C8B-B14F-4D97-AF65-F5344CB8AC3E}">
        <p14:creationId xmlns:p14="http://schemas.microsoft.com/office/powerpoint/2010/main" val="3194304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Setup Monitoring</a:t>
            </a:r>
            <a:endParaRPr dirty="0"/>
          </a:p>
        </p:txBody>
      </p:sp>
      <p:sp>
        <p:nvSpPr>
          <p:cNvPr id="7" name="TextBox 6">
            <a:extLst>
              <a:ext uri="{FF2B5EF4-FFF2-40B4-BE49-F238E27FC236}">
                <a16:creationId xmlns:a16="http://schemas.microsoft.com/office/drawing/2014/main" id="{1C96491A-C15C-4C64-A42E-BCE204581102}"/>
              </a:ext>
            </a:extLst>
          </p:cNvPr>
          <p:cNvSpPr txBox="1"/>
          <p:nvPr/>
        </p:nvSpPr>
        <p:spPr>
          <a:xfrm>
            <a:off x="1714500" y="4387334"/>
            <a:ext cx="3429000" cy="369332"/>
          </a:xfrm>
          <a:prstGeom prst="rect">
            <a:avLst/>
          </a:prstGeom>
          <a:noFill/>
        </p:spPr>
        <p:txBody>
          <a:bodyPr wrap="square">
            <a:spAutoFit/>
          </a:bodyPr>
          <a:lstStyle/>
          <a:p>
            <a:pPr marL="0" lvl="0" indent="0" algn="l" rtl="0">
              <a:spcBef>
                <a:spcPts val="0"/>
              </a:spcBef>
              <a:spcAft>
                <a:spcPts val="0"/>
              </a:spcAft>
              <a:buNone/>
            </a:pPr>
            <a:r>
              <a:rPr lang="en-IN" sz="1800" dirty="0">
                <a:solidFill>
                  <a:srgbClr val="525C65"/>
                </a:solidFill>
                <a:latin typeface="Open Sans"/>
                <a:ea typeface="Open Sans"/>
                <a:cs typeface="Open Sans"/>
                <a:sym typeface="Open Sans"/>
              </a:rPr>
              <a:t>[Add Screenshot here]</a:t>
            </a:r>
          </a:p>
        </p:txBody>
      </p:sp>
      <p:sp>
        <p:nvSpPr>
          <p:cNvPr id="8" name="Google Shape;130;p22">
            <a:extLst>
              <a:ext uri="{FF2B5EF4-FFF2-40B4-BE49-F238E27FC236}">
                <a16:creationId xmlns:a16="http://schemas.microsoft.com/office/drawing/2014/main" id="{9136182C-950A-40C2-915A-FAC5204A1E29}"/>
              </a:ext>
            </a:extLst>
          </p:cNvPr>
          <p:cNvSpPr txBox="1">
            <a:spLocks/>
          </p:cNvSpPr>
          <p:nvPr/>
        </p:nvSpPr>
        <p:spPr>
          <a:xfrm>
            <a:off x="233775" y="2123055"/>
            <a:ext cx="6390529" cy="5895000"/>
          </a:xfrm>
          <a:prstGeom prst="rect">
            <a:avLst/>
          </a:prstGeom>
          <a:noFill/>
          <a:ln>
            <a:noFill/>
          </a:ln>
        </p:spPr>
        <p:txBody>
          <a:bodyPr spcFirstLastPara="1" wrap="square" lIns="80669" tIns="80669" rIns="80669" bIns="80669" anchor="t" anchorCtr="0">
            <a:noAutofit/>
          </a:bodyPr>
          <a:lstStyle>
            <a:defPPr marR="0" lvl="0" algn="l" rtl="0">
              <a:lnSpc>
                <a:spcPct val="100000"/>
              </a:lnSpc>
              <a:spcBef>
                <a:spcPts val="0"/>
              </a:spcBef>
              <a:spcAft>
                <a:spcPts val="0"/>
              </a:spcAft>
            </a:defPPr>
            <a:lvl1pPr marL="403433" marR="0" lvl="0" indent="-302575" algn="l" rtl="0">
              <a:lnSpc>
                <a:spcPct val="115000"/>
              </a:lnSpc>
              <a:spcBef>
                <a:spcPts val="0"/>
              </a:spcBef>
              <a:spcAft>
                <a:spcPts val="0"/>
              </a:spcAft>
              <a:buClr>
                <a:srgbClr val="525C65"/>
              </a:buClr>
              <a:buSzPts val="1800"/>
              <a:buFont typeface="Open Sans Light"/>
              <a:buChar char="●"/>
              <a:defRPr sz="1800" b="0" i="0" u="none" strike="noStrike" cap="none">
                <a:solidFill>
                  <a:srgbClr val="525C65"/>
                </a:solidFill>
                <a:latin typeface="Open Sans Light"/>
                <a:ea typeface="Open Sans Light"/>
                <a:cs typeface="Open Sans Light"/>
                <a:sym typeface="Open Sans Light"/>
              </a:defRPr>
            </a:lvl1pPr>
            <a:lvl2pPr marL="806867" marR="0" lvl="1"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2pPr>
            <a:lvl3pPr marL="1210300" marR="0" lvl="2"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3pPr>
            <a:lvl4pPr marL="1613733" marR="0" lvl="3"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4pPr>
            <a:lvl5pPr marL="2017166" marR="0" lvl="4"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5pPr>
            <a:lvl6pPr marL="2420600" marR="0" lvl="5"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6pPr>
            <a:lvl7pPr marL="2824033" marR="0" lvl="6"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7pPr>
            <a:lvl8pPr marL="3227466" marR="0" lvl="7" indent="-302575" algn="l" rtl="0">
              <a:lnSpc>
                <a:spcPct val="115000"/>
              </a:lnSpc>
              <a:spcBef>
                <a:spcPts val="1412"/>
              </a:spcBef>
              <a:spcAft>
                <a:spcPts val="0"/>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8pPr>
            <a:lvl9pPr marL="3630900" marR="0" lvl="8" indent="-302575" algn="l" rtl="0">
              <a:lnSpc>
                <a:spcPct val="115000"/>
              </a:lnSpc>
              <a:spcBef>
                <a:spcPts val="1412"/>
              </a:spcBef>
              <a:spcAft>
                <a:spcPts val="1412"/>
              </a:spcAft>
              <a:buClr>
                <a:srgbClr val="525C65"/>
              </a:buClr>
              <a:buSzPts val="1800"/>
              <a:buFont typeface="Open Sans Light"/>
              <a:buChar char="■"/>
              <a:defRPr sz="1588" b="0" i="0" u="none" strike="noStrike" cap="none">
                <a:solidFill>
                  <a:srgbClr val="525C65"/>
                </a:solidFill>
                <a:latin typeface="Open Sans Light"/>
                <a:ea typeface="Open Sans Light"/>
                <a:cs typeface="Open Sans Light"/>
                <a:sym typeface="Open Sans Light"/>
              </a:defRPr>
            </a:lvl9pPr>
          </a:lstStyle>
          <a:p>
            <a:pPr marL="0" indent="0">
              <a:spcBef>
                <a:spcPts val="1324"/>
              </a:spcBef>
              <a:buNone/>
            </a:pPr>
            <a:r>
              <a:rPr lang="en-US" i="1" dirty="0">
                <a:latin typeface="Open Sans Light"/>
                <a:ea typeface="Open Sans Light"/>
                <a:cs typeface="Open Sans Light"/>
                <a:sym typeface="Open Sans Light"/>
              </a:rPr>
              <a:t>Screenshot showing that Kibana receives logs from the </a:t>
            </a:r>
            <a:r>
              <a:rPr lang="en-US" i="1" dirty="0" err="1">
                <a:latin typeface="Open Sans Light"/>
                <a:ea typeface="Open Sans Light"/>
                <a:cs typeface="Open Sans Light"/>
                <a:sym typeface="Open Sans Light"/>
              </a:rPr>
              <a:t>Filebeat</a:t>
            </a:r>
            <a:r>
              <a:rPr lang="en-US" i="1" dirty="0">
                <a:latin typeface="Open Sans Light"/>
                <a:ea typeface="Open Sans Light"/>
                <a:cs typeface="Open Sans Light"/>
                <a:sym typeface="Open Sans Light"/>
              </a:rPr>
              <a:t> host (SIEM/Hosts/</a:t>
            </a:r>
            <a:r>
              <a:rPr lang="en-US" i="1" dirty="0" err="1">
                <a:latin typeface="Open Sans Light"/>
                <a:ea typeface="Open Sans Light"/>
                <a:cs typeface="Open Sans Light"/>
                <a:sym typeface="Open Sans Light"/>
              </a:rPr>
              <a:t>Filebeat</a:t>
            </a:r>
            <a:r>
              <a:rPr lang="en-US" i="1" dirty="0">
                <a:latin typeface="Open Sans Light"/>
                <a:ea typeface="Open Sans Light"/>
                <a:cs typeface="Open Sans Light"/>
                <a:sym typeface="Open Sans Light"/>
              </a:rPr>
              <a:t>-VM)</a:t>
            </a:r>
          </a:p>
          <a:p>
            <a:pPr marL="0" indent="0">
              <a:spcBef>
                <a:spcPts val="1324"/>
              </a:spcBef>
              <a:buNone/>
            </a:pPr>
            <a:endParaRPr lang="en-US" i="1" dirty="0">
              <a:latin typeface="Open Sans Light"/>
              <a:ea typeface="Open Sans Light"/>
              <a:cs typeface="Open Sans Light"/>
              <a:sym typeface="Open Sans Light"/>
            </a:endParaRPr>
          </a:p>
          <a:p>
            <a:pPr marL="0" indent="0">
              <a:spcBef>
                <a:spcPts val="1324"/>
              </a:spcBef>
              <a:buNone/>
            </a:pPr>
            <a:endParaRPr lang="en-US" i="1" dirty="0">
              <a:latin typeface="Open Sans Light"/>
              <a:ea typeface="Open Sans Light"/>
              <a:cs typeface="Open Sans Light"/>
              <a:sym typeface="Open Sans Light"/>
            </a:endParaRPr>
          </a:p>
        </p:txBody>
      </p:sp>
    </p:spTree>
    <p:extLst>
      <p:ext uri="{BB962C8B-B14F-4D97-AF65-F5344CB8AC3E}">
        <p14:creationId xmlns:p14="http://schemas.microsoft.com/office/powerpoint/2010/main" val="4127580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4:</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3200" dirty="0">
                <a:solidFill>
                  <a:srgbClr val="FFFFFF"/>
                </a:solidFill>
                <a:latin typeface="Corbel" panose="020B0503020204020204"/>
              </a:rPr>
              <a:t>Zero Trust</a:t>
            </a:r>
            <a:endPar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3048812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Zero Trust Comparison</a:t>
            </a:r>
            <a:endParaRPr/>
          </a:p>
        </p:txBody>
      </p:sp>
      <p:sp>
        <p:nvSpPr>
          <p:cNvPr id="222" name="Google Shape;222;p36"/>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spcBef>
                <a:spcPts val="1059"/>
              </a:spcBef>
              <a:buNone/>
            </a:pPr>
            <a:r>
              <a:rPr lang="en"/>
              <a:t>Following a significant security breach at XYZ, the necessity to reassess and strengthen our network security architecture is paramount. A comparison between the emerging Zero Trust architecture and traditional network security models will highlight the potential enhancements Zero Trust can offer. Your task involves selecting three key principles from Zero Trust architecture, comparing them to traditional models, and evaluating the benefits of Zero Trust. This analysis is crucial for guiding XYZ towards a more resilient cybersecurity framework.</a:t>
            </a:r>
            <a:endParaRPr/>
          </a:p>
          <a:p>
            <a:pPr>
              <a:spcBef>
                <a:spcPts val="1059"/>
              </a:spcBef>
            </a:pPr>
            <a:r>
              <a:rPr lang="en"/>
              <a:t>Select three principles of Zero Trust architecture (you can find them in the classroom and in the next page)</a:t>
            </a:r>
            <a:endParaRPr/>
          </a:p>
          <a:p>
            <a:r>
              <a:rPr lang="en"/>
              <a:t>Compare each selected principle to its counterpart in traditional network security models, focusing on:</a:t>
            </a:r>
            <a:endParaRPr/>
          </a:p>
          <a:p>
            <a:pPr marL="806867"/>
            <a:r>
              <a:rPr lang="en"/>
              <a:t>Differences in approach</a:t>
            </a:r>
            <a:endParaRPr/>
          </a:p>
          <a:p>
            <a:pPr marL="806867"/>
            <a:r>
              <a:rPr lang="en"/>
              <a:t>Potential benefits of Zero Trust over traditional methods</a:t>
            </a:r>
            <a:endParaRPr sz="1059">
              <a:solidFill>
                <a:srgbClr val="0D0D0D"/>
              </a:solidFill>
              <a:highlight>
                <a:srgbClr val="FFFFFF"/>
              </a:highlight>
              <a:latin typeface="Roboto"/>
              <a:ea typeface="Roboto"/>
              <a:cs typeface="Roboto"/>
              <a:sym typeface="Roboto"/>
            </a:endParaRPr>
          </a:p>
          <a:p>
            <a:pPr indent="0">
              <a:spcBef>
                <a:spcPts val="1059"/>
              </a:spcBef>
              <a:buNone/>
            </a:pPr>
            <a:endParaRPr sz="1059">
              <a:solidFill>
                <a:srgbClr val="0D0D0D"/>
              </a:solidFill>
              <a:highlight>
                <a:srgbClr val="FFFFFF"/>
              </a:highlight>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7"/>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Zero Trust Principles</a:t>
            </a:r>
            <a:endParaRPr/>
          </a:p>
        </p:txBody>
      </p:sp>
      <p:sp>
        <p:nvSpPr>
          <p:cNvPr id="228" name="Google Shape;228;p37"/>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buNone/>
            </a:pPr>
            <a:r>
              <a:rPr lang="en"/>
              <a:t>Select three principles to use in the comparison:</a:t>
            </a:r>
            <a:endParaRPr/>
          </a:p>
          <a:p>
            <a:r>
              <a:rPr lang="en"/>
              <a:t>Consideration of all resources: Every device, software, and system is a potential security vector.</a:t>
            </a:r>
            <a:endParaRPr/>
          </a:p>
          <a:p>
            <a:r>
              <a:rPr lang="en"/>
              <a:t>Secured communication: Encrypt all data transfers, irrespective of location.</a:t>
            </a:r>
            <a:endParaRPr/>
          </a:p>
          <a:p>
            <a:r>
              <a:rPr lang="en"/>
              <a:t>Per-session access: Grant access to resources only for the duration of a session.</a:t>
            </a:r>
            <a:endParaRPr/>
          </a:p>
          <a:p>
            <a:r>
              <a:rPr lang="en"/>
              <a:t>Dynamic access policy: Access is based on real-time evaluations of multiple factors.</a:t>
            </a:r>
            <a:endParaRPr/>
          </a:p>
          <a:p>
            <a:r>
              <a:rPr lang="en"/>
              <a:t>Continuous monitoring: Real-time assessment of asset integrity and security.</a:t>
            </a:r>
            <a:endParaRPr/>
          </a:p>
          <a:p>
            <a:r>
              <a:rPr lang="en"/>
              <a:t>Dynamic authentication: Ongoing verification before allowing access.</a:t>
            </a:r>
            <a:endParaRPr/>
          </a:p>
          <a:p>
            <a:r>
              <a:rPr lang="en"/>
              <a:t>Extensive data collection: Gather detailed information for security enhancement.</a:t>
            </a:r>
            <a:endParaRPr/>
          </a:p>
          <a:p>
            <a:pPr indent="0">
              <a:spcBef>
                <a:spcPts val="1059"/>
              </a:spcBef>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7"/>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Zero Trust Comparison</a:t>
            </a:r>
            <a:endParaRPr dirty="0"/>
          </a:p>
        </p:txBody>
      </p:sp>
      <p:graphicFrame>
        <p:nvGraphicFramePr>
          <p:cNvPr id="6" name="Google Shape;234;p38">
            <a:extLst>
              <a:ext uri="{FF2B5EF4-FFF2-40B4-BE49-F238E27FC236}">
                <a16:creationId xmlns:a16="http://schemas.microsoft.com/office/drawing/2014/main" id="{FDD1B80E-BBA3-4B43-9ED0-F04D2A5D6CE6}"/>
              </a:ext>
            </a:extLst>
          </p:cNvPr>
          <p:cNvGraphicFramePr/>
          <p:nvPr/>
        </p:nvGraphicFramePr>
        <p:xfrm>
          <a:off x="233736" y="2114184"/>
          <a:ext cx="6390530" cy="3358038"/>
        </p:xfrm>
        <a:graphic>
          <a:graphicData uri="http://schemas.openxmlformats.org/drawingml/2006/table">
            <a:tbl>
              <a:tblPr>
                <a:noFill/>
              </a:tblPr>
              <a:tblGrid>
                <a:gridCol w="3195265">
                  <a:extLst>
                    <a:ext uri="{9D8B030D-6E8A-4147-A177-3AD203B41FA5}">
                      <a16:colId xmlns:a16="http://schemas.microsoft.com/office/drawing/2014/main" val="20000"/>
                    </a:ext>
                  </a:extLst>
                </a:gridCol>
                <a:gridCol w="3195265">
                  <a:extLst>
                    <a:ext uri="{9D8B030D-6E8A-4147-A177-3AD203B41FA5}">
                      <a16:colId xmlns:a16="http://schemas.microsoft.com/office/drawing/2014/main" val="20001"/>
                    </a:ext>
                  </a:extLst>
                </a:gridCol>
              </a:tblGrid>
              <a:tr h="393244">
                <a:tc gridSpan="2">
                  <a:txBody>
                    <a:bodyPr/>
                    <a:lstStyle/>
                    <a:p>
                      <a:pPr marL="0" lvl="0" indent="0" algn="ctr" rtl="0">
                        <a:lnSpc>
                          <a:spcPct val="115000"/>
                        </a:lnSpc>
                        <a:spcBef>
                          <a:spcPts val="0"/>
                        </a:spcBef>
                        <a:spcAft>
                          <a:spcPts val="0"/>
                        </a:spcAft>
                        <a:buNone/>
                      </a:pPr>
                      <a:r>
                        <a:rPr lang="en" sz="1400" b="1">
                          <a:solidFill>
                            <a:srgbClr val="525C65"/>
                          </a:solidFill>
                          <a:latin typeface="Open Sans"/>
                          <a:ea typeface="Open Sans"/>
                          <a:cs typeface="Open Sans"/>
                          <a:sym typeface="Open Sans"/>
                        </a:rPr>
                        <a:t>1. [Principle]</a:t>
                      </a:r>
                      <a:endParaRPr sz="1400" b="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1542684">
                <a:tc>
                  <a:txBody>
                    <a:bodyPr/>
                    <a:lstStyle/>
                    <a:p>
                      <a:pPr marL="0" lvl="0" indent="0" algn="l" rtl="0">
                        <a:spcBef>
                          <a:spcPts val="0"/>
                        </a:spcBef>
                        <a:spcAft>
                          <a:spcPts val="0"/>
                        </a:spcAft>
                        <a:buNone/>
                      </a:pPr>
                      <a:r>
                        <a:rPr lang="en" sz="1100" b="1">
                          <a:solidFill>
                            <a:srgbClr val="525C65"/>
                          </a:solidFill>
                          <a:latin typeface="Open Sans"/>
                          <a:ea typeface="Open Sans"/>
                          <a:cs typeface="Open Sans"/>
                          <a:sym typeface="Open Sans"/>
                        </a:rPr>
                        <a:t>Zero Trust Approach:</a:t>
                      </a:r>
                      <a:r>
                        <a:rPr lang="en" sz="1100">
                          <a:solidFill>
                            <a:srgbClr val="525C65"/>
                          </a:solidFill>
                          <a:latin typeface="Open Sans"/>
                          <a:ea typeface="Open Sans"/>
                          <a:cs typeface="Open Sans"/>
                          <a:sym typeface="Open Sans"/>
                        </a:rPr>
                        <a:t> [Write your comparison here]</a:t>
                      </a:r>
                      <a:endParaRPr sz="11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b="1">
                          <a:solidFill>
                            <a:srgbClr val="525C65"/>
                          </a:solidFill>
                          <a:latin typeface="Open Sans"/>
                          <a:ea typeface="Open Sans"/>
                          <a:cs typeface="Open Sans"/>
                          <a:sym typeface="Open Sans"/>
                        </a:rPr>
                        <a:t>Traditional Approach:</a:t>
                      </a:r>
                      <a:r>
                        <a:rPr lang="en" sz="1100">
                          <a:solidFill>
                            <a:srgbClr val="525C65"/>
                          </a:solidFill>
                          <a:latin typeface="Open Sans"/>
                          <a:ea typeface="Open Sans"/>
                          <a:cs typeface="Open Sans"/>
                          <a:sym typeface="Open Sans"/>
                        </a:rPr>
                        <a:t> [Write your comparison here]</a:t>
                      </a:r>
                      <a:endParaRPr sz="11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422110">
                <a:tc gridSpan="2">
                  <a:txBody>
                    <a:bodyPr/>
                    <a:lstStyle/>
                    <a:p>
                      <a:pPr marL="0" lvl="0" indent="0" algn="l" rtl="0">
                        <a:spcBef>
                          <a:spcPts val="0"/>
                        </a:spcBef>
                        <a:spcAft>
                          <a:spcPts val="0"/>
                        </a:spcAft>
                        <a:buNone/>
                      </a:pPr>
                      <a:r>
                        <a:rPr lang="en" sz="1100" b="1" dirty="0">
                          <a:solidFill>
                            <a:srgbClr val="525C65"/>
                          </a:solidFill>
                          <a:latin typeface="Open Sans"/>
                          <a:ea typeface="Open Sans"/>
                          <a:cs typeface="Open Sans"/>
                          <a:sym typeface="Open Sans"/>
                        </a:rPr>
                        <a:t>Benefits of Zero Trust:</a:t>
                      </a:r>
                      <a:r>
                        <a:rPr lang="en" sz="1100" dirty="0">
                          <a:solidFill>
                            <a:srgbClr val="525C65"/>
                          </a:solidFill>
                          <a:latin typeface="Open Sans"/>
                          <a:ea typeface="Open Sans"/>
                          <a:cs typeface="Open Sans"/>
                          <a:sym typeface="Open Sans"/>
                        </a:rPr>
                        <a:t>[Write your comparison here]</a:t>
                      </a:r>
                      <a:endParaRPr sz="1100" b="1"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7" name="Google Shape;235;p38">
            <a:extLst>
              <a:ext uri="{FF2B5EF4-FFF2-40B4-BE49-F238E27FC236}">
                <a16:creationId xmlns:a16="http://schemas.microsoft.com/office/drawing/2014/main" id="{45581395-FB8C-4CE4-95F4-19FEA4B97CA1}"/>
              </a:ext>
            </a:extLst>
          </p:cNvPr>
          <p:cNvGraphicFramePr/>
          <p:nvPr/>
        </p:nvGraphicFramePr>
        <p:xfrm>
          <a:off x="233780" y="5592375"/>
          <a:ext cx="6390530" cy="3358038"/>
        </p:xfrm>
        <a:graphic>
          <a:graphicData uri="http://schemas.openxmlformats.org/drawingml/2006/table">
            <a:tbl>
              <a:tblPr>
                <a:noFill/>
              </a:tblPr>
              <a:tblGrid>
                <a:gridCol w="3195265">
                  <a:extLst>
                    <a:ext uri="{9D8B030D-6E8A-4147-A177-3AD203B41FA5}">
                      <a16:colId xmlns:a16="http://schemas.microsoft.com/office/drawing/2014/main" val="20000"/>
                    </a:ext>
                  </a:extLst>
                </a:gridCol>
                <a:gridCol w="3195265">
                  <a:extLst>
                    <a:ext uri="{9D8B030D-6E8A-4147-A177-3AD203B41FA5}">
                      <a16:colId xmlns:a16="http://schemas.microsoft.com/office/drawing/2014/main" val="20001"/>
                    </a:ext>
                  </a:extLst>
                </a:gridCol>
              </a:tblGrid>
              <a:tr h="393244">
                <a:tc gridSpan="2">
                  <a:txBody>
                    <a:bodyPr/>
                    <a:lstStyle/>
                    <a:p>
                      <a:pPr marL="0" lvl="0" indent="0" algn="ctr" rtl="0">
                        <a:lnSpc>
                          <a:spcPct val="115000"/>
                        </a:lnSpc>
                        <a:spcBef>
                          <a:spcPts val="0"/>
                        </a:spcBef>
                        <a:spcAft>
                          <a:spcPts val="0"/>
                        </a:spcAft>
                        <a:buNone/>
                      </a:pPr>
                      <a:r>
                        <a:rPr lang="en" sz="1400" b="1">
                          <a:solidFill>
                            <a:srgbClr val="525C65"/>
                          </a:solidFill>
                          <a:latin typeface="Open Sans"/>
                          <a:ea typeface="Open Sans"/>
                          <a:cs typeface="Open Sans"/>
                          <a:sym typeface="Open Sans"/>
                        </a:rPr>
                        <a:t>2. [Principle]</a:t>
                      </a:r>
                      <a:endParaRPr sz="1400" b="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1542684">
                <a:tc>
                  <a:txBody>
                    <a:bodyPr/>
                    <a:lstStyle/>
                    <a:p>
                      <a:pPr marL="0" lvl="0" indent="0" algn="l" rtl="0">
                        <a:spcBef>
                          <a:spcPts val="0"/>
                        </a:spcBef>
                        <a:spcAft>
                          <a:spcPts val="0"/>
                        </a:spcAft>
                        <a:buNone/>
                      </a:pPr>
                      <a:r>
                        <a:rPr lang="en" sz="1100" b="1">
                          <a:solidFill>
                            <a:srgbClr val="525C65"/>
                          </a:solidFill>
                          <a:latin typeface="Open Sans"/>
                          <a:ea typeface="Open Sans"/>
                          <a:cs typeface="Open Sans"/>
                          <a:sym typeface="Open Sans"/>
                        </a:rPr>
                        <a:t>Zero Trust Approach:</a:t>
                      </a:r>
                      <a:r>
                        <a:rPr lang="en" sz="1100">
                          <a:solidFill>
                            <a:srgbClr val="525C65"/>
                          </a:solidFill>
                          <a:latin typeface="Open Sans"/>
                          <a:ea typeface="Open Sans"/>
                          <a:cs typeface="Open Sans"/>
                          <a:sym typeface="Open Sans"/>
                        </a:rPr>
                        <a:t> [Write your comparison here]</a:t>
                      </a:r>
                      <a:endParaRPr sz="11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b="1">
                          <a:solidFill>
                            <a:srgbClr val="525C65"/>
                          </a:solidFill>
                          <a:latin typeface="Open Sans"/>
                          <a:ea typeface="Open Sans"/>
                          <a:cs typeface="Open Sans"/>
                          <a:sym typeface="Open Sans"/>
                        </a:rPr>
                        <a:t>Traditional Approach:</a:t>
                      </a:r>
                      <a:r>
                        <a:rPr lang="en" sz="1100">
                          <a:solidFill>
                            <a:srgbClr val="525C65"/>
                          </a:solidFill>
                          <a:latin typeface="Open Sans"/>
                          <a:ea typeface="Open Sans"/>
                          <a:cs typeface="Open Sans"/>
                          <a:sym typeface="Open Sans"/>
                        </a:rPr>
                        <a:t> [Write your comparison here]</a:t>
                      </a:r>
                      <a:endParaRPr sz="11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422110">
                <a:tc gridSpan="2">
                  <a:txBody>
                    <a:bodyPr/>
                    <a:lstStyle/>
                    <a:p>
                      <a:pPr marL="0" lvl="0" indent="0" algn="l" rtl="0">
                        <a:spcBef>
                          <a:spcPts val="0"/>
                        </a:spcBef>
                        <a:spcAft>
                          <a:spcPts val="0"/>
                        </a:spcAft>
                        <a:buNone/>
                      </a:pPr>
                      <a:r>
                        <a:rPr lang="en" sz="1100" b="1" dirty="0">
                          <a:solidFill>
                            <a:srgbClr val="525C65"/>
                          </a:solidFill>
                          <a:latin typeface="Open Sans"/>
                          <a:ea typeface="Open Sans"/>
                          <a:cs typeface="Open Sans"/>
                          <a:sym typeface="Open Sans"/>
                        </a:rPr>
                        <a:t>Benefits of Zero Trust:</a:t>
                      </a:r>
                      <a:r>
                        <a:rPr lang="en" sz="1100" dirty="0">
                          <a:solidFill>
                            <a:srgbClr val="525C65"/>
                          </a:solidFill>
                          <a:latin typeface="Open Sans"/>
                          <a:ea typeface="Open Sans"/>
                          <a:cs typeface="Open Sans"/>
                          <a:sym typeface="Open Sans"/>
                        </a:rPr>
                        <a:t>[Write your comparison here]</a:t>
                      </a:r>
                      <a:endParaRPr sz="1100" b="1"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71170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7"/>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Zero Trust Comparison</a:t>
            </a:r>
            <a:endParaRPr dirty="0"/>
          </a:p>
        </p:txBody>
      </p:sp>
      <p:graphicFrame>
        <p:nvGraphicFramePr>
          <p:cNvPr id="5" name="Google Shape;241;p39">
            <a:extLst>
              <a:ext uri="{FF2B5EF4-FFF2-40B4-BE49-F238E27FC236}">
                <a16:creationId xmlns:a16="http://schemas.microsoft.com/office/drawing/2014/main" id="{A8BB0500-C191-4302-8135-DA1366917C17}"/>
              </a:ext>
            </a:extLst>
          </p:cNvPr>
          <p:cNvGraphicFramePr/>
          <p:nvPr/>
        </p:nvGraphicFramePr>
        <p:xfrm>
          <a:off x="233736" y="2114184"/>
          <a:ext cx="6390530" cy="3358038"/>
        </p:xfrm>
        <a:graphic>
          <a:graphicData uri="http://schemas.openxmlformats.org/drawingml/2006/table">
            <a:tbl>
              <a:tblPr>
                <a:noFill/>
              </a:tblPr>
              <a:tblGrid>
                <a:gridCol w="3195265">
                  <a:extLst>
                    <a:ext uri="{9D8B030D-6E8A-4147-A177-3AD203B41FA5}">
                      <a16:colId xmlns:a16="http://schemas.microsoft.com/office/drawing/2014/main" val="20000"/>
                    </a:ext>
                  </a:extLst>
                </a:gridCol>
                <a:gridCol w="3195265">
                  <a:extLst>
                    <a:ext uri="{9D8B030D-6E8A-4147-A177-3AD203B41FA5}">
                      <a16:colId xmlns:a16="http://schemas.microsoft.com/office/drawing/2014/main" val="20001"/>
                    </a:ext>
                  </a:extLst>
                </a:gridCol>
              </a:tblGrid>
              <a:tr h="393244">
                <a:tc gridSpan="2">
                  <a:txBody>
                    <a:bodyPr/>
                    <a:lstStyle/>
                    <a:p>
                      <a:pPr marL="0" lvl="0" indent="0" algn="ctr" rtl="0">
                        <a:lnSpc>
                          <a:spcPct val="115000"/>
                        </a:lnSpc>
                        <a:spcBef>
                          <a:spcPts val="0"/>
                        </a:spcBef>
                        <a:spcAft>
                          <a:spcPts val="0"/>
                        </a:spcAft>
                        <a:buNone/>
                      </a:pPr>
                      <a:r>
                        <a:rPr lang="en" sz="1400" b="1">
                          <a:solidFill>
                            <a:srgbClr val="525C65"/>
                          </a:solidFill>
                          <a:latin typeface="Open Sans"/>
                          <a:ea typeface="Open Sans"/>
                          <a:cs typeface="Open Sans"/>
                          <a:sym typeface="Open Sans"/>
                        </a:rPr>
                        <a:t>3. [Principle]</a:t>
                      </a:r>
                      <a:endParaRPr sz="1400" b="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1542684">
                <a:tc>
                  <a:txBody>
                    <a:bodyPr/>
                    <a:lstStyle/>
                    <a:p>
                      <a:pPr marL="0" lvl="0" indent="0" algn="l" rtl="0">
                        <a:spcBef>
                          <a:spcPts val="0"/>
                        </a:spcBef>
                        <a:spcAft>
                          <a:spcPts val="0"/>
                        </a:spcAft>
                        <a:buNone/>
                      </a:pPr>
                      <a:r>
                        <a:rPr lang="en" sz="1100" b="1">
                          <a:solidFill>
                            <a:srgbClr val="525C65"/>
                          </a:solidFill>
                          <a:latin typeface="Open Sans"/>
                          <a:ea typeface="Open Sans"/>
                          <a:cs typeface="Open Sans"/>
                          <a:sym typeface="Open Sans"/>
                        </a:rPr>
                        <a:t>Zero Trust Approach:</a:t>
                      </a:r>
                      <a:r>
                        <a:rPr lang="en" sz="1100">
                          <a:solidFill>
                            <a:srgbClr val="525C65"/>
                          </a:solidFill>
                          <a:latin typeface="Open Sans"/>
                          <a:ea typeface="Open Sans"/>
                          <a:cs typeface="Open Sans"/>
                          <a:sym typeface="Open Sans"/>
                        </a:rPr>
                        <a:t> [Write your comparison here]</a:t>
                      </a:r>
                      <a:endParaRPr sz="11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b="1">
                          <a:solidFill>
                            <a:srgbClr val="525C65"/>
                          </a:solidFill>
                          <a:latin typeface="Open Sans"/>
                          <a:ea typeface="Open Sans"/>
                          <a:cs typeface="Open Sans"/>
                          <a:sym typeface="Open Sans"/>
                        </a:rPr>
                        <a:t>Traditional Approach:</a:t>
                      </a:r>
                      <a:r>
                        <a:rPr lang="en" sz="1100">
                          <a:solidFill>
                            <a:srgbClr val="525C65"/>
                          </a:solidFill>
                          <a:latin typeface="Open Sans"/>
                          <a:ea typeface="Open Sans"/>
                          <a:cs typeface="Open Sans"/>
                          <a:sym typeface="Open Sans"/>
                        </a:rPr>
                        <a:t> [Write your comparison here]</a:t>
                      </a:r>
                      <a:endParaRPr sz="11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422110">
                <a:tc gridSpan="2">
                  <a:txBody>
                    <a:bodyPr/>
                    <a:lstStyle/>
                    <a:p>
                      <a:pPr marL="0" lvl="0" indent="0" algn="l" rtl="0">
                        <a:spcBef>
                          <a:spcPts val="0"/>
                        </a:spcBef>
                        <a:spcAft>
                          <a:spcPts val="0"/>
                        </a:spcAft>
                        <a:buNone/>
                      </a:pPr>
                      <a:r>
                        <a:rPr lang="en" sz="1100" b="1" dirty="0">
                          <a:solidFill>
                            <a:srgbClr val="525C65"/>
                          </a:solidFill>
                          <a:latin typeface="Open Sans"/>
                          <a:ea typeface="Open Sans"/>
                          <a:cs typeface="Open Sans"/>
                          <a:sym typeface="Open Sans"/>
                        </a:rPr>
                        <a:t>Benefits of Zero Trust:</a:t>
                      </a:r>
                      <a:r>
                        <a:rPr lang="en" sz="1100" dirty="0">
                          <a:solidFill>
                            <a:srgbClr val="525C65"/>
                          </a:solidFill>
                          <a:latin typeface="Open Sans"/>
                          <a:ea typeface="Open Sans"/>
                          <a:cs typeface="Open Sans"/>
                          <a:sym typeface="Open Sans"/>
                        </a:rPr>
                        <a:t>[Write your comparison here]</a:t>
                      </a:r>
                      <a:endParaRPr sz="1100" b="1"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41876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The Zero Trust Model</a:t>
            </a:r>
            <a:endParaRPr/>
          </a:p>
        </p:txBody>
      </p:sp>
      <p:sp>
        <p:nvSpPr>
          <p:cNvPr id="247" name="Google Shape;247;p40"/>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spcBef>
                <a:spcPts val="1059"/>
              </a:spcBef>
              <a:buNone/>
            </a:pPr>
            <a:r>
              <a:rPr lang="en"/>
              <a:t>Following your analysis of Zero Trust versus traditional security models, it’s clear that a Zero Trust framework is essential for enhancing XYZ's network security. The challenge now shifts to selecting the most appropriate Zero Trust model for XYZ from three distinct options: Device Agent &amp; Gateway, Enclave Gateway, or Resource Portal. This selection is critical, as it must align with the unique challenges and goals of the company. Your task is to make an informed choice and articulate why this model stands out as the best fit for XYZ, considering their need for a robust response to recent security vulnerabilities.</a:t>
            </a:r>
            <a:endParaRPr/>
          </a:p>
          <a:p>
            <a:pPr marL="0" indent="0">
              <a:buNone/>
            </a:pPr>
            <a:endParaRPr b="1" i="1">
              <a:latin typeface="Open Sans"/>
              <a:ea typeface="Open Sans"/>
              <a:cs typeface="Open Sans"/>
              <a:sym typeface="Open Sans"/>
            </a:endParaRPr>
          </a:p>
          <a:p>
            <a:pPr>
              <a:spcBef>
                <a:spcPts val="1324"/>
              </a:spcBef>
            </a:pPr>
            <a:r>
              <a:rPr lang="en"/>
              <a:t>Choose one Zero Trust model for XYZ from the following options:</a:t>
            </a:r>
            <a:endParaRPr/>
          </a:p>
          <a:p>
            <a:pPr lvl="1">
              <a:spcBef>
                <a:spcPts val="0"/>
              </a:spcBef>
            </a:pPr>
            <a:r>
              <a:rPr lang="en"/>
              <a:t>Device Agent &amp; Gateway</a:t>
            </a:r>
            <a:endParaRPr/>
          </a:p>
          <a:p>
            <a:pPr lvl="1">
              <a:spcBef>
                <a:spcPts val="0"/>
              </a:spcBef>
            </a:pPr>
            <a:r>
              <a:rPr lang="en"/>
              <a:t>Enclave Gateway</a:t>
            </a:r>
            <a:endParaRPr/>
          </a:p>
          <a:p>
            <a:pPr lvl="1">
              <a:spcBef>
                <a:spcPts val="0"/>
              </a:spcBef>
            </a:pPr>
            <a:r>
              <a:rPr lang="en"/>
              <a:t>Resource Portal</a:t>
            </a:r>
            <a:endParaRPr/>
          </a:p>
          <a:p>
            <a:r>
              <a:rPr lang="en"/>
              <a:t>Justify why the selected model is the best fit for XYZ’s current network challenges and security objectives.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7"/>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Zero Trust Model</a:t>
            </a:r>
            <a:endParaRPr dirty="0"/>
          </a:p>
        </p:txBody>
      </p:sp>
      <p:graphicFrame>
        <p:nvGraphicFramePr>
          <p:cNvPr id="4" name="Google Shape;253;p41">
            <a:extLst>
              <a:ext uri="{FF2B5EF4-FFF2-40B4-BE49-F238E27FC236}">
                <a16:creationId xmlns:a16="http://schemas.microsoft.com/office/drawing/2014/main" id="{E735C933-276F-48AB-B746-092BC0997E8F}"/>
              </a:ext>
            </a:extLst>
          </p:cNvPr>
          <p:cNvGraphicFramePr/>
          <p:nvPr/>
        </p:nvGraphicFramePr>
        <p:xfrm>
          <a:off x="233736" y="2123074"/>
          <a:ext cx="6390529" cy="4166599"/>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22211">
                <a:tc>
                  <a:txBody>
                    <a:bodyPr/>
                    <a:lstStyle/>
                    <a:p>
                      <a:pPr marL="0" lvl="0" indent="0" algn="ctr" rtl="0">
                        <a:lnSpc>
                          <a:spcPct val="115000"/>
                        </a:lnSpc>
                        <a:spcBef>
                          <a:spcPts val="0"/>
                        </a:spcBef>
                        <a:spcAft>
                          <a:spcPts val="0"/>
                        </a:spcAft>
                        <a:buNone/>
                      </a:pPr>
                      <a:r>
                        <a:rPr lang="en" sz="1600">
                          <a:solidFill>
                            <a:srgbClr val="525C65"/>
                          </a:solidFill>
                          <a:latin typeface="Open Sans"/>
                          <a:ea typeface="Open Sans"/>
                          <a:cs typeface="Open Sans"/>
                          <a:sym typeface="Open Sans"/>
                        </a:rPr>
                        <a:t>[Name of the selected Model]</a:t>
                      </a:r>
                      <a:endParaRPr sz="16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742434">
                <a:tc>
                  <a:txBody>
                    <a:bodyPr/>
                    <a:lstStyle/>
                    <a:p>
                      <a:pPr marL="0" lvl="0" indent="0" algn="l" rtl="0">
                        <a:spcBef>
                          <a:spcPts val="0"/>
                        </a:spcBef>
                        <a:spcAft>
                          <a:spcPts val="0"/>
                        </a:spcAft>
                        <a:buNone/>
                      </a:pPr>
                      <a:r>
                        <a:rPr lang="en" sz="1600" i="1" dirty="0">
                          <a:solidFill>
                            <a:srgbClr val="525C65"/>
                          </a:solidFill>
                          <a:latin typeface="Open Sans Light"/>
                          <a:ea typeface="Open Sans Light"/>
                          <a:cs typeface="Open Sans Light"/>
                          <a:sym typeface="Open Sans Light"/>
                        </a:rPr>
                        <a:t>[Write your justification here. How the model addresses XYZ’s specific security challenges? Why it aligns with XYZ’s security objectives and current network situation? ]</a:t>
                      </a:r>
                      <a:endParaRPr sz="1600" i="1" dirty="0">
                        <a:solidFill>
                          <a:srgbClr val="525C65"/>
                        </a:solidFill>
                        <a:latin typeface="Open Sans Light"/>
                        <a:ea typeface="Open Sans Light"/>
                        <a:cs typeface="Open Sans Light"/>
                        <a:sym typeface="Open Sans Light"/>
                      </a:endParaRPr>
                    </a:p>
                    <a:p>
                      <a:pPr marL="0" lvl="0" indent="0" algn="l" rtl="0">
                        <a:spcBef>
                          <a:spcPts val="0"/>
                        </a:spcBef>
                        <a:spcAft>
                          <a:spcPts val="0"/>
                        </a:spcAft>
                        <a:buNone/>
                      </a:pPr>
                      <a:endParaRPr sz="1600" i="1" dirty="0">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718684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2059</TotalTime>
  <Words>2031</Words>
  <Application>Microsoft Office PowerPoint</Application>
  <PresentationFormat>On-screen Show (4:3)</PresentationFormat>
  <Paragraphs>164</Paragraphs>
  <Slides>31</Slides>
  <Notes>22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31</vt:i4>
      </vt:variant>
    </vt:vector>
  </HeadingPairs>
  <TitlesOfParts>
    <vt:vector size="41" baseType="lpstr">
      <vt:lpstr>Arial</vt:lpstr>
      <vt:lpstr>Calibri</vt:lpstr>
      <vt:lpstr>Corbel</vt:lpstr>
      <vt:lpstr>Helvetica Neue</vt:lpstr>
      <vt:lpstr>Open Sans</vt:lpstr>
      <vt:lpstr>Open Sans Light</vt:lpstr>
      <vt:lpstr>Roboto</vt:lpstr>
      <vt:lpstr>Wingdings</vt:lpstr>
      <vt:lpstr>Banded</vt:lpstr>
      <vt:lpstr>Simple Light</vt:lpstr>
      <vt:lpstr>PowerPoint Presentation</vt:lpstr>
      <vt:lpstr>How to Use this Template</vt:lpstr>
      <vt:lpstr>PowerPoint Presentation</vt:lpstr>
      <vt:lpstr>Overview</vt:lpstr>
      <vt:lpstr>PowerPoint Presentation</vt:lpstr>
      <vt:lpstr>Network Description</vt:lpstr>
      <vt:lpstr>Identify Network Vulnerabilities</vt:lpstr>
      <vt:lpstr>Identify Network Vulnerabilities</vt:lpstr>
      <vt:lpstr>Network Redesign</vt:lpstr>
      <vt:lpstr>Network Redesign</vt:lpstr>
      <vt:lpstr>Convince the Stakeholders</vt:lpstr>
      <vt:lpstr>Identify Network Vulnerabilities</vt:lpstr>
      <vt:lpstr>PowerPoint Presentation</vt:lpstr>
      <vt:lpstr>Network Setup</vt:lpstr>
      <vt:lpstr>Network Setup</vt:lpstr>
      <vt:lpstr>Network Setup</vt:lpstr>
      <vt:lpstr>PowerPoint Presentation</vt:lpstr>
      <vt:lpstr>Understanding SIEM Benefits</vt:lpstr>
      <vt:lpstr>Understanding SIEM Benefits</vt:lpstr>
      <vt:lpstr>Deploy SIEM Components in VirtualBox</vt:lpstr>
      <vt:lpstr>Deploy SIEM Components in Azure</vt:lpstr>
      <vt:lpstr>Setup Monitoring</vt:lpstr>
      <vt:lpstr>Setup Monitoring</vt:lpstr>
      <vt:lpstr>Setup Monitoring</vt:lpstr>
      <vt:lpstr>PowerPoint Presentation</vt:lpstr>
      <vt:lpstr>Zero Trust Comparison</vt:lpstr>
      <vt:lpstr>Zero Trust Principles</vt:lpstr>
      <vt:lpstr>Zero Trust Comparison</vt:lpstr>
      <vt:lpstr>Zero Trust Comparison</vt:lpstr>
      <vt:lpstr>The Zero Trust Model</vt:lpstr>
      <vt:lpstr>Zero Trust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Arnav Gupta</dc:creator>
  <cp:lastModifiedBy>Arnav Gupta</cp:lastModifiedBy>
  <cp:revision>5</cp:revision>
  <dcterms:created xsi:type="dcterms:W3CDTF">2024-12-31T07:43:09Z</dcterms:created>
  <dcterms:modified xsi:type="dcterms:W3CDTF">2025-01-01T18:03:03Z</dcterms:modified>
</cp:coreProperties>
</file>