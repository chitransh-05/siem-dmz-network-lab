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 id="2147483763" r:id="rId2"/>
  </p:sldMasterIdLst>
  <p:notesMasterIdLst>
    <p:notesMasterId r:id="rId27"/>
  </p:notesMasterIdLst>
  <p:sldIdLst>
    <p:sldId id="256" r:id="rId3"/>
    <p:sldId id="259" r:id="rId4"/>
    <p:sldId id="260" r:id="rId5"/>
    <p:sldId id="265" r:id="rId6"/>
    <p:sldId id="306" r:id="rId7"/>
    <p:sldId id="266" r:id="rId8"/>
    <p:sldId id="268" r:id="rId9"/>
    <p:sldId id="307" r:id="rId10"/>
    <p:sldId id="269" r:id="rId11"/>
    <p:sldId id="298" r:id="rId12"/>
    <p:sldId id="299" r:id="rId13"/>
    <p:sldId id="303" r:id="rId14"/>
    <p:sldId id="294" r:id="rId15"/>
    <p:sldId id="297" r:id="rId16"/>
    <p:sldId id="308" r:id="rId17"/>
    <p:sldId id="300" r:id="rId18"/>
    <p:sldId id="304" r:id="rId19"/>
    <p:sldId id="305" r:id="rId20"/>
    <p:sldId id="301" r:id="rId21"/>
    <p:sldId id="302" r:id="rId22"/>
    <p:sldId id="270" r:id="rId23"/>
    <p:sldId id="291" r:id="rId24"/>
    <p:sldId id="292" r:id="rId25"/>
    <p:sldId id="293" r:id="rId26"/>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B59"/>
    <a:srgbClr val="66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2085"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4E432-B1C3-44C4-9D68-3FC8EEDA25F5}" type="datetimeFigureOut">
              <a:rPr lang="en-IN" smtClean="0"/>
              <a:t>08-10-2025</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AD6D5-7C25-4B9A-9887-13E7A4610C1B}" type="slidenum">
              <a:rPr lang="en-IN" smtClean="0"/>
              <a:t>‹#›</a:t>
            </a:fld>
            <a:endParaRPr lang="en-IN"/>
          </a:p>
        </p:txBody>
      </p:sp>
    </p:spTree>
    <p:extLst>
      <p:ext uri="{BB962C8B-B14F-4D97-AF65-F5344CB8AC3E}">
        <p14:creationId xmlns:p14="http://schemas.microsoft.com/office/powerpoint/2010/main" val="792514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abe88b6f23_0_7: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abe88b6f2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7933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7225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745B03C9-9914-C59E-EBD6-D8B64E746EAA}"/>
            </a:ext>
          </a:extLst>
        </p:cNvPr>
        <p:cNvGrpSpPr/>
        <p:nvPr/>
      </p:nvGrpSpPr>
      <p:grpSpPr>
        <a:xfrm>
          <a:off x="0" y="0"/>
          <a:ext cx="0" cy="0"/>
          <a:chOff x="0" y="0"/>
          <a:chExt cx="0" cy="0"/>
        </a:xfrm>
      </p:grpSpPr>
      <p:sp>
        <p:nvSpPr>
          <p:cNvPr id="113" name="Google Shape;113;g2abe88b6f23_0_101:notes">
            <a:extLst>
              <a:ext uri="{FF2B5EF4-FFF2-40B4-BE49-F238E27FC236}">
                <a16:creationId xmlns:a16="http://schemas.microsoft.com/office/drawing/2014/main" id="{ED07F048-A488-E543-E005-03AD00BFA034}"/>
              </a:ext>
            </a:extLst>
          </p:cNvPr>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a:extLst>
              <a:ext uri="{FF2B5EF4-FFF2-40B4-BE49-F238E27FC236}">
                <a16:creationId xmlns:a16="http://schemas.microsoft.com/office/drawing/2014/main" id="{9ED4DE9A-842A-A6FF-160F-84014EA024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0208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7d995588e_0_1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7d995588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7903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B3C328ED-13C3-6979-72E3-133B241693E6}"/>
            </a:ext>
          </a:extLst>
        </p:cNvPr>
        <p:cNvGrpSpPr/>
        <p:nvPr/>
      </p:nvGrpSpPr>
      <p:grpSpPr>
        <a:xfrm>
          <a:off x="0" y="0"/>
          <a:ext cx="0" cy="0"/>
          <a:chOff x="0" y="0"/>
          <a:chExt cx="0" cy="0"/>
        </a:xfrm>
      </p:grpSpPr>
      <p:sp>
        <p:nvSpPr>
          <p:cNvPr id="153" name="Google Shape;153;g2c7d995588e_0_16:notes">
            <a:extLst>
              <a:ext uri="{FF2B5EF4-FFF2-40B4-BE49-F238E27FC236}">
                <a16:creationId xmlns:a16="http://schemas.microsoft.com/office/drawing/2014/main" id="{CBCC881D-7DD9-E1B7-9455-593FFA2F4170}"/>
              </a:ext>
            </a:extLst>
          </p:cNvPr>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7d995588e_0_16:notes">
            <a:extLst>
              <a:ext uri="{FF2B5EF4-FFF2-40B4-BE49-F238E27FC236}">
                <a16:creationId xmlns:a16="http://schemas.microsoft.com/office/drawing/2014/main" id="{51B8BF2D-DF21-6F4C-7A11-360208BA63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2427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7253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35AEF87A-39AF-4EE0-74AC-EA63FDD32CD8}"/>
            </a:ext>
          </a:extLst>
        </p:cNvPr>
        <p:cNvGrpSpPr/>
        <p:nvPr/>
      </p:nvGrpSpPr>
      <p:grpSpPr>
        <a:xfrm>
          <a:off x="0" y="0"/>
          <a:ext cx="0" cy="0"/>
          <a:chOff x="0" y="0"/>
          <a:chExt cx="0" cy="0"/>
        </a:xfrm>
      </p:grpSpPr>
      <p:sp>
        <p:nvSpPr>
          <p:cNvPr id="113" name="Google Shape;113;g2abe88b6f23_0_101:notes">
            <a:extLst>
              <a:ext uri="{FF2B5EF4-FFF2-40B4-BE49-F238E27FC236}">
                <a16:creationId xmlns:a16="http://schemas.microsoft.com/office/drawing/2014/main" id="{BDED3184-B5EF-F683-9A55-9911782FF58B}"/>
              </a:ext>
            </a:extLst>
          </p:cNvPr>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a:extLst>
              <a:ext uri="{FF2B5EF4-FFF2-40B4-BE49-F238E27FC236}">
                <a16:creationId xmlns:a16="http://schemas.microsoft.com/office/drawing/2014/main" id="{41A48369-9AAA-EB9F-77FF-5E692A9605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8624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A8268809-B602-A94C-2D22-759E747FD17F}"/>
            </a:ext>
          </a:extLst>
        </p:cNvPr>
        <p:cNvGrpSpPr/>
        <p:nvPr/>
      </p:nvGrpSpPr>
      <p:grpSpPr>
        <a:xfrm>
          <a:off x="0" y="0"/>
          <a:ext cx="0" cy="0"/>
          <a:chOff x="0" y="0"/>
          <a:chExt cx="0" cy="0"/>
        </a:xfrm>
      </p:grpSpPr>
      <p:sp>
        <p:nvSpPr>
          <p:cNvPr id="113" name="Google Shape;113;g2abe88b6f23_0_101:notes">
            <a:extLst>
              <a:ext uri="{FF2B5EF4-FFF2-40B4-BE49-F238E27FC236}">
                <a16:creationId xmlns:a16="http://schemas.microsoft.com/office/drawing/2014/main" id="{60594B1A-4C41-00FB-C61D-A068CF7CA3A0}"/>
              </a:ext>
            </a:extLst>
          </p:cNvPr>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a:extLst>
              <a:ext uri="{FF2B5EF4-FFF2-40B4-BE49-F238E27FC236}">
                <a16:creationId xmlns:a16="http://schemas.microsoft.com/office/drawing/2014/main" id="{FF2BC931-5F4A-08E8-47AB-5A05DDFF6D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599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248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9730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c7b31259bc_0_16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c7b31259b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796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c7b31259bc_0_16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c7b31259b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5768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c7b31259bc_0_16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c7b31259b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0131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205739" y="2888488"/>
            <a:ext cx="6452756" cy="2319129"/>
          </a:xfrm>
        </p:spPr>
        <p:txBody>
          <a:bodyPr tIns="45720" bIns="45720" anchor="ctr">
            <a:normAutofit/>
          </a:bodyPr>
          <a:lstStyle>
            <a:lvl1pPr algn="ctr">
              <a:lnSpc>
                <a:spcPct val="80000"/>
              </a:lnSpc>
              <a:defRPr sz="4500" spc="0" baseline="0"/>
            </a:lvl1pPr>
          </a:lstStyle>
          <a:p>
            <a:r>
              <a:rPr lang="en-US"/>
              <a:t>Click to edit Master title style</a:t>
            </a:r>
            <a:endParaRPr lang="en-US" dirty="0"/>
          </a:p>
        </p:txBody>
      </p:sp>
      <p:sp>
        <p:nvSpPr>
          <p:cNvPr id="3" name="Subtitle 2"/>
          <p:cNvSpPr>
            <a:spLocks noGrp="1"/>
          </p:cNvSpPr>
          <p:nvPr>
            <p:ph type="subTitle" idx="1"/>
          </p:nvPr>
        </p:nvSpPr>
        <p:spPr>
          <a:xfrm>
            <a:off x="857250" y="5293754"/>
            <a:ext cx="5143500" cy="1745673"/>
          </a:xfrm>
        </p:spPr>
        <p:txBody>
          <a:bodyPr>
            <a:normAutofit/>
          </a:bodyPr>
          <a:lstStyle>
            <a:lvl1pPr marL="0" indent="0" algn="ctr">
              <a:buNone/>
              <a:defRPr sz="1500"/>
            </a:lvl1pPr>
            <a:lvl2pPr marL="342900" indent="0" algn="ctr">
              <a:buNone/>
              <a:defRPr sz="1500"/>
            </a:lvl2pPr>
            <a:lvl3pPr marL="685800" indent="0" algn="ctr">
              <a:buNone/>
              <a:defRPr sz="15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659421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192135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68670" y="2945172"/>
            <a:ext cx="5915025" cy="2235200"/>
          </a:xfrm>
        </p:spPr>
        <p:txBody>
          <a:bodyPr anchor="ctr">
            <a:noAutofit/>
          </a:bodyPr>
          <a:lstStyle>
            <a:lvl1pPr algn="ctr">
              <a:lnSpc>
                <a:spcPct val="80000"/>
              </a:lnSpc>
              <a:defRPr sz="4500" b="0" spc="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670" y="5312534"/>
            <a:ext cx="5915025" cy="1566185"/>
          </a:xfrm>
        </p:spPr>
        <p:txBody>
          <a:bodyPr anchor="t">
            <a:normAutofit/>
          </a:bodyPr>
          <a:lstStyle>
            <a:lvl1pPr marL="0" indent="0" algn="ctr">
              <a:buNone/>
              <a:defRPr sz="150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7001F6B2-25AA-4F49-8B29-A540EB52E9E6}" type="datetimeFigureOut">
              <a:rPr lang="en-IN" smtClean="0"/>
              <a:t>08-10-2025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9373939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48"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00450"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01F6B2-25AA-4F49-8B29-A540EB52E9E6}"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236614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14350"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0" y="3542088"/>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00321"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600321" y="3542085"/>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01F6B2-25AA-4F49-8B29-A540EB52E9E6}" type="datetimeFigureOut">
              <a:rPr lang="en-IN" smtClean="0"/>
              <a:t>08-10-2025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3105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01F6B2-25AA-4F49-8B29-A540EB52E9E6}" type="datetimeFigureOut">
              <a:rPr lang="en-IN" smtClean="0"/>
              <a:t>08-10-2025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78012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1F6B2-25AA-4F49-8B29-A540EB52E9E6}" type="datetimeFigureOut">
              <a:rPr lang="en-IN" smtClean="0"/>
              <a:t>08-10-2025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327213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14350" y="2865120"/>
            <a:ext cx="3429000" cy="512064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419426" y="2863317"/>
            <a:ext cx="1920240" cy="4576425"/>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4718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514350" y="2948659"/>
            <a:ext cx="3566160" cy="5120640"/>
          </a:xfrm>
          <a:solidFill>
            <a:schemeClr val="tx2">
              <a:lumMod val="60000"/>
              <a:lumOff val="40000"/>
            </a:schemeClr>
          </a:solidFill>
        </p:spPr>
        <p:txBody>
          <a:bodyPr tIns="365760" anchor="t"/>
          <a:lstStyle>
            <a:lvl1pPr marL="0" indent="0" algn="ctr">
              <a:buNone/>
              <a:defRPr sz="2400">
                <a:solidFill>
                  <a:schemeClr val="tx1">
                    <a:lumMod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414013" y="2867495"/>
            <a:ext cx="1920240" cy="4572000"/>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4032143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744737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5073363" y="0"/>
            <a:ext cx="1543050" cy="914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5152851" y="812800"/>
            <a:ext cx="1351339" cy="7518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812800"/>
            <a:ext cx="4484976" cy="751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8563808"/>
            <a:ext cx="1543048" cy="486833"/>
          </a:xfrm>
        </p:spPr>
        <p:txBody>
          <a:bodyPr/>
          <a:lstStyle/>
          <a:p>
            <a:fld id="{7001F6B2-25AA-4F49-8B29-A540EB52E9E6}" type="datetimeFigureOut">
              <a:rPr lang="en-IN" smtClean="0"/>
              <a:t>08-10-2025</a:t>
            </a:fld>
            <a:endParaRPr lang="en-IN"/>
          </a:p>
        </p:txBody>
      </p:sp>
      <p:sp>
        <p:nvSpPr>
          <p:cNvPr id="5" name="Footer Placeholder 4"/>
          <p:cNvSpPr>
            <a:spLocks noGrp="1"/>
          </p:cNvSpPr>
          <p:nvPr>
            <p:ph type="ftr" sz="quarter" idx="11"/>
          </p:nvPr>
        </p:nvSpPr>
        <p:spPr>
          <a:xfrm>
            <a:off x="2124077" y="8563808"/>
            <a:ext cx="2407314" cy="486833"/>
          </a:xfrm>
        </p:spPr>
        <p:txBody>
          <a:bodyPr/>
          <a:lstStyle/>
          <a:p>
            <a:endParaRPr lang="en-IN"/>
          </a:p>
        </p:txBody>
      </p:sp>
      <p:sp>
        <p:nvSpPr>
          <p:cNvPr id="6" name="Slide Number Placeholder 5"/>
          <p:cNvSpPr>
            <a:spLocks noGrp="1"/>
          </p:cNvSpPr>
          <p:nvPr>
            <p:ph type="sldNum" sz="quarter" idx="12"/>
          </p:nvPr>
        </p:nvSpPr>
        <p:spPr>
          <a:xfrm>
            <a:off x="4541091" y="8563808"/>
            <a:ext cx="494864" cy="486833"/>
          </a:xfrm>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46912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02B3E4"/>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 name="Google Shape;12;p2"/>
          <p:cNvSpPr txBox="1">
            <a:spLocks noGrp="1"/>
          </p:cNvSpPr>
          <p:nvPr>
            <p:ph type="title" idx="2"/>
          </p:nvPr>
        </p:nvSpPr>
        <p:spPr>
          <a:xfrm>
            <a:off x="233731" y="7645246"/>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 name="Google Shape;13;p2"/>
          <p:cNvPicPr preferRelativeResize="0"/>
          <p:nvPr/>
        </p:nvPicPr>
        <p:blipFill>
          <a:blip r:embed="rId2">
            <a:alphaModFix/>
          </a:blip>
          <a:stretch>
            <a:fillRect/>
          </a:stretch>
        </p:blipFill>
        <p:spPr>
          <a:xfrm>
            <a:off x="0" y="0"/>
            <a:ext cx="6858000" cy="623449"/>
          </a:xfrm>
          <a:prstGeom prst="rect">
            <a:avLst/>
          </a:prstGeom>
          <a:noFill/>
          <a:ln>
            <a:noFill/>
          </a:ln>
        </p:spPr>
      </p:pic>
    </p:spTree>
    <p:extLst>
      <p:ext uri="{BB962C8B-B14F-4D97-AF65-F5344CB8AC3E}">
        <p14:creationId xmlns:p14="http://schemas.microsoft.com/office/powerpoint/2010/main" val="1599113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2D3D49"/>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33736" y="1963818"/>
            <a:ext cx="6390529" cy="2321727"/>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400"/>
              <a:buFont typeface="Open Sans Light"/>
              <a:buNone/>
              <a:defRPr sz="3883">
                <a:solidFill>
                  <a:schemeClr val="lt1"/>
                </a:solidFill>
                <a:latin typeface="Open Sans Light"/>
                <a:ea typeface="Open Sans Light"/>
                <a:cs typeface="Open Sans Light"/>
                <a:sym typeface="Open Sans Light"/>
              </a:defRPr>
            </a:lvl1pPr>
            <a:lvl2pPr lvl="1" algn="ctr" rtl="0">
              <a:spcBef>
                <a:spcPts val="0"/>
              </a:spcBef>
              <a:spcAft>
                <a:spcPts val="0"/>
              </a:spcAft>
              <a:buSzPts val="3600"/>
              <a:buNone/>
              <a:defRPr sz="3177"/>
            </a:lvl2pPr>
            <a:lvl3pPr lvl="2" algn="ctr" rtl="0">
              <a:spcBef>
                <a:spcPts val="0"/>
              </a:spcBef>
              <a:spcAft>
                <a:spcPts val="0"/>
              </a:spcAft>
              <a:buSzPts val="3600"/>
              <a:buNone/>
              <a:defRPr sz="3177"/>
            </a:lvl3pPr>
            <a:lvl4pPr lvl="3" algn="ctr" rtl="0">
              <a:spcBef>
                <a:spcPts val="0"/>
              </a:spcBef>
              <a:spcAft>
                <a:spcPts val="0"/>
              </a:spcAft>
              <a:buSzPts val="3600"/>
              <a:buNone/>
              <a:defRPr sz="3177"/>
            </a:lvl4pPr>
            <a:lvl5pPr lvl="4" algn="ctr" rtl="0">
              <a:spcBef>
                <a:spcPts val="0"/>
              </a:spcBef>
              <a:spcAft>
                <a:spcPts val="0"/>
              </a:spcAft>
              <a:buSzPts val="3600"/>
              <a:buNone/>
              <a:defRPr sz="3177"/>
            </a:lvl5pPr>
            <a:lvl6pPr lvl="5" algn="ctr" rtl="0">
              <a:spcBef>
                <a:spcPts val="0"/>
              </a:spcBef>
              <a:spcAft>
                <a:spcPts val="0"/>
              </a:spcAft>
              <a:buSzPts val="3600"/>
              <a:buNone/>
              <a:defRPr sz="3177"/>
            </a:lvl6pPr>
            <a:lvl7pPr lvl="6" algn="ctr" rtl="0">
              <a:spcBef>
                <a:spcPts val="0"/>
              </a:spcBef>
              <a:spcAft>
                <a:spcPts val="0"/>
              </a:spcAft>
              <a:buSzPts val="3600"/>
              <a:buNone/>
              <a:defRPr sz="3177"/>
            </a:lvl7pPr>
            <a:lvl8pPr lvl="7" algn="ctr" rtl="0">
              <a:spcBef>
                <a:spcPts val="0"/>
              </a:spcBef>
              <a:spcAft>
                <a:spcPts val="0"/>
              </a:spcAft>
              <a:buSzPts val="3600"/>
              <a:buNone/>
              <a:defRPr sz="3177"/>
            </a:lvl8pPr>
            <a:lvl9pPr lvl="8" algn="ctr" rtl="0">
              <a:spcBef>
                <a:spcPts val="0"/>
              </a:spcBef>
              <a:spcAft>
                <a:spcPts val="0"/>
              </a:spcAft>
              <a:buSzPts val="3600"/>
              <a:buNone/>
              <a:defRPr sz="3177"/>
            </a:lvl9pPr>
          </a:lstStyle>
          <a:p>
            <a:endParaRPr/>
          </a:p>
        </p:txBody>
      </p:sp>
      <p:pic>
        <p:nvPicPr>
          <p:cNvPr id="16" name="Google Shape;16;p3"/>
          <p:cNvPicPr preferRelativeResize="0"/>
          <p:nvPr/>
        </p:nvPicPr>
        <p:blipFill>
          <a:blip r:embed="rId2">
            <a:alphaModFix/>
          </a:blip>
          <a:stretch>
            <a:fillRect/>
          </a:stretch>
        </p:blipFill>
        <p:spPr>
          <a:xfrm>
            <a:off x="6194293" y="140273"/>
            <a:ext cx="468000" cy="482182"/>
          </a:xfrm>
          <a:prstGeom prst="rect">
            <a:avLst/>
          </a:prstGeom>
          <a:noFill/>
          <a:ln>
            <a:noFill/>
          </a:ln>
        </p:spPr>
      </p:pic>
      <p:pic>
        <p:nvPicPr>
          <p:cNvPr id="17" name="Google Shape;17;p3"/>
          <p:cNvPicPr preferRelativeResize="0"/>
          <p:nvPr/>
        </p:nvPicPr>
        <p:blipFill>
          <a:blip r:embed="rId3">
            <a:alphaModFix/>
          </a:blip>
          <a:stretch>
            <a:fillRect/>
          </a:stretch>
        </p:blipFill>
        <p:spPr>
          <a:xfrm>
            <a:off x="738640" y="4147000"/>
            <a:ext cx="924485" cy="138545"/>
          </a:xfrm>
          <a:prstGeom prst="rect">
            <a:avLst/>
          </a:prstGeom>
          <a:noFill/>
          <a:ln>
            <a:noFill/>
          </a:ln>
        </p:spPr>
      </p:pic>
    </p:spTree>
    <p:extLst>
      <p:ext uri="{BB962C8B-B14F-4D97-AF65-F5344CB8AC3E}">
        <p14:creationId xmlns:p14="http://schemas.microsoft.com/office/powerpoint/2010/main" val="37233434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emove slide">
  <p:cSld name="Remove slide">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p:nvPr/>
        </p:nvSpPr>
        <p:spPr>
          <a:xfrm>
            <a:off x="780132" y="7174524"/>
            <a:ext cx="5297824" cy="1590273"/>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3177" b="1" i="1">
                <a:solidFill>
                  <a:srgbClr val="15C26B"/>
                </a:solidFill>
                <a:latin typeface="Open Sans"/>
                <a:ea typeface="Open Sans"/>
                <a:cs typeface="Open Sans"/>
                <a:sym typeface="Open Sans"/>
              </a:rPr>
              <a:t>Remove this slide </a:t>
            </a:r>
            <a:endParaRPr sz="3177" b="1" i="1">
              <a:solidFill>
                <a:srgbClr val="15C26B"/>
              </a:solidFill>
              <a:latin typeface="Open Sans"/>
              <a:ea typeface="Open Sans"/>
              <a:cs typeface="Open Sans"/>
              <a:sym typeface="Open Sans"/>
            </a:endParaRPr>
          </a:p>
        </p:txBody>
      </p:sp>
      <p:sp>
        <p:nvSpPr>
          <p:cNvPr id="21" name="Google Shape;21;p4"/>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pic>
        <p:nvPicPr>
          <p:cNvPr id="22" name="Google Shape;22;p4"/>
          <p:cNvPicPr preferRelativeResize="0"/>
          <p:nvPr/>
        </p:nvPicPr>
        <p:blipFill rotWithShape="1">
          <a:blip r:embed="rId2">
            <a:alphaModFix/>
          </a:blip>
          <a:srcRect/>
          <a:stretch/>
        </p:blipFill>
        <p:spPr>
          <a:xfrm>
            <a:off x="6194293" y="140273"/>
            <a:ext cx="468000" cy="482182"/>
          </a:xfrm>
          <a:prstGeom prst="rect">
            <a:avLst/>
          </a:prstGeom>
          <a:noFill/>
          <a:ln>
            <a:noFill/>
          </a:ln>
        </p:spPr>
      </p:pic>
    </p:spTree>
    <p:extLst>
      <p:ext uri="{BB962C8B-B14F-4D97-AF65-F5344CB8AC3E}">
        <p14:creationId xmlns:p14="http://schemas.microsoft.com/office/powerpoint/2010/main" val="4029371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6858000" cy="723545"/>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166834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271" y="234813"/>
            <a:ext cx="6856286" cy="21945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513764" y="378901"/>
            <a:ext cx="5829300" cy="2011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764" y="2682240"/>
            <a:ext cx="5829300" cy="5608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1168" y="8563808"/>
            <a:ext cx="1946282" cy="486833"/>
          </a:xfrm>
          <a:prstGeom prst="rect">
            <a:avLst/>
          </a:prstGeom>
        </p:spPr>
        <p:txBody>
          <a:bodyPr vert="horz" lIns="91440" tIns="45720" rIns="45720" bIns="45720" rtlCol="0" anchor="ctr"/>
          <a:lstStyle>
            <a:lvl1pPr algn="l">
              <a:defRPr sz="788">
                <a:solidFill>
                  <a:schemeClr val="tx1"/>
                </a:solidFill>
              </a:defRPr>
            </a:lvl1pPr>
          </a:lstStyle>
          <a:p>
            <a:fld id="{7001F6B2-25AA-4F49-8B29-A540EB52E9E6}" type="datetimeFigureOut">
              <a:rPr lang="en-IN" smtClean="0"/>
              <a:t>08-10-2025</a:t>
            </a:fld>
            <a:endParaRPr lang="en-IN"/>
          </a:p>
        </p:txBody>
      </p:sp>
      <p:sp>
        <p:nvSpPr>
          <p:cNvPr id="5" name="Footer Placeholder 4"/>
          <p:cNvSpPr>
            <a:spLocks noGrp="1"/>
          </p:cNvSpPr>
          <p:nvPr>
            <p:ph type="ftr" sz="quarter" idx="3"/>
          </p:nvPr>
        </p:nvSpPr>
        <p:spPr>
          <a:xfrm>
            <a:off x="3143251" y="8563808"/>
            <a:ext cx="3045470" cy="486833"/>
          </a:xfrm>
          <a:prstGeom prst="rect">
            <a:avLst/>
          </a:prstGeom>
        </p:spPr>
        <p:txBody>
          <a:bodyPr vert="horz" lIns="91440" tIns="45720" rIns="91440" bIns="45720" rtlCol="0" anchor="ctr"/>
          <a:lstStyle>
            <a:lvl1pPr algn="r">
              <a:defRPr sz="788">
                <a:solidFill>
                  <a:schemeClr val="tx1"/>
                </a:solidFill>
              </a:defRPr>
            </a:lvl1pPr>
          </a:lstStyle>
          <a:p>
            <a:endParaRPr lang="en-IN"/>
          </a:p>
        </p:txBody>
      </p:sp>
      <p:sp>
        <p:nvSpPr>
          <p:cNvPr id="6" name="Slide Number Placeholder 5"/>
          <p:cNvSpPr>
            <a:spLocks noGrp="1"/>
          </p:cNvSpPr>
          <p:nvPr>
            <p:ph type="sldNum" sz="quarter" idx="4"/>
          </p:nvPr>
        </p:nvSpPr>
        <p:spPr>
          <a:xfrm>
            <a:off x="6198854" y="8563808"/>
            <a:ext cx="532274" cy="486833"/>
          </a:xfrm>
          <a:prstGeom prst="rect">
            <a:avLst/>
          </a:prstGeom>
        </p:spPr>
        <p:txBody>
          <a:bodyPr vert="horz" lIns="45720" tIns="45720" rIns="91440" bIns="45720" rtlCol="0" anchor="ctr"/>
          <a:lstStyle>
            <a:lvl1pPr algn="l">
              <a:defRPr sz="900" b="0">
                <a:solidFill>
                  <a:schemeClr val="tx1"/>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60457452"/>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685800" rtl="0" eaLnBrk="1" latinLnBrk="0" hangingPunct="1">
        <a:lnSpc>
          <a:spcPct val="85000"/>
        </a:lnSpc>
        <a:spcBef>
          <a:spcPct val="0"/>
        </a:spcBef>
        <a:buNone/>
        <a:defRPr sz="3000" kern="1200" cap="all" baseline="0">
          <a:solidFill>
            <a:schemeClr val="bg2"/>
          </a:solidFill>
          <a:latin typeface="+mj-lt"/>
          <a:ea typeface="+mj-ea"/>
          <a:cs typeface="+mj-cs"/>
        </a:defRPr>
      </a:lvl1pPr>
    </p:titleStyle>
    <p:bodyStyle>
      <a:lvl1pPr marL="137160" indent="-137160" algn="l" defTabSz="685800" rtl="0" eaLnBrk="1" latinLnBrk="0" hangingPunct="1">
        <a:lnSpc>
          <a:spcPct val="90000"/>
        </a:lnSpc>
        <a:spcBef>
          <a:spcPts val="900"/>
        </a:spcBef>
        <a:spcAft>
          <a:spcPts val="150"/>
        </a:spcAft>
        <a:buClr>
          <a:schemeClr val="tx1"/>
        </a:buClr>
        <a:buFont typeface="Wingdings" pitchFamily="2" charset="2"/>
        <a:buChar char=""/>
        <a:defRPr sz="1650" kern="1200">
          <a:solidFill>
            <a:schemeClr val="tx1"/>
          </a:solidFill>
          <a:latin typeface="+mn-lt"/>
          <a:ea typeface="+mn-ea"/>
          <a:cs typeface="+mn-cs"/>
        </a:defRPr>
      </a:lvl1pPr>
      <a:lvl2pPr marL="308610" indent="-137160" algn="l" defTabSz="685800" rtl="0" eaLnBrk="1" latinLnBrk="0" hangingPunct="1">
        <a:lnSpc>
          <a:spcPct val="90000"/>
        </a:lnSpc>
        <a:spcBef>
          <a:spcPts val="150"/>
        </a:spcBef>
        <a:spcAft>
          <a:spcPts val="300"/>
        </a:spcAft>
        <a:buClr>
          <a:schemeClr val="tx1"/>
        </a:buClr>
        <a:buFont typeface="Wingdings" pitchFamily="2" charset="2"/>
        <a:buChar char=""/>
        <a:defRPr sz="1500" kern="1200">
          <a:solidFill>
            <a:schemeClr val="tx1"/>
          </a:solidFill>
          <a:latin typeface="+mn-lt"/>
          <a:ea typeface="+mn-ea"/>
          <a:cs typeface="+mn-cs"/>
        </a:defRPr>
      </a:lvl2pPr>
      <a:lvl3pPr marL="480060" indent="-137160" algn="l" defTabSz="685800" rtl="0" eaLnBrk="1" latinLnBrk="0" hangingPunct="1">
        <a:lnSpc>
          <a:spcPct val="90000"/>
        </a:lnSpc>
        <a:spcBef>
          <a:spcPts val="150"/>
        </a:spcBef>
        <a:spcAft>
          <a:spcPts val="300"/>
        </a:spcAft>
        <a:buClr>
          <a:schemeClr val="tx1"/>
        </a:buClr>
        <a:buFont typeface="Wingdings" pitchFamily="2" charset="2"/>
        <a:buChar char=""/>
        <a:defRPr sz="1350" kern="1200">
          <a:solidFill>
            <a:schemeClr val="tx1"/>
          </a:solidFill>
          <a:latin typeface="+mn-lt"/>
          <a:ea typeface="+mn-ea"/>
          <a:cs typeface="+mn-cs"/>
        </a:defRPr>
      </a:lvl3pPr>
      <a:lvl4pPr marL="65151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4pPr>
      <a:lvl5pPr marL="82296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5pPr>
      <a:lvl6pPr marL="9634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6pPr>
      <a:lvl7pPr marL="11038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7pPr>
      <a:lvl8pPr marL="12217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8pPr>
      <a:lvl9pPr marL="13546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6354343" y="8290164"/>
            <a:ext cx="411618" cy="699818"/>
          </a:xfrm>
          <a:prstGeom prst="rect">
            <a:avLst/>
          </a:prstGeom>
          <a:noFill/>
          <a:ln>
            <a:noFill/>
          </a:ln>
        </p:spPr>
        <p:txBody>
          <a:bodyPr spcFirstLastPara="1" wrap="square" lIns="91425" tIns="91425" rIns="91425" bIns="91425" anchor="ctr" anchorCtr="0">
            <a:noAutofit/>
          </a:bodyPr>
          <a:lstStyle>
            <a:lvl1pPr lvl="0" algn="r" rtl="0">
              <a:buNone/>
              <a:defRPr sz="882">
                <a:solidFill>
                  <a:schemeClr val="dk2"/>
                </a:solidFill>
              </a:defRPr>
            </a:lvl1pPr>
            <a:lvl2pPr lvl="1" algn="r" rtl="0">
              <a:buNone/>
              <a:defRPr sz="882">
                <a:solidFill>
                  <a:schemeClr val="dk2"/>
                </a:solidFill>
              </a:defRPr>
            </a:lvl2pPr>
            <a:lvl3pPr lvl="2" algn="r" rtl="0">
              <a:buNone/>
              <a:defRPr sz="882">
                <a:solidFill>
                  <a:schemeClr val="dk2"/>
                </a:solidFill>
              </a:defRPr>
            </a:lvl3pPr>
            <a:lvl4pPr lvl="3" algn="r" rtl="0">
              <a:buNone/>
              <a:defRPr sz="882">
                <a:solidFill>
                  <a:schemeClr val="dk2"/>
                </a:solidFill>
              </a:defRPr>
            </a:lvl4pPr>
            <a:lvl5pPr lvl="4" algn="r" rtl="0">
              <a:buNone/>
              <a:defRPr sz="882">
                <a:solidFill>
                  <a:schemeClr val="dk2"/>
                </a:solidFill>
              </a:defRPr>
            </a:lvl5pPr>
            <a:lvl6pPr lvl="5" algn="r" rtl="0">
              <a:buNone/>
              <a:defRPr sz="882">
                <a:solidFill>
                  <a:schemeClr val="dk2"/>
                </a:solidFill>
              </a:defRPr>
            </a:lvl6pPr>
            <a:lvl7pPr lvl="6" algn="r" rtl="0">
              <a:buNone/>
              <a:defRPr sz="882">
                <a:solidFill>
                  <a:schemeClr val="dk2"/>
                </a:solidFill>
              </a:defRPr>
            </a:lvl7pPr>
            <a:lvl8pPr lvl="7" algn="r" rtl="0">
              <a:buNone/>
              <a:defRPr sz="882">
                <a:solidFill>
                  <a:schemeClr val="dk2"/>
                </a:solidFill>
              </a:defRPr>
            </a:lvl8pPr>
            <a:lvl9pPr lvl="8" algn="r" rtl="0">
              <a:buNone/>
              <a:defRPr sz="882">
                <a:solidFill>
                  <a:schemeClr val="dk2"/>
                </a:solidFill>
              </a:defRPr>
            </a:lvl9pPr>
          </a:lstStyle>
          <a:p>
            <a:fld id="{00000000-1234-1234-1234-123412341234}" type="slidenum">
              <a:rPr lang="en" smtClean="0"/>
              <a:pPr/>
              <a:t>‹#›</a:t>
            </a:fld>
            <a:endParaRPr lang="en"/>
          </a:p>
        </p:txBody>
      </p:sp>
      <p:sp>
        <p:nvSpPr>
          <p:cNvPr id="9" name="Google Shape;9;p1"/>
          <p:cNvSpPr/>
          <p:nvPr/>
        </p:nvSpPr>
        <p:spPr>
          <a:xfrm>
            <a:off x="-10" y="876756"/>
            <a:ext cx="28588" cy="846818"/>
          </a:xfrm>
          <a:prstGeom prst="rect">
            <a:avLst/>
          </a:prstGeom>
          <a:solidFill>
            <a:srgbClr val="15C26B"/>
          </a:solidFill>
          <a:ln>
            <a:noFill/>
          </a:ln>
        </p:spPr>
        <p:txBody>
          <a:bodyPr spcFirstLastPara="1" wrap="square" lIns="23625" tIns="23625" rIns="23625" bIns="2362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059" b="0" i="0" u="none" strike="noStrike" cap="none">
              <a:solidFill>
                <a:srgbClr val="FFFFFF"/>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425291354"/>
      </p:ext>
    </p:extLst>
  </p:cSld>
  <p:clrMap bg1="lt1" tx1="dk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1630-0811-4527-B3F7-DDD2796E7E07}"/>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A8334C46-6152-4895-8528-D35809CE033B}"/>
              </a:ext>
            </a:extLst>
          </p:cNvPr>
          <p:cNvSpPr>
            <a:spLocks noGrp="1"/>
          </p:cNvSpPr>
          <p:nvPr>
            <p:ph type="subTitle" idx="1"/>
          </p:nvPr>
        </p:nvSpPr>
        <p:spPr/>
        <p:txBody>
          <a:bodyPr/>
          <a:lstStyle/>
          <a:p>
            <a:endParaRPr lang="en-IN"/>
          </a:p>
        </p:txBody>
      </p:sp>
      <p:pic>
        <p:nvPicPr>
          <p:cNvPr id="4" name="Google Shape;35;p7">
            <a:extLst>
              <a:ext uri="{FF2B5EF4-FFF2-40B4-BE49-F238E27FC236}">
                <a16:creationId xmlns:a16="http://schemas.microsoft.com/office/drawing/2014/main" id="{BBE7CED8-4D34-49D5-AC83-7B3C4F6A163C}"/>
              </a:ext>
            </a:extLst>
          </p:cNvPr>
          <p:cNvPicPr preferRelativeResize="0"/>
          <p:nvPr/>
        </p:nvPicPr>
        <p:blipFill rotWithShape="1">
          <a:blip r:embed="rId2">
            <a:alphaModFix/>
          </a:blip>
          <a:srcRect l="1606" r="1606"/>
          <a:stretch/>
        </p:blipFill>
        <p:spPr>
          <a:xfrm>
            <a:off x="0" y="1335505"/>
            <a:ext cx="6858000" cy="6473477"/>
          </a:xfrm>
          <a:prstGeom prst="rect">
            <a:avLst/>
          </a:prstGeom>
          <a:noFill/>
          <a:ln>
            <a:noFill/>
          </a:ln>
        </p:spPr>
      </p:pic>
      <p:sp>
        <p:nvSpPr>
          <p:cNvPr id="6" name="Google Shape;36;p7">
            <a:extLst>
              <a:ext uri="{FF2B5EF4-FFF2-40B4-BE49-F238E27FC236}">
                <a16:creationId xmlns:a16="http://schemas.microsoft.com/office/drawing/2014/main" id="{EC02DC39-A980-45DF-8F66-9C4076BBCF2F}"/>
              </a:ext>
            </a:extLst>
          </p:cNvPr>
          <p:cNvSpPr txBox="1">
            <a:spLocks/>
          </p:cNvSpPr>
          <p:nvPr/>
        </p:nvSpPr>
        <p:spPr>
          <a:xfrm>
            <a:off x="86262" y="600989"/>
            <a:ext cx="6685477" cy="1033754"/>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4154" dirty="0">
                <a:solidFill>
                  <a:schemeClr val="tx1"/>
                </a:solidFill>
              </a:rPr>
              <a:t>Securing the Perimeter</a:t>
            </a:r>
          </a:p>
        </p:txBody>
      </p:sp>
      <p:sp>
        <p:nvSpPr>
          <p:cNvPr id="7" name="Google Shape;37;p7">
            <a:extLst>
              <a:ext uri="{FF2B5EF4-FFF2-40B4-BE49-F238E27FC236}">
                <a16:creationId xmlns:a16="http://schemas.microsoft.com/office/drawing/2014/main" id="{4BEC11E8-86C9-47B7-8BBA-DA53814D1AFC}"/>
              </a:ext>
            </a:extLst>
          </p:cNvPr>
          <p:cNvSpPr txBox="1">
            <a:spLocks/>
          </p:cNvSpPr>
          <p:nvPr/>
        </p:nvSpPr>
        <p:spPr>
          <a:xfrm>
            <a:off x="86262" y="7668724"/>
            <a:ext cx="6685477" cy="1398185"/>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3692" i="1" dirty="0">
                <a:solidFill>
                  <a:schemeClr val="tx1"/>
                </a:solidFill>
              </a:rPr>
              <a:t>Chitransh Mathur</a:t>
            </a:r>
          </a:p>
          <a:p>
            <a:pPr>
              <a:spcBef>
                <a:spcPts val="0"/>
              </a:spcBef>
            </a:pPr>
            <a:r>
              <a:rPr lang="en-IN" sz="3692" i="1" dirty="0">
                <a:solidFill>
                  <a:schemeClr val="tx1"/>
                </a:solidFill>
              </a:rPr>
              <a:t>CBS-0403</a:t>
            </a:r>
          </a:p>
        </p:txBody>
      </p:sp>
    </p:spTree>
    <p:extLst>
      <p:ext uri="{BB962C8B-B14F-4D97-AF65-F5344CB8AC3E}">
        <p14:creationId xmlns:p14="http://schemas.microsoft.com/office/powerpoint/2010/main" val="4193713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Overview</a:t>
            </a:r>
            <a:endParaRPr/>
          </a:p>
        </p:txBody>
      </p:sp>
      <p:sp>
        <p:nvSpPr>
          <p:cNvPr id="55" name="Google Shape;55;p10"/>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Clr>
                <a:schemeClr val="dk1"/>
              </a:buClr>
              <a:buSzPts val="1100"/>
              <a:buNone/>
            </a:pPr>
            <a:r>
              <a:rPr lang="en" dirty="0"/>
              <a:t>XYZ is the premier cryptocurrency exchange. They transact over a billion trades everyday and are considered to be one of the most reliable and secure exchanges in the world. Due to their rapid growth, they've faced challenges in scaling their security posture.</a:t>
            </a:r>
            <a:endParaRPr dirty="0"/>
          </a:p>
          <a:p>
            <a:pPr marL="0" indent="0">
              <a:buNone/>
            </a:pPr>
            <a:r>
              <a:rPr lang="en" dirty="0"/>
              <a:t>The largest challenge they've faced is with their Perimeter Network Security being secure. The networking team was overburdened with the rapid growth and a majority of the network infrastructure was built insecurely.</a:t>
            </a:r>
            <a:endParaRPr dirty="0"/>
          </a:p>
          <a:p>
            <a:pPr marL="0" indent="0">
              <a:buClr>
                <a:schemeClr val="dk1"/>
              </a:buClr>
              <a:buSzPts val="1100"/>
              <a:buNone/>
            </a:pPr>
            <a:endParaRPr dirty="0"/>
          </a:p>
          <a:p>
            <a:pPr marL="0" indent="0">
              <a:buNone/>
            </a:pPr>
            <a:r>
              <a:rPr lang="en" dirty="0"/>
              <a:t>Due to a lack of visibility and a lack of proper access control setup on the network, it was inevitable that a breach took place! XYZ was hit with a massive attack in which their network was breached and their internal servers were compromised resulting in over 500 Bitcoin being stolen!</a:t>
            </a:r>
            <a:endParaRPr dirty="0"/>
          </a:p>
          <a:p>
            <a:pPr marL="0" indent="0">
              <a:buClr>
                <a:schemeClr val="dk1"/>
              </a:buClr>
              <a:buSzPts val="1100"/>
              <a:buNone/>
            </a:pPr>
            <a:endParaRPr dirty="0"/>
          </a:p>
          <a:p>
            <a:pPr marL="0" indent="0">
              <a:buClr>
                <a:schemeClr val="dk1"/>
              </a:buClr>
              <a:buSzPts val="1100"/>
              <a:buNone/>
            </a:pPr>
            <a:r>
              <a:rPr lang="en" dirty="0"/>
              <a:t>Needing to get the bottom of this breach and resolving their current perimeter issues they've contracted you from SecureCorp, a world renowned cybersecurity consulting firm. Your job is to redesign their network architecture securely and set up a SIEM to monitor against future attacks.</a:t>
            </a:r>
            <a:endParaRPr dirty="0"/>
          </a:p>
          <a:p>
            <a:pPr marL="0" indent="0">
              <a:spcBef>
                <a:spcPts val="1059"/>
              </a:spcBef>
              <a:spcAft>
                <a:spcPts val="1059"/>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Designing a secure Network Architecture</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512790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pPr algn="ctr"/>
            <a:r>
              <a:rPr kumimoji="0" lang="en" sz="2800" b="1" i="1" u="sng"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Network Vulnerabilities</a:t>
            </a:r>
            <a:endParaRPr lang="en-IN" sz="2800" b="1" i="1" u="sng" dirty="0"/>
          </a:p>
        </p:txBody>
      </p:sp>
      <p:graphicFrame>
        <p:nvGraphicFramePr>
          <p:cNvPr id="5" name="Google Shape;81;p14">
            <a:extLst>
              <a:ext uri="{FF2B5EF4-FFF2-40B4-BE49-F238E27FC236}">
                <a16:creationId xmlns:a16="http://schemas.microsoft.com/office/drawing/2014/main" id="{B57F1FAA-B4BB-4DD3-9A66-4C9D807CB572}"/>
              </a:ext>
            </a:extLst>
          </p:cNvPr>
          <p:cNvGraphicFramePr/>
          <p:nvPr>
            <p:extLst>
              <p:ext uri="{D42A27DB-BD31-4B8C-83A1-F6EECF244321}">
                <p14:modId xmlns:p14="http://schemas.microsoft.com/office/powerpoint/2010/main" val="278998422"/>
              </p:ext>
            </p:extLst>
          </p:nvPr>
        </p:nvGraphicFramePr>
        <p:xfrm>
          <a:off x="233696" y="1645703"/>
          <a:ext cx="6390529" cy="670714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56133">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1. Servers have direct Internet access</a:t>
                      </a:r>
                      <a:endParaRPr sz="1800" b="1" dirty="0">
                        <a:latin typeface="Open Sans Light" panose="020F0502020204030204" pitchFamily="34" charset="0"/>
                        <a:ea typeface="Open Sans Light" panose="020F0502020204030204" pitchFamily="34" charset="0"/>
                        <a:cs typeface="Open Sans Light" panose="020F0502020204030204" pitchFamily="34" charset="0"/>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041044">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ISSUE:</a:t>
                      </a:r>
                      <a:r>
                        <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All Servers (Web Servers, Database, and File Storage Server) are directly connected to the Internet, which is vulnerable to many external attacks.</a:t>
                      </a:r>
                    </a:p>
                    <a:p>
                      <a:pPr marL="0" lvl="0" indent="0" algn="l" rtl="0">
                        <a:spcBef>
                          <a:spcPts val="0"/>
                        </a:spcBef>
                        <a:spcAft>
                          <a:spcPts val="0"/>
                        </a:spcAft>
                        <a:buNone/>
                      </a:pPr>
                      <a:endParaRPr lang="en-I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p>
                      <a:pPr marL="0" lvl="0" indent="0" algn="l" rtl="0">
                        <a:spcBef>
                          <a:spcPts val="0"/>
                        </a:spcBef>
                        <a:spcAft>
                          <a:spcPts val="0"/>
                        </a:spcAft>
                        <a:buNone/>
                      </a:pPr>
                      <a:r>
                        <a:rPr lang="en-I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VULNERABILITIES:</a:t>
                      </a:r>
                    </a:p>
                    <a:p>
                      <a:pPr marL="285750" lvl="0" indent="-285750" algn="l" rtl="0">
                        <a:spcBef>
                          <a:spcPts val="0"/>
                        </a:spcBef>
                        <a:spcAft>
                          <a:spcPts val="0"/>
                        </a:spcAft>
                        <a:buFont typeface="Arial" panose="020B0604020202020204" pitchFamily="34" charset="0"/>
                        <a:buChar char="•"/>
                      </a:pPr>
                      <a:r>
                        <a:rPr lang="en-I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Every Server is reachable from the internet, which exposes them to external attacks like DDOS, DOS, Unauthorized Access, etc.</a:t>
                      </a:r>
                    </a:p>
                    <a:p>
                      <a:pPr marL="285750" lvl="0" indent="-285750" algn="l" rtl="0">
                        <a:spcBef>
                          <a:spcPts val="0"/>
                        </a:spcBef>
                        <a:spcAft>
                          <a:spcPts val="0"/>
                        </a:spcAft>
                        <a:buFont typeface="Arial" panose="020B0604020202020204" pitchFamily="34" charset="0"/>
                        <a:buChar char="•"/>
                      </a:pPr>
                      <a:r>
                        <a:rPr lang="en-I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Database and File Storage Servers should never be connected to the Internet directly, as they contain sensitive data.</a:t>
                      </a: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56133">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2. No Segmentation</a:t>
                      </a:r>
                      <a:endParaRPr sz="1800" b="1" dirty="0">
                        <a:latin typeface="Open Sans Light" panose="020F0502020204030204" pitchFamily="34" charset="0"/>
                        <a:ea typeface="Open Sans Light" panose="020F0502020204030204" pitchFamily="34" charset="0"/>
                        <a:cs typeface="Open Sans Light" panose="020F0502020204030204" pitchFamily="34" charset="0"/>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753832">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ISSUE:</a:t>
                      </a:r>
                      <a:r>
                        <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 Virtual Network contains a single subnet that includes all five servers.</a:t>
                      </a:r>
                    </a:p>
                    <a:p>
                      <a:pPr marL="0" lvl="0" indent="0" algn="l" rtl="0">
                        <a:spcBef>
                          <a:spcPts val="0"/>
                        </a:spcBef>
                        <a:spcAft>
                          <a:spcPts val="0"/>
                        </a:spcAft>
                        <a:buNone/>
                      </a:pPr>
                      <a:endPar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VULNERABILITY:</a:t>
                      </a:r>
                    </a:p>
                    <a:p>
                      <a:pPr marL="285750" lvl="0" indent="-285750" algn="l" rtl="0">
                        <a:spcBef>
                          <a:spcPts val="0"/>
                        </a:spcBef>
                        <a:spcAft>
                          <a:spcPts val="0"/>
                        </a:spcAft>
                        <a:buFont typeface="Arial" panose="020B0604020202020204" pitchFamily="34" charset="0"/>
                        <a:buChar char="•"/>
                      </a:pPr>
                      <a:r>
                        <a:rPr lang="en-I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If one server is compromised, an attacker can easily move laterally to another server.</a:t>
                      </a:r>
                    </a:p>
                    <a:p>
                      <a:pPr marL="285750" lvl="0" indent="-285750" algn="l" rtl="0">
                        <a:spcBef>
                          <a:spcPts val="0"/>
                        </a:spcBef>
                        <a:spcAft>
                          <a:spcPts val="0"/>
                        </a:spcAft>
                        <a:buFont typeface="Arial" panose="020B0604020202020204" pitchFamily="34" charset="0"/>
                        <a:buChar char="•"/>
                      </a:pPr>
                      <a:r>
                        <a:rPr lang="en-I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Internal Communication between these servers is not restricted or monitored, which can result in the spread of malware or sensitive data being corrupted.</a:t>
                      </a:r>
                      <a:endParaRPr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05006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5EFF7-B1BD-D721-CFE3-E754C8DD17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D7B0B-CC6B-AD68-4A0B-1B8EE12628EB}"/>
              </a:ext>
            </a:extLst>
          </p:cNvPr>
          <p:cNvSpPr>
            <a:spLocks noGrp="1"/>
          </p:cNvSpPr>
          <p:nvPr>
            <p:ph type="title"/>
          </p:nvPr>
        </p:nvSpPr>
        <p:spPr/>
        <p:txBody>
          <a:bodyPr/>
          <a:lstStyle/>
          <a:p>
            <a:pPr algn="ctr"/>
            <a:r>
              <a:rPr kumimoji="0" lang="en" sz="2800" b="1" i="1" u="sng"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Network Vulnerabilities</a:t>
            </a:r>
            <a:endParaRPr lang="en-IN" sz="2800" b="1" i="1" u="sng" dirty="0"/>
          </a:p>
        </p:txBody>
      </p:sp>
      <p:graphicFrame>
        <p:nvGraphicFramePr>
          <p:cNvPr id="3" name="Table 2">
            <a:extLst>
              <a:ext uri="{FF2B5EF4-FFF2-40B4-BE49-F238E27FC236}">
                <a16:creationId xmlns:a16="http://schemas.microsoft.com/office/drawing/2014/main" id="{756BABBD-BE47-3D50-35A3-169DFC9C0A64}"/>
              </a:ext>
            </a:extLst>
          </p:cNvPr>
          <p:cNvGraphicFramePr>
            <a:graphicFrameLocks noGrp="1"/>
          </p:cNvGraphicFramePr>
          <p:nvPr>
            <p:extLst>
              <p:ext uri="{D42A27DB-BD31-4B8C-83A1-F6EECF244321}">
                <p14:modId xmlns:p14="http://schemas.microsoft.com/office/powerpoint/2010/main" val="154930756"/>
              </p:ext>
            </p:extLst>
          </p:nvPr>
        </p:nvGraphicFramePr>
        <p:xfrm>
          <a:off x="233775" y="1929653"/>
          <a:ext cx="6390529" cy="3629334"/>
        </p:xfrm>
        <a:graphic>
          <a:graphicData uri="http://schemas.openxmlformats.org/drawingml/2006/table">
            <a:tbl>
              <a:tblPr firstRow="1" bandRow="1">
                <a:tableStyleId>{5940675A-B579-460E-94D1-54222C63F5DA}</a:tableStyleId>
              </a:tblPr>
              <a:tblGrid>
                <a:gridCol w="6390529">
                  <a:extLst>
                    <a:ext uri="{9D8B030D-6E8A-4147-A177-3AD203B41FA5}">
                      <a16:colId xmlns:a16="http://schemas.microsoft.com/office/drawing/2014/main" val="3942687105"/>
                    </a:ext>
                  </a:extLst>
                </a:gridCol>
              </a:tblGrid>
              <a:tr h="450476">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3. No Firewall and SIEM Implementation</a:t>
                      </a:r>
                      <a:endParaRPr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tc>
                <a:extLst>
                  <a:ext uri="{0D108BD9-81ED-4DB2-BD59-A6C34878D82A}">
                    <a16:rowId xmlns:a16="http://schemas.microsoft.com/office/drawing/2014/main" val="2548586263"/>
                  </a:ext>
                </a:extLst>
              </a:tr>
              <a:tr h="1431905">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ISSUE:</a:t>
                      </a:r>
                      <a:r>
                        <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The current network setup lacks both a firewall for traffic control and a SIEM for centralised monitoring.</a:t>
                      </a:r>
                    </a:p>
                    <a:p>
                      <a:pPr marL="0" lvl="0" indent="0" algn="l" rtl="0">
                        <a:spcBef>
                          <a:spcPts val="0"/>
                        </a:spcBef>
                        <a:spcAft>
                          <a:spcPts val="0"/>
                        </a:spcAft>
                        <a:buNone/>
                      </a:pPr>
                      <a:endPar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VULNERABILITY:</a:t>
                      </a:r>
                    </a:p>
                    <a:p>
                      <a:pPr marL="285750" lvl="0" indent="-285750" algn="l" rtl="0">
                        <a:spcBef>
                          <a:spcPts val="0"/>
                        </a:spcBef>
                        <a:spcAft>
                          <a:spcPts val="0"/>
                        </a:spcAft>
                        <a:buFont typeface="Arial" panose="020B0604020202020204" pitchFamily="34" charset="0"/>
                        <a:buChar char="•"/>
                      </a:pPr>
                      <a:r>
                        <a:rPr lang="e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Without a Firewall, all inbound and outbound traffic is allowed by default. Traffic can include malicious traffic that can compromise the servers.</a:t>
                      </a:r>
                    </a:p>
                    <a:p>
                      <a:pPr marL="285750" lvl="0" indent="-285750" algn="l" rtl="0">
                        <a:spcBef>
                          <a:spcPts val="0"/>
                        </a:spcBef>
                        <a:spcAft>
                          <a:spcPts val="0"/>
                        </a:spcAft>
                        <a:buFont typeface="Arial" panose="020B0604020202020204" pitchFamily="34" charset="0"/>
                        <a:buChar char="•"/>
                      </a:pPr>
                      <a:r>
                        <a:rPr lang="e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Without SIEM, suspicious activities like unauthorised access, brute-force attempts, and privilege escalation go unnoticed.</a:t>
                      </a:r>
                    </a:p>
                    <a:p>
                      <a:pPr marL="285750" lvl="0" indent="-285750" algn="l" rtl="0">
                        <a:spcBef>
                          <a:spcPts val="0"/>
                        </a:spcBef>
                        <a:spcAft>
                          <a:spcPts val="0"/>
                        </a:spcAft>
                        <a:buFont typeface="Arial" panose="020B0604020202020204" pitchFamily="34" charset="0"/>
                        <a:buChar char="•"/>
                      </a:pPr>
                      <a:r>
                        <a:rPr lang="e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Many Security Standards (like ISO, NIST, etc) require proper network segmentation and event logging </a:t>
                      </a:r>
                    </a:p>
                  </a:txBody>
                  <a:tcPr marL="80669" marR="80669" marT="80669" marB="80669"/>
                </a:tc>
                <a:extLst>
                  <a:ext uri="{0D108BD9-81ED-4DB2-BD59-A6C34878D82A}">
                    <a16:rowId xmlns:a16="http://schemas.microsoft.com/office/drawing/2014/main" val="1181468206"/>
                  </a:ext>
                </a:extLst>
              </a:tr>
            </a:tbl>
          </a:graphicData>
        </a:graphic>
      </p:graphicFrame>
    </p:spTree>
    <p:extLst>
      <p:ext uri="{BB962C8B-B14F-4D97-AF65-F5344CB8AC3E}">
        <p14:creationId xmlns:p14="http://schemas.microsoft.com/office/powerpoint/2010/main" val="14674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1A2D0-AA22-4A70-95A6-06885D778D99}"/>
              </a:ext>
            </a:extLst>
          </p:cNvPr>
          <p:cNvSpPr>
            <a:spLocks noGrp="1"/>
          </p:cNvSpPr>
          <p:nvPr>
            <p:ph type="title"/>
          </p:nvPr>
        </p:nvSpPr>
        <p:spPr/>
        <p:txBody>
          <a:bodyPr/>
          <a:lstStyle/>
          <a:p>
            <a:r>
              <a:rPr kumimoji="0" lang="en" sz="3200"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Network Redesign</a:t>
            </a:r>
            <a:endParaRPr lang="en-IN" dirty="0"/>
          </a:p>
        </p:txBody>
      </p:sp>
      <p:pic>
        <p:nvPicPr>
          <p:cNvPr id="5" name="Picture 4" descr="A diagram of a network&#10;&#10;AI-generated content may be incorrect.">
            <a:extLst>
              <a:ext uri="{FF2B5EF4-FFF2-40B4-BE49-F238E27FC236}">
                <a16:creationId xmlns:a16="http://schemas.microsoft.com/office/drawing/2014/main" id="{8E6931B6-5AE3-506C-7CA7-C9AD6E79CE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4" y="2492959"/>
            <a:ext cx="6858000" cy="6107906"/>
          </a:xfrm>
          <a:prstGeom prst="rect">
            <a:avLst/>
          </a:prstGeom>
        </p:spPr>
      </p:pic>
    </p:spTree>
    <p:extLst>
      <p:ext uri="{BB962C8B-B14F-4D97-AF65-F5344CB8AC3E}">
        <p14:creationId xmlns:p14="http://schemas.microsoft.com/office/powerpoint/2010/main" val="1439456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a:xfrm>
            <a:off x="233735" y="535661"/>
            <a:ext cx="6390529" cy="1018091"/>
          </a:xfrm>
        </p:spPr>
        <p:txBody>
          <a:bodyPr/>
          <a:lstStyle/>
          <a:p>
            <a:pPr algn="ctr"/>
            <a:r>
              <a:rPr lang="en" sz="2800" b="1" i="1" u="sng" dirty="0"/>
              <a:t>Convince the Stakeholders</a:t>
            </a:r>
            <a:endParaRPr lang="en-IN" sz="2800" b="1" i="1" u="sng" dirty="0"/>
          </a:p>
        </p:txBody>
      </p:sp>
      <p:graphicFrame>
        <p:nvGraphicFramePr>
          <p:cNvPr id="4" name="Google Shape;105;p18">
            <a:extLst>
              <a:ext uri="{FF2B5EF4-FFF2-40B4-BE49-F238E27FC236}">
                <a16:creationId xmlns:a16="http://schemas.microsoft.com/office/drawing/2014/main" id="{7BD3A79D-5556-44F2-81EB-A893E88CFB14}"/>
              </a:ext>
            </a:extLst>
          </p:cNvPr>
          <p:cNvGraphicFramePr/>
          <p:nvPr>
            <p:extLst>
              <p:ext uri="{D42A27DB-BD31-4B8C-83A1-F6EECF244321}">
                <p14:modId xmlns:p14="http://schemas.microsoft.com/office/powerpoint/2010/main" val="2174006295"/>
              </p:ext>
            </p:extLst>
          </p:nvPr>
        </p:nvGraphicFramePr>
        <p:xfrm>
          <a:off x="264860" y="1553752"/>
          <a:ext cx="6359404" cy="7651801"/>
        </p:xfrm>
        <a:graphic>
          <a:graphicData uri="http://schemas.openxmlformats.org/drawingml/2006/table">
            <a:tbl>
              <a:tblPr>
                <a:noFill/>
              </a:tblPr>
              <a:tblGrid>
                <a:gridCol w="6359404">
                  <a:extLst>
                    <a:ext uri="{9D8B030D-6E8A-4147-A177-3AD203B41FA5}">
                      <a16:colId xmlns:a16="http://schemas.microsoft.com/office/drawing/2014/main" val="20000"/>
                    </a:ext>
                  </a:extLst>
                </a:gridCol>
              </a:tblGrid>
              <a:tr h="459750">
                <a:tc>
                  <a:txBody>
                    <a:bodyPr/>
                    <a:lstStyle/>
                    <a:p>
                      <a:pPr marL="0" lvl="0" indent="0" algn="l" rtl="0">
                        <a:lnSpc>
                          <a:spcPct val="115000"/>
                        </a:lnSpc>
                        <a:spcBef>
                          <a:spcPts val="0"/>
                        </a:spcBef>
                        <a:spcAft>
                          <a:spcPts val="0"/>
                        </a:spcAft>
                        <a:buNone/>
                      </a:pPr>
                      <a:r>
                        <a:rPr lang="en" sz="20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Light"/>
                        </a:rPr>
                        <a:t>Why do we need to add firewalls to our network?</a:t>
                      </a:r>
                      <a:endParaRPr sz="2000" b="1" dirty="0">
                        <a:latin typeface="Open Sans Light" panose="020F0502020204030204" pitchFamily="34" charset="0"/>
                        <a:ea typeface="Open Sans Light" panose="020F0502020204030204" pitchFamily="34" charset="0"/>
                        <a:cs typeface="Open Sans Light" panose="020F0502020204030204" pitchFamily="34" charset="0"/>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329659">
                <a:tc>
                  <a:txBody>
                    <a:bodyPr/>
                    <a:lstStyle/>
                    <a:p>
                      <a:pPr marL="0" lvl="0" indent="0" algn="l" rtl="0">
                        <a:spcBef>
                          <a:spcPts val="0"/>
                        </a:spcBef>
                        <a:spcAft>
                          <a:spcPts val="0"/>
                        </a:spcAft>
                        <a:buNone/>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Firewalls make sure that only safe and intended traffic travels through your network, protecting your data, systems, and users from external and internal threats.</a:t>
                      </a:r>
                    </a:p>
                    <a:p>
                      <a:pPr marL="0" lvl="0" indent="0" algn="l" rtl="0">
                        <a:spcBef>
                          <a:spcPts val="0"/>
                        </a:spcBef>
                        <a:spcAft>
                          <a:spcPts val="0"/>
                        </a:spcAft>
                        <a:buNone/>
                      </a:pPr>
                      <a:endParaRPr lang="en-US"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p>
                      <a:r>
                        <a:rPr lang="en-US" sz="1800" b="0" dirty="0">
                          <a:latin typeface="Open Sans Light" panose="020F0502020204030204" pitchFamily="34" charset="0"/>
                          <a:ea typeface="Open Sans Light" panose="020F0502020204030204" pitchFamily="34" charset="0"/>
                          <a:cs typeface="Open Sans Light" panose="020F0502020204030204" pitchFamily="34" charset="0"/>
                        </a:rPr>
                        <a:t>Firewalls are a defense in our network security. They act as intelligent gatekeepers that control and monitor all incoming and outgoing traffic.</a:t>
                      </a:r>
                    </a:p>
                    <a:p>
                      <a:endParaRPr lang="en-US" sz="1800" dirty="0">
                        <a:latin typeface="Open Sans Light" panose="020F0502020204030204" pitchFamily="34" charset="0"/>
                        <a:ea typeface="Open Sans Light" panose="020F0502020204030204" pitchFamily="34" charset="0"/>
                        <a:cs typeface="Open Sans Light" panose="020F0502020204030204" pitchFamily="34" charset="0"/>
                      </a:endParaRPr>
                    </a:p>
                    <a:p>
                      <a:r>
                        <a:rPr lang="en-US" sz="1800" dirty="0">
                          <a:latin typeface="Open Sans Light" panose="020F0502020204030204" pitchFamily="34" charset="0"/>
                          <a:ea typeface="Open Sans Light" panose="020F0502020204030204" pitchFamily="34" charset="0"/>
                          <a:cs typeface="Open Sans Light" panose="020F0502020204030204" pitchFamily="34" charset="0"/>
                        </a:rPr>
                        <a:t>Without firewalls, every server is directly exposed to the Internet, allowing attackers to scan, exploit, or gain </a:t>
                      </a:r>
                      <a:r>
                        <a:rPr lang="en-US" sz="1800" dirty="0" err="1">
                          <a:latin typeface="Open Sans Light" panose="020F0502020204030204" pitchFamily="34" charset="0"/>
                          <a:ea typeface="Open Sans Light" panose="020F0502020204030204" pitchFamily="34" charset="0"/>
                          <a:cs typeface="Open Sans Light" panose="020F0502020204030204" pitchFamily="34" charset="0"/>
                        </a:rPr>
                        <a:t>unauthorised</a:t>
                      </a:r>
                      <a:r>
                        <a:rPr lang="en-US" sz="1800" dirty="0">
                          <a:latin typeface="Open Sans Light" panose="020F0502020204030204" pitchFamily="34" charset="0"/>
                          <a:ea typeface="Open Sans Light" panose="020F0502020204030204" pitchFamily="34" charset="0"/>
                          <a:cs typeface="Open Sans Light" panose="020F0502020204030204" pitchFamily="34" charset="0"/>
                        </a:rPr>
                        <a:t> access to our systems.</a:t>
                      </a:r>
                    </a:p>
                    <a:p>
                      <a:pPr marL="0" lvl="0" indent="0" algn="l" rtl="0">
                        <a:spcBef>
                          <a:spcPts val="0"/>
                        </a:spcBef>
                        <a:spcAft>
                          <a:spcPts val="0"/>
                        </a:spcAft>
                        <a:buNone/>
                      </a:pPr>
                      <a:endParaRPr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762051">
                <a:tc>
                  <a:txBody>
                    <a:bodyPr/>
                    <a:lstStyle/>
                    <a:p>
                      <a:pPr marL="0" lvl="0" indent="0" algn="l" rtl="0">
                        <a:lnSpc>
                          <a:spcPct val="115000"/>
                        </a:lnSpc>
                        <a:spcBef>
                          <a:spcPts val="0"/>
                        </a:spcBef>
                        <a:spcAft>
                          <a:spcPts val="0"/>
                        </a:spcAft>
                        <a:buNone/>
                      </a:pPr>
                      <a:r>
                        <a:rPr lang="en" sz="20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Light"/>
                        </a:rPr>
                        <a:t>What is the benefit of having different areas in our network for web servers and database servers?</a:t>
                      </a:r>
                      <a:endParaRPr sz="2000" b="1" dirty="0">
                        <a:latin typeface="Open Sans Light" panose="020F0502020204030204" pitchFamily="34" charset="0"/>
                        <a:ea typeface="Open Sans Light" panose="020F0502020204030204" pitchFamily="34" charset="0"/>
                        <a:cs typeface="Open Sans Light" panose="020F0502020204030204" pitchFamily="34" charset="0"/>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803919">
                <a:tc>
                  <a:txBody>
                    <a:bodyPr/>
                    <a:lstStyle/>
                    <a:p>
                      <a:pPr marL="0" lvl="0" indent="0" algn="l" rtl="0">
                        <a:spcBef>
                          <a:spcPts val="0"/>
                        </a:spcBef>
                        <a:spcAft>
                          <a:spcPts val="0"/>
                        </a:spcAft>
                        <a:buClr>
                          <a:schemeClr val="dk1"/>
                        </a:buClr>
                        <a:buSzPts val="1100"/>
                        <a:buFont typeface="Arial"/>
                        <a:buNone/>
                      </a:pPr>
                      <a:r>
                        <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Separating networks into different areas is typically known as ‘Network Segmentation’. It prevents attackers from moving freely inside the network if one system is compromised.</a:t>
                      </a:r>
                    </a:p>
                    <a:p>
                      <a:pPr marL="0" lvl="0" indent="0" algn="l" rtl="0">
                        <a:spcBef>
                          <a:spcPts val="0"/>
                        </a:spcBef>
                        <a:spcAft>
                          <a:spcPts val="0"/>
                        </a:spcAft>
                        <a:buClr>
                          <a:schemeClr val="dk1"/>
                        </a:buClr>
                        <a:buSzPts val="1100"/>
                        <a:buFont typeface="Arial"/>
                        <a:buNone/>
                      </a:pPr>
                      <a:endPar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p>
                      <a:pPr marL="0" lvl="0" indent="0" algn="l" rtl="0">
                        <a:spcBef>
                          <a:spcPts val="0"/>
                        </a:spcBef>
                        <a:spcAft>
                          <a:spcPts val="0"/>
                        </a:spcAft>
                        <a:buClr>
                          <a:schemeClr val="dk1"/>
                        </a:buClr>
                        <a:buSzPts val="1100"/>
                        <a:buFont typeface="Arial"/>
                        <a:buNone/>
                      </a:pPr>
                      <a:r>
                        <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Database and File Servers are hidden and protected from the Internet. Only Web Servers are in direct contact with the Internet.</a:t>
                      </a:r>
                    </a:p>
                    <a:p>
                      <a:pPr marL="0" lvl="0" indent="0" algn="l" rtl="0">
                        <a:spcBef>
                          <a:spcPts val="0"/>
                        </a:spcBef>
                        <a:spcAft>
                          <a:spcPts val="0"/>
                        </a:spcAft>
                        <a:buClr>
                          <a:schemeClr val="dk1"/>
                        </a:buClr>
                        <a:buSzPts val="1100"/>
                        <a:buFont typeface="Arial"/>
                        <a:buNone/>
                      </a:pPr>
                      <a:r>
                        <a:rPr lang="en"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If a web-server is compromised, an attacker cannot access the database or file-server directly.</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44353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11A02-796F-4008-E6EF-3289F59D7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F8210-C151-7DA8-D7D6-37081511239A}"/>
              </a:ext>
            </a:extLst>
          </p:cNvPr>
          <p:cNvSpPr>
            <a:spLocks noGrp="1"/>
          </p:cNvSpPr>
          <p:nvPr>
            <p:ph type="title"/>
          </p:nvPr>
        </p:nvSpPr>
        <p:spPr/>
        <p:txBody>
          <a:bodyPr/>
          <a:lstStyle/>
          <a:p>
            <a:r>
              <a:rPr lang="en" sz="3200" dirty="0"/>
              <a:t>Convince the Stakeholders</a:t>
            </a:r>
            <a:endParaRPr lang="en-IN" dirty="0"/>
          </a:p>
        </p:txBody>
      </p:sp>
      <p:graphicFrame>
        <p:nvGraphicFramePr>
          <p:cNvPr id="4" name="Google Shape;105;p18">
            <a:extLst>
              <a:ext uri="{FF2B5EF4-FFF2-40B4-BE49-F238E27FC236}">
                <a16:creationId xmlns:a16="http://schemas.microsoft.com/office/drawing/2014/main" id="{62DDB0FF-3969-771B-FAC4-56F30642A895}"/>
              </a:ext>
            </a:extLst>
          </p:cNvPr>
          <p:cNvGraphicFramePr/>
          <p:nvPr>
            <p:extLst>
              <p:ext uri="{D42A27DB-BD31-4B8C-83A1-F6EECF244321}">
                <p14:modId xmlns:p14="http://schemas.microsoft.com/office/powerpoint/2010/main" val="3400398865"/>
              </p:ext>
            </p:extLst>
          </p:nvPr>
        </p:nvGraphicFramePr>
        <p:xfrm>
          <a:off x="233696" y="1667597"/>
          <a:ext cx="6359404" cy="7032991"/>
        </p:xfrm>
        <a:graphic>
          <a:graphicData uri="http://schemas.openxmlformats.org/drawingml/2006/table">
            <a:tbl>
              <a:tblPr>
                <a:noFill/>
              </a:tblPr>
              <a:tblGrid>
                <a:gridCol w="6359404">
                  <a:extLst>
                    <a:ext uri="{9D8B030D-6E8A-4147-A177-3AD203B41FA5}">
                      <a16:colId xmlns:a16="http://schemas.microsoft.com/office/drawing/2014/main" val="20000"/>
                    </a:ext>
                  </a:extLst>
                </a:gridCol>
              </a:tblGrid>
              <a:tr h="0">
                <a:tc>
                  <a:txBody>
                    <a:bodyPr/>
                    <a:lstStyle/>
                    <a:p>
                      <a:pPr marL="0" lvl="0" indent="0" algn="l" rtl="0">
                        <a:lnSpc>
                          <a:spcPct val="115000"/>
                        </a:lnSpc>
                        <a:spcBef>
                          <a:spcPts val="0"/>
                        </a:spcBef>
                        <a:spcAft>
                          <a:spcPts val="0"/>
                        </a:spcAft>
                        <a:buNone/>
                      </a:pPr>
                      <a:r>
                        <a:rPr lang="en-I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(CONTINUE)</a:t>
                      </a:r>
                      <a:endParaRPr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394979">
                <a:tc>
                  <a:txBody>
                    <a:bodyPr/>
                    <a:lstStyle/>
                    <a:p>
                      <a:pPr marL="0" lvl="0" indent="0" algn="l" rtl="0">
                        <a:spcBef>
                          <a:spcPts val="0"/>
                        </a:spcBef>
                        <a:spcAft>
                          <a:spcPts val="0"/>
                        </a:spcAft>
                        <a:buNone/>
                      </a:pPr>
                      <a:r>
                        <a:rPr lang="en-I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Traffic between these areas can be filtered out and analysed by the Firewalls, IDS/IPS, and SIEM for any malicious or suspicious activity.</a:t>
                      </a:r>
                      <a:endParaRPr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750197">
                <a:tc>
                  <a:txBody>
                    <a:bodyPr/>
                    <a:lstStyle/>
                    <a:p>
                      <a:pPr marL="0" lvl="0" indent="0" algn="l" rtl="0">
                        <a:lnSpc>
                          <a:spcPct val="115000"/>
                        </a:lnSpc>
                        <a:spcBef>
                          <a:spcPts val="0"/>
                        </a:spcBef>
                        <a:spcAft>
                          <a:spcPts val="0"/>
                        </a:spcAft>
                        <a:buNone/>
                      </a:pPr>
                      <a:r>
                        <a:rPr lang="en" sz="20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Light"/>
                        </a:rPr>
                        <a:t>What does a VPN do for our connection to the file storage server?</a:t>
                      </a:r>
                      <a:endParaRPr sz="20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719246">
                <a:tc>
                  <a:txBody>
                    <a:bodyPr/>
                    <a:lstStyle/>
                    <a:p>
                      <a:pPr marL="0" lvl="0" indent="0" algn="l" rtl="0">
                        <a:spcBef>
                          <a:spcPts val="0"/>
                        </a:spcBef>
                        <a:spcAft>
                          <a:spcPts val="0"/>
                        </a:spcAft>
                        <a:buNone/>
                      </a:pPr>
                      <a:r>
                        <a:rPr lang="en-I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A Virtual Private Network (VPN) provides a secure connection between our on-premises network and the cloud-based file storage server.</a:t>
                      </a:r>
                    </a:p>
                    <a:p>
                      <a:pPr marL="0" lvl="0" indent="0" algn="l" rtl="0">
                        <a:spcBef>
                          <a:spcPts val="0"/>
                        </a:spcBef>
                        <a:spcAft>
                          <a:spcPts val="0"/>
                        </a:spcAft>
                        <a:buNone/>
                      </a:pPr>
                      <a:endParaRPr lang="en-I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p>
                      <a:pPr marL="0" lvl="0" indent="0" algn="l" rtl="0">
                        <a:spcBef>
                          <a:spcPts val="0"/>
                        </a:spcBef>
                        <a:spcAft>
                          <a:spcPts val="0"/>
                        </a:spcAft>
                        <a:buNone/>
                      </a:pPr>
                      <a:r>
                        <a:rPr lang="en-IN"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Without a VPN, </a:t>
                      </a:r>
                      <a:r>
                        <a:rPr lang="en-US" sz="1800" b="0" dirty="0">
                          <a:latin typeface="Open Sans Light" panose="020F0502020204030204" pitchFamily="34" charset="0"/>
                          <a:ea typeface="Open Sans Light" panose="020F0502020204030204" pitchFamily="34" charset="0"/>
                          <a:cs typeface="Open Sans Light" panose="020F0502020204030204" pitchFamily="34" charset="0"/>
                        </a:rPr>
                        <a:t>accessing the file server over the Internet would expose sensitive data to interception or </a:t>
                      </a:r>
                      <a:r>
                        <a:rPr lang="en-US" sz="1800" b="0" dirty="0" err="1">
                          <a:latin typeface="Open Sans Light" panose="020F0502020204030204" pitchFamily="34" charset="0"/>
                          <a:ea typeface="Open Sans Light" panose="020F0502020204030204" pitchFamily="34" charset="0"/>
                          <a:cs typeface="Open Sans Light" panose="020F0502020204030204" pitchFamily="34" charset="0"/>
                        </a:rPr>
                        <a:t>unauthorised</a:t>
                      </a:r>
                      <a:r>
                        <a:rPr lang="en-US" sz="1800" b="0" dirty="0">
                          <a:latin typeface="Open Sans Light" panose="020F0502020204030204" pitchFamily="34" charset="0"/>
                          <a:ea typeface="Open Sans Light" panose="020F0502020204030204" pitchFamily="34" charset="0"/>
                          <a:cs typeface="Open Sans Light" panose="020F0502020204030204" pitchFamily="34" charset="0"/>
                        </a:rPr>
                        <a:t> access.</a:t>
                      </a:r>
                    </a:p>
                    <a:p>
                      <a:pPr marL="0" lvl="0" indent="0" algn="l" rtl="0">
                        <a:spcBef>
                          <a:spcPts val="0"/>
                        </a:spcBef>
                        <a:spcAft>
                          <a:spcPts val="0"/>
                        </a:spcAft>
                        <a:buNone/>
                      </a:pPr>
                      <a:endParaRPr lang="en-US"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p>
                      <a:pPr algn="l"/>
                      <a:r>
                        <a:rPr lang="en-US" sz="1800" b="0" dirty="0">
                          <a:latin typeface="Open Sans Light" panose="020F0502020204030204" pitchFamily="34" charset="0"/>
                          <a:ea typeface="Open Sans Light" panose="020F0502020204030204" pitchFamily="34" charset="0"/>
                          <a:cs typeface="Open Sans Light" panose="020F0502020204030204" pitchFamily="34" charset="0"/>
                        </a:rPr>
                        <a:t>All data is encrypted, preventing eavesdropping or tampering while in transit. Only authorized users and devices can connect — verified through authentication </a:t>
                      </a:r>
                      <a:r>
                        <a:rPr lang="en-US" sz="1800" b="0" dirty="0" err="1">
                          <a:latin typeface="Open Sans Light" panose="020F0502020204030204" pitchFamily="34" charset="0"/>
                          <a:ea typeface="Open Sans Light" panose="020F0502020204030204" pitchFamily="34" charset="0"/>
                          <a:cs typeface="Open Sans Light" panose="020F0502020204030204" pitchFamily="34" charset="0"/>
                        </a:rPr>
                        <a:t>mechanisms.The</a:t>
                      </a:r>
                      <a:r>
                        <a:rPr lang="en-US" sz="1800" b="0" dirty="0">
                          <a:latin typeface="Open Sans Light" panose="020F0502020204030204" pitchFamily="34" charset="0"/>
                          <a:ea typeface="Open Sans Light" panose="020F0502020204030204" pitchFamily="34" charset="0"/>
                          <a:cs typeface="Open Sans Light" panose="020F0502020204030204" pitchFamily="34" charset="0"/>
                        </a:rPr>
                        <a:t> file server remains private, not exposed to the public Internet.</a:t>
                      </a:r>
                    </a:p>
                    <a:p>
                      <a:pPr algn="l"/>
                      <a:endParaRPr lang="en-US" sz="1800" b="0" dirty="0">
                        <a:latin typeface="Open Sans Light" panose="020F0502020204030204" pitchFamily="34" charset="0"/>
                        <a:ea typeface="Open Sans Light" panose="020F0502020204030204" pitchFamily="34" charset="0"/>
                        <a:cs typeface="Open Sans Light" panose="020F0502020204030204" pitchFamily="34" charset="0"/>
                      </a:endParaRPr>
                    </a:p>
                    <a:p>
                      <a:pPr algn="l"/>
                      <a:r>
                        <a:rPr lang="en-US" sz="1800" b="0" dirty="0">
                          <a:latin typeface="Open Sans Light" panose="020F0502020204030204" pitchFamily="34" charset="0"/>
                          <a:ea typeface="Open Sans Light" panose="020F0502020204030204" pitchFamily="34" charset="0"/>
                          <a:cs typeface="Open Sans Light" panose="020F0502020204030204" pitchFamily="34" charset="0"/>
                        </a:rPr>
                        <a:t>Access can be logged and monitored, helping detect any abnormal activity through the SIEM.</a:t>
                      </a:r>
                    </a:p>
                    <a:p>
                      <a:pPr marL="0" lvl="0" indent="0" algn="l" rtl="0">
                        <a:spcBef>
                          <a:spcPts val="0"/>
                        </a:spcBef>
                        <a:spcAft>
                          <a:spcPts val="0"/>
                        </a:spcAft>
                        <a:buNone/>
                      </a:pPr>
                      <a:endParaRPr sz="18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33649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2:</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Building</a:t>
            </a:r>
            <a:r>
              <a:rPr kumimoji="0" lang="en-US" sz="3200" b="0" i="0" u="none" strike="noStrike" kern="1200" cap="none" spc="0" normalizeH="0" baseline="0" noProof="0" dirty="0">
                <a:ln>
                  <a:noFill/>
                </a:ln>
                <a:solidFill>
                  <a:srgbClr val="FFFFFF"/>
                </a:solidFill>
                <a:effectLst/>
                <a:uLnTx/>
                <a:uFillTx/>
                <a:latin typeface="Corbel" panose="020B0503020204020204"/>
                <a:ea typeface="+mn-ea"/>
                <a:cs typeface="+mn-cs"/>
              </a:rPr>
              <a:t> a secure Network Architecture in VirtualBox</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467847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pPr algn="ctr"/>
            <a:r>
              <a:rPr lang="en" sz="2800" b="1" i="1" u="sng" dirty="0"/>
              <a:t>Public Network Subnet</a:t>
            </a:r>
            <a:endParaRPr sz="2800" b="1" i="1" u="sng"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pic>
        <p:nvPicPr>
          <p:cNvPr id="5" name="Picture 4" descr="A screenshot of a computer&#10;&#10;AI-generated content may be incorrect.">
            <a:extLst>
              <a:ext uri="{FF2B5EF4-FFF2-40B4-BE49-F238E27FC236}">
                <a16:creationId xmlns:a16="http://schemas.microsoft.com/office/drawing/2014/main" id="{3C02CB89-E8F1-ED12-3269-8A082347A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303059"/>
            <a:ext cx="6858000" cy="4639236"/>
          </a:xfrm>
          <a:prstGeom prst="rect">
            <a:avLst/>
          </a:prstGeom>
        </p:spPr>
      </p:pic>
      <p:sp>
        <p:nvSpPr>
          <p:cNvPr id="10" name="TextBox 9">
            <a:extLst>
              <a:ext uri="{FF2B5EF4-FFF2-40B4-BE49-F238E27FC236}">
                <a16:creationId xmlns:a16="http://schemas.microsoft.com/office/drawing/2014/main" id="{8386EF59-36B2-0F10-02D5-32454BABC977}"/>
              </a:ext>
            </a:extLst>
          </p:cNvPr>
          <p:cNvSpPr txBox="1"/>
          <p:nvPr/>
        </p:nvSpPr>
        <p:spPr>
          <a:xfrm>
            <a:off x="322729" y="2166168"/>
            <a:ext cx="6301496" cy="1754326"/>
          </a:xfrm>
          <a:prstGeom prst="rect">
            <a:avLst/>
          </a:prstGeom>
          <a:noFill/>
        </p:spPr>
        <p:txBody>
          <a:bodyPr wrap="square" rtlCol="0">
            <a:spAutoFit/>
          </a:bodyPr>
          <a:lstStyle/>
          <a:p>
            <a:r>
              <a:rPr lang="en-US" dirty="0">
                <a:latin typeface="Open Sans Light" panose="020F0502020204030204" pitchFamily="34" charset="0"/>
                <a:ea typeface="Open Sans Light" panose="020F0502020204030204" pitchFamily="34" charset="0"/>
                <a:cs typeface="Open Sans Light" panose="020F0502020204030204" pitchFamily="34" charset="0"/>
              </a:rPr>
              <a:t>A public-facing network segment that allows controlled access to external or internet resources.</a:t>
            </a:r>
          </a:p>
          <a:p>
            <a:br>
              <a:rPr lang="en-US" dirty="0">
                <a:latin typeface="Open Sans Light" panose="020F0502020204030204" pitchFamily="34" charset="0"/>
                <a:ea typeface="Open Sans Light" panose="020F0502020204030204" pitchFamily="34" charset="0"/>
                <a:cs typeface="Open Sans Light" panose="020F0502020204030204" pitchFamily="34" charset="0"/>
              </a:rPr>
            </a:br>
            <a:r>
              <a:rPr lang="en-US" dirty="0">
                <a:latin typeface="Open Sans Light" panose="020F0502020204030204" pitchFamily="34" charset="0"/>
                <a:ea typeface="Open Sans Light" panose="020F0502020204030204" pitchFamily="34" charset="0"/>
                <a:cs typeface="Open Sans Light" panose="020F0502020204030204" pitchFamily="34" charset="0"/>
              </a:rPr>
              <a:t>It provides internet connectivity to the VMs (for installing packages, updating repositories, or sending alerts) while still keeping the internal setup isolated from direct internet exposure.</a:t>
            </a:r>
          </a:p>
        </p:txBody>
      </p:sp>
    </p:spTree>
    <p:extLst>
      <p:ext uri="{BB962C8B-B14F-4D97-AF65-F5344CB8AC3E}">
        <p14:creationId xmlns:p14="http://schemas.microsoft.com/office/powerpoint/2010/main" val="1804705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pPr algn="ctr"/>
            <a:r>
              <a:rPr lang="en" sz="2800" b="1" i="1" u="sng" dirty="0"/>
              <a:t>Private Network Subnet</a:t>
            </a:r>
            <a:endParaRPr sz="2800" b="1" i="1" u="sng"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pic>
        <p:nvPicPr>
          <p:cNvPr id="5" name="Picture 4" descr="A screenshot of a computer&#10;&#10;AI-generated content may be incorrect.">
            <a:extLst>
              <a:ext uri="{FF2B5EF4-FFF2-40B4-BE49-F238E27FC236}">
                <a16:creationId xmlns:a16="http://schemas.microsoft.com/office/drawing/2014/main" id="{BD8E39E3-A403-71D4-6F35-52C1160DD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66758"/>
            <a:ext cx="6858000" cy="4621748"/>
          </a:xfrm>
          <a:prstGeom prst="rect">
            <a:avLst/>
          </a:prstGeom>
        </p:spPr>
      </p:pic>
      <p:sp>
        <p:nvSpPr>
          <p:cNvPr id="6" name="TextBox 5">
            <a:extLst>
              <a:ext uri="{FF2B5EF4-FFF2-40B4-BE49-F238E27FC236}">
                <a16:creationId xmlns:a16="http://schemas.microsoft.com/office/drawing/2014/main" id="{A63ECD94-0154-AEFE-0E9C-580BC55FD629}"/>
              </a:ext>
            </a:extLst>
          </p:cNvPr>
          <p:cNvSpPr txBox="1"/>
          <p:nvPr/>
        </p:nvSpPr>
        <p:spPr>
          <a:xfrm>
            <a:off x="295835" y="2117911"/>
            <a:ext cx="6328469" cy="2031325"/>
          </a:xfrm>
          <a:prstGeom prst="rect">
            <a:avLst/>
          </a:prstGeom>
          <a:noFill/>
        </p:spPr>
        <p:txBody>
          <a:bodyPr wrap="square" rtlCol="0">
            <a:spAutoFit/>
          </a:bodyPr>
          <a:lstStyle/>
          <a:p>
            <a:r>
              <a:rPr lang="en-US" dirty="0">
                <a:latin typeface="Open Sans Light" panose="020F0502020204030204" pitchFamily="34" charset="0"/>
                <a:ea typeface="Open Sans Light" panose="020F0502020204030204" pitchFamily="34" charset="0"/>
                <a:cs typeface="Open Sans Light" panose="020F0502020204030204" pitchFamily="34" charset="0"/>
              </a:rPr>
              <a:t>An isolated virtual network within VirtualBox that connects multiple VMs privately without exposing them to the internet.</a:t>
            </a:r>
          </a:p>
          <a:p>
            <a:br>
              <a:rPr lang="en-US" dirty="0">
                <a:latin typeface="Open Sans Light" panose="020F0502020204030204" pitchFamily="34" charset="0"/>
                <a:ea typeface="Open Sans Light" panose="020F0502020204030204" pitchFamily="34" charset="0"/>
                <a:cs typeface="Open Sans Light" panose="020F0502020204030204" pitchFamily="34" charset="0"/>
              </a:rPr>
            </a:br>
            <a:r>
              <a:rPr lang="en-US" dirty="0">
                <a:latin typeface="Open Sans Light" panose="020F0502020204030204" pitchFamily="34" charset="0"/>
                <a:ea typeface="Open Sans Light" panose="020F0502020204030204" pitchFamily="34" charset="0"/>
                <a:cs typeface="Open Sans Light" panose="020F0502020204030204" pitchFamily="34" charset="0"/>
              </a:rPr>
              <a:t>It enables secure communication between the </a:t>
            </a:r>
            <a:r>
              <a:rPr lang="en-US" b="1" dirty="0">
                <a:latin typeface="Open Sans Light" panose="020F0502020204030204" pitchFamily="34" charset="0"/>
                <a:ea typeface="Open Sans Light" panose="020F0502020204030204" pitchFamily="34" charset="0"/>
                <a:cs typeface="Open Sans Light" panose="020F0502020204030204" pitchFamily="34" charset="0"/>
              </a:rPr>
              <a:t>Gateway</a:t>
            </a:r>
            <a:r>
              <a:rPr lang="en-US" dirty="0">
                <a:latin typeface="Open Sans Light" panose="020F0502020204030204" pitchFamily="34" charset="0"/>
                <a:ea typeface="Open Sans Light" panose="020F0502020204030204" pitchFamily="34" charset="0"/>
                <a:cs typeface="Open Sans Light" panose="020F0502020204030204" pitchFamily="34" charset="0"/>
              </a:rPr>
              <a:t>, </a:t>
            </a:r>
            <a:r>
              <a:rPr lang="en-US" b="1" dirty="0">
                <a:latin typeface="Open Sans Light" panose="020F0502020204030204" pitchFamily="34" charset="0"/>
                <a:ea typeface="Open Sans Light" panose="020F0502020204030204" pitchFamily="34" charset="0"/>
                <a:cs typeface="Open Sans Light" panose="020F0502020204030204" pitchFamily="34" charset="0"/>
              </a:rPr>
              <a:t>ELK server</a:t>
            </a:r>
            <a:r>
              <a:rPr lang="en-US" dirty="0">
                <a:latin typeface="Open Sans Light" panose="020F0502020204030204" pitchFamily="34" charset="0"/>
                <a:ea typeface="Open Sans Light" panose="020F0502020204030204" pitchFamily="34" charset="0"/>
                <a:cs typeface="Open Sans Light" panose="020F0502020204030204" pitchFamily="34" charset="0"/>
              </a:rPr>
              <a:t>, and </a:t>
            </a:r>
            <a:r>
              <a:rPr lang="en-US" b="1" dirty="0" err="1">
                <a:latin typeface="Open Sans Light" panose="020F0502020204030204" pitchFamily="34" charset="0"/>
                <a:ea typeface="Open Sans Light" panose="020F0502020204030204" pitchFamily="34" charset="0"/>
                <a:cs typeface="Open Sans Light" panose="020F0502020204030204" pitchFamily="34" charset="0"/>
              </a:rPr>
              <a:t>Filebeat</a:t>
            </a:r>
            <a:r>
              <a:rPr lang="en-US" b="1" dirty="0">
                <a:latin typeface="Open Sans Light" panose="020F0502020204030204" pitchFamily="34" charset="0"/>
                <a:ea typeface="Open Sans Light" panose="020F0502020204030204" pitchFamily="34" charset="0"/>
                <a:cs typeface="Open Sans Light" panose="020F0502020204030204" pitchFamily="34" charset="0"/>
              </a:rPr>
              <a:t> (Kali)</a:t>
            </a:r>
            <a:r>
              <a:rPr lang="en-US" dirty="0">
                <a:latin typeface="Open Sans Light" panose="020F0502020204030204" pitchFamily="34" charset="0"/>
                <a:ea typeface="Open Sans Light" panose="020F0502020204030204" pitchFamily="34" charset="0"/>
                <a:cs typeface="Open Sans Light" panose="020F0502020204030204" pitchFamily="34" charset="0"/>
              </a:rPr>
              <a:t> machines — ensuring that sensitive log data stays within the private monitoring network.</a:t>
            </a:r>
          </a:p>
          <a:p>
            <a:endParaRPr lang="en-IN" dirty="0">
              <a:latin typeface="Open Sans Light" panose="020F0502020204030204" pitchFamily="34" charset="0"/>
              <a:ea typeface="Open Sans Light" panose="020F0502020204030204" pitchFamily="34" charset="0"/>
              <a:cs typeface="Open Sans Light" panose="020F0502020204030204" pitchFamily="34" charset="0"/>
            </a:endParaRPr>
          </a:p>
        </p:txBody>
      </p:sp>
    </p:spTree>
    <p:extLst>
      <p:ext uri="{BB962C8B-B14F-4D97-AF65-F5344CB8AC3E}">
        <p14:creationId xmlns:p14="http://schemas.microsoft.com/office/powerpoint/2010/main" val="3084094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5437381D-EF11-796C-BF03-7F2995884113}"/>
            </a:ext>
          </a:extLst>
        </p:cNvPr>
        <p:cNvGrpSpPr/>
        <p:nvPr/>
      </p:nvGrpSpPr>
      <p:grpSpPr>
        <a:xfrm>
          <a:off x="0" y="0"/>
          <a:ext cx="0" cy="0"/>
          <a:chOff x="0" y="0"/>
          <a:chExt cx="0" cy="0"/>
        </a:xfrm>
      </p:grpSpPr>
      <p:sp>
        <p:nvSpPr>
          <p:cNvPr id="116" name="Google Shape;116;p20">
            <a:extLst>
              <a:ext uri="{FF2B5EF4-FFF2-40B4-BE49-F238E27FC236}">
                <a16:creationId xmlns:a16="http://schemas.microsoft.com/office/drawing/2014/main" id="{2FD5F331-633B-E304-9950-CA1F2B9811CE}"/>
              </a:ext>
            </a:extLst>
          </p:cNvPr>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pPr algn="ctr"/>
            <a:r>
              <a:rPr lang="en" sz="2800" b="1" i="1" u="sng" dirty="0">
                <a:latin typeface="Open Sans Light" panose="020F0502020204030204" pitchFamily="34" charset="0"/>
                <a:ea typeface="Open Sans Light" panose="020F0502020204030204" pitchFamily="34" charset="0"/>
                <a:cs typeface="Open Sans Light" panose="020F0502020204030204" pitchFamily="34" charset="0"/>
              </a:rPr>
              <a:t>Internal Network Subnet</a:t>
            </a:r>
            <a:endParaRPr sz="2800" b="1" i="1" u="sng" dirty="0">
              <a:latin typeface="Open Sans Light" panose="020F0502020204030204" pitchFamily="34" charset="0"/>
              <a:ea typeface="Open Sans Light" panose="020F0502020204030204" pitchFamily="34" charset="0"/>
              <a:cs typeface="Open Sans Light" panose="020F0502020204030204" pitchFamily="34" charset="0"/>
            </a:endParaRPr>
          </a:p>
        </p:txBody>
      </p:sp>
      <p:sp>
        <p:nvSpPr>
          <p:cNvPr id="7" name="TextBox 6">
            <a:extLst>
              <a:ext uri="{FF2B5EF4-FFF2-40B4-BE49-F238E27FC236}">
                <a16:creationId xmlns:a16="http://schemas.microsoft.com/office/drawing/2014/main" id="{6B4213E8-FCD4-CA5F-7E8C-0968C4759B26}"/>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pic>
        <p:nvPicPr>
          <p:cNvPr id="5" name="Picture 4" descr="A screenshot of a computer&#10;&#10;AI-generated content may be incorrect.">
            <a:extLst>
              <a:ext uri="{FF2B5EF4-FFF2-40B4-BE49-F238E27FC236}">
                <a16:creationId xmlns:a16="http://schemas.microsoft.com/office/drawing/2014/main" id="{FA19C937-C9BE-51FA-1D6C-7253052F99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89611"/>
            <a:ext cx="6858000" cy="4511489"/>
          </a:xfrm>
          <a:prstGeom prst="rect">
            <a:avLst/>
          </a:prstGeom>
        </p:spPr>
      </p:pic>
      <p:sp>
        <p:nvSpPr>
          <p:cNvPr id="6" name="TextBox 5">
            <a:extLst>
              <a:ext uri="{FF2B5EF4-FFF2-40B4-BE49-F238E27FC236}">
                <a16:creationId xmlns:a16="http://schemas.microsoft.com/office/drawing/2014/main" id="{E4E593EA-543A-D981-5FC3-B81657E1CEB9}"/>
              </a:ext>
            </a:extLst>
          </p:cNvPr>
          <p:cNvSpPr txBox="1"/>
          <p:nvPr/>
        </p:nvSpPr>
        <p:spPr>
          <a:xfrm>
            <a:off x="322729" y="2166168"/>
            <a:ext cx="6301496" cy="1754326"/>
          </a:xfrm>
          <a:prstGeom prst="rect">
            <a:avLst/>
          </a:prstGeom>
          <a:noFill/>
        </p:spPr>
        <p:txBody>
          <a:bodyPr wrap="square" rtlCol="0">
            <a:spAutoFit/>
          </a:bodyPr>
          <a:lstStyle/>
          <a:p>
            <a:r>
              <a:rPr lang="en-US" dirty="0">
                <a:latin typeface="Open Sans Light" panose="020F0502020204030204" pitchFamily="34" charset="0"/>
                <a:ea typeface="Open Sans Light" panose="020F0502020204030204" pitchFamily="34" charset="0"/>
                <a:cs typeface="Open Sans Light" panose="020F0502020204030204" pitchFamily="34" charset="0"/>
              </a:rPr>
              <a:t>A smaller subnet inside the private DMZ, used for assigning static IPs (e.g., 192.168.10.x) to VMs for stable internal routing.</a:t>
            </a:r>
          </a:p>
          <a:p>
            <a:br>
              <a:rPr lang="en-US" dirty="0">
                <a:latin typeface="Open Sans Light" panose="020F0502020204030204" pitchFamily="34" charset="0"/>
                <a:ea typeface="Open Sans Light" panose="020F0502020204030204" pitchFamily="34" charset="0"/>
                <a:cs typeface="Open Sans Light" panose="020F0502020204030204" pitchFamily="34" charset="0"/>
              </a:rPr>
            </a:br>
            <a:r>
              <a:rPr lang="en-US" dirty="0">
                <a:latin typeface="Open Sans Light" panose="020F0502020204030204" pitchFamily="34" charset="0"/>
                <a:ea typeface="Open Sans Light" panose="020F0502020204030204" pitchFamily="34" charset="0"/>
                <a:cs typeface="Open Sans Light" panose="020F0502020204030204" pitchFamily="34" charset="0"/>
              </a:rPr>
              <a:t>It provides a fixed addressing scheme so each component (Gateway, ELK, </a:t>
            </a:r>
            <a:r>
              <a:rPr lang="en-US" dirty="0" err="1">
                <a:latin typeface="Open Sans Light" panose="020F0502020204030204" pitchFamily="34" charset="0"/>
                <a:ea typeface="Open Sans Light" panose="020F0502020204030204" pitchFamily="34" charset="0"/>
                <a:cs typeface="Open Sans Light" panose="020F0502020204030204" pitchFamily="34" charset="0"/>
              </a:rPr>
              <a:t>Filebeat</a:t>
            </a:r>
            <a:r>
              <a:rPr lang="en-US" dirty="0">
                <a:latin typeface="Open Sans Light" panose="020F0502020204030204" pitchFamily="34" charset="0"/>
                <a:ea typeface="Open Sans Light" panose="020F0502020204030204" pitchFamily="34" charset="0"/>
                <a:cs typeface="Open Sans Light" panose="020F0502020204030204" pitchFamily="34" charset="0"/>
              </a:rPr>
              <a:t>) can communicate reliably without IP conflicts or DHCP dependency.</a:t>
            </a:r>
          </a:p>
        </p:txBody>
      </p:sp>
    </p:spTree>
    <p:extLst>
      <p:ext uri="{BB962C8B-B14F-4D97-AF65-F5344CB8AC3E}">
        <p14:creationId xmlns:p14="http://schemas.microsoft.com/office/powerpoint/2010/main" val="1227470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Corbel" panose="020B0503020204020204"/>
                <a:ea typeface="+mn-ea"/>
                <a:cs typeface="+mn-cs"/>
              </a:rPr>
              <a:t>Continuous Monitoring with a SIEM</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034461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233734" y="749957"/>
            <a:ext cx="6390529" cy="988147"/>
          </a:xfrm>
          <a:prstGeom prst="rect">
            <a:avLst/>
          </a:prstGeom>
        </p:spPr>
        <p:txBody>
          <a:bodyPr spcFirstLastPara="1" wrap="square" lIns="80669" tIns="80669" rIns="80669" bIns="80669" anchor="ctr" anchorCtr="0">
            <a:noAutofit/>
          </a:bodyPr>
          <a:lstStyle/>
          <a:p>
            <a:pPr algn="ctr"/>
            <a:r>
              <a:rPr lang="en" sz="2800" b="1" i="1" u="sng" dirty="0"/>
              <a:t>Understanding SIEM Benefits</a:t>
            </a:r>
            <a:endParaRPr sz="2800" b="1" i="1" u="sng" dirty="0"/>
          </a:p>
        </p:txBody>
      </p:sp>
      <p:graphicFrame>
        <p:nvGraphicFramePr>
          <p:cNvPr id="6" name="Google Shape;163;p27">
            <a:extLst>
              <a:ext uri="{FF2B5EF4-FFF2-40B4-BE49-F238E27FC236}">
                <a16:creationId xmlns:a16="http://schemas.microsoft.com/office/drawing/2014/main" id="{F9571E70-2E9C-437A-A36C-B226AB41941C}"/>
              </a:ext>
            </a:extLst>
          </p:cNvPr>
          <p:cNvGraphicFramePr/>
          <p:nvPr>
            <p:extLst>
              <p:ext uri="{D42A27DB-BD31-4B8C-83A1-F6EECF244321}">
                <p14:modId xmlns:p14="http://schemas.microsoft.com/office/powerpoint/2010/main" val="2786919420"/>
              </p:ext>
            </p:extLst>
          </p:nvPr>
        </p:nvGraphicFramePr>
        <p:xfrm>
          <a:off x="258417" y="1738104"/>
          <a:ext cx="6365845" cy="7010790"/>
        </p:xfrm>
        <a:graphic>
          <a:graphicData uri="http://schemas.openxmlformats.org/drawingml/2006/table">
            <a:tbl>
              <a:tblPr>
                <a:noFill/>
              </a:tblPr>
              <a:tblGrid>
                <a:gridCol w="6365845">
                  <a:extLst>
                    <a:ext uri="{9D8B030D-6E8A-4147-A177-3AD203B41FA5}">
                      <a16:colId xmlns:a16="http://schemas.microsoft.com/office/drawing/2014/main" val="20000"/>
                    </a:ext>
                  </a:extLst>
                </a:gridCol>
              </a:tblGrid>
              <a:tr h="480506">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1. </a:t>
                      </a:r>
                      <a:r>
                        <a:rPr lang="en-IN" sz="1800" b="0" dirty="0">
                          <a:latin typeface="Open Sans Light" panose="020F0502020204030204" pitchFamily="34" charset="0"/>
                          <a:ea typeface="Open Sans Light" panose="020F0502020204030204" pitchFamily="34" charset="0"/>
                          <a:cs typeface="Open Sans Light" panose="020F0502020204030204" pitchFamily="34" charset="0"/>
                        </a:rPr>
                        <a:t>Centralized Security Monitoring</a:t>
                      </a:r>
                      <a:endParaRPr sz="1800" b="0" dirty="0">
                        <a:latin typeface="Open Sans Light" panose="020F0502020204030204" pitchFamily="34" charset="0"/>
                        <a:ea typeface="Open Sans Light" panose="020F0502020204030204" pitchFamily="34" charset="0"/>
                        <a:cs typeface="Open Sans Light" panose="020F0502020204030204" pitchFamily="34" charset="0"/>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677307">
                <a:tc>
                  <a:txBody>
                    <a:bodyPr/>
                    <a:lstStyle/>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SIEM collects and consolidates logs from servers, firewalls, routers, switches, applications, and endpoints into a single platform.</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This centralized view eliminates data silos, allowing security teams to monitor the entire network from one dashboard.</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Real-time visibility ensures that no suspicious activity goes unnoticed, providing a comprehensive understanding of the network’s security posture.</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Centralization also simplifies management, troubleshooting, and correlation of events across distributed systems.</a:t>
                      </a: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46888">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2. </a:t>
                      </a:r>
                      <a:r>
                        <a:rPr lang="en-US" sz="1800" dirty="0">
                          <a:latin typeface="Open Sans Light" panose="020F0502020204030204" pitchFamily="34" charset="0"/>
                          <a:ea typeface="Open Sans Light" panose="020F0502020204030204" pitchFamily="34" charset="0"/>
                          <a:cs typeface="Open Sans Light" panose="020F0502020204030204" pitchFamily="34" charset="0"/>
                        </a:rPr>
                        <a:t>Real-Time Threat Detection and Alerts</a:t>
                      </a:r>
                      <a:endParaRPr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767521">
                <a:tc>
                  <a:txBody>
                    <a:bodyPr/>
                    <a:lstStyle/>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SIEM continuously analyzes incoming log data using correlation rules, pattern recognition, and behavioral analytics to detect abnormal activities.</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It can automatically identify indicators of compromise (</a:t>
                      </a:r>
                      <a:r>
                        <a:rPr lang="en-US" sz="1800" dirty="0" err="1">
                          <a:latin typeface="Open Sans Light" panose="020F0502020204030204" pitchFamily="34" charset="0"/>
                          <a:ea typeface="Open Sans Light" panose="020F0502020204030204" pitchFamily="34" charset="0"/>
                          <a:cs typeface="Open Sans Light" panose="020F0502020204030204" pitchFamily="34" charset="0"/>
                        </a:rPr>
                        <a:t>IoCs</a:t>
                      </a:r>
                      <a:r>
                        <a:rPr lang="en-US" sz="1800" dirty="0">
                          <a:latin typeface="Open Sans Light" panose="020F0502020204030204" pitchFamily="34" charset="0"/>
                          <a:ea typeface="Open Sans Light" panose="020F0502020204030204" pitchFamily="34" charset="0"/>
                          <a:cs typeface="Open Sans Light" panose="020F0502020204030204" pitchFamily="34" charset="0"/>
                        </a:rPr>
                        <a:t>), such as brute-force login attempts, port scanning, or unauthorized access attempts.</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When such behavior is detected, SIEM generates real-time alerts to notify administrators for immediate action.</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Early detection minimizes the time attackers have within the network, significantly reducing potential damage or data loss.</a:t>
                      </a:r>
                    </a:p>
                    <a:p>
                      <a:pPr marL="0" lvl="0" indent="0" algn="l" rtl="0">
                        <a:spcBef>
                          <a:spcPts val="0"/>
                        </a:spcBef>
                        <a:spcAft>
                          <a:spcPts val="0"/>
                        </a:spcAft>
                        <a:buClr>
                          <a:schemeClr val="dk1"/>
                        </a:buClr>
                        <a:buSzPts val="1100"/>
                        <a:buFont typeface="Arial"/>
                        <a:buNone/>
                      </a:pPr>
                      <a:endParaRPr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05556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97ED4656-DFC7-78FB-1B06-DF391098BC48}"/>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DC32962F-B53F-71F7-FF79-5AAC2595EB90}"/>
              </a:ext>
            </a:extLst>
          </p:cNvPr>
          <p:cNvSpPr txBox="1">
            <a:spLocks noGrp="1"/>
          </p:cNvSpPr>
          <p:nvPr>
            <p:ph type="title"/>
          </p:nvPr>
        </p:nvSpPr>
        <p:spPr>
          <a:xfrm>
            <a:off x="233734" y="749957"/>
            <a:ext cx="6390529" cy="988147"/>
          </a:xfrm>
          <a:prstGeom prst="rect">
            <a:avLst/>
          </a:prstGeom>
        </p:spPr>
        <p:txBody>
          <a:bodyPr spcFirstLastPara="1" wrap="square" lIns="80669" tIns="80669" rIns="80669" bIns="80669" anchor="ctr" anchorCtr="0">
            <a:noAutofit/>
          </a:bodyPr>
          <a:lstStyle/>
          <a:p>
            <a:pPr algn="ctr"/>
            <a:r>
              <a:rPr lang="en" sz="2800" b="1" i="1" u="sng" dirty="0"/>
              <a:t>Understanding SIEM Benefits</a:t>
            </a:r>
            <a:endParaRPr sz="2800" b="1" i="1" u="sng" dirty="0"/>
          </a:p>
        </p:txBody>
      </p:sp>
      <p:graphicFrame>
        <p:nvGraphicFramePr>
          <p:cNvPr id="2" name="Table 1">
            <a:extLst>
              <a:ext uri="{FF2B5EF4-FFF2-40B4-BE49-F238E27FC236}">
                <a16:creationId xmlns:a16="http://schemas.microsoft.com/office/drawing/2014/main" id="{7B4180E2-ACC4-5005-7787-E0FAD9B6CF3F}"/>
              </a:ext>
            </a:extLst>
          </p:cNvPr>
          <p:cNvGraphicFramePr>
            <a:graphicFrameLocks noGrp="1"/>
          </p:cNvGraphicFramePr>
          <p:nvPr>
            <p:extLst>
              <p:ext uri="{D42A27DB-BD31-4B8C-83A1-F6EECF244321}">
                <p14:modId xmlns:p14="http://schemas.microsoft.com/office/powerpoint/2010/main" val="2046685754"/>
              </p:ext>
            </p:extLst>
          </p:nvPr>
        </p:nvGraphicFramePr>
        <p:xfrm>
          <a:off x="233734" y="1824176"/>
          <a:ext cx="6365845" cy="3351426"/>
        </p:xfrm>
        <a:graphic>
          <a:graphicData uri="http://schemas.openxmlformats.org/drawingml/2006/table">
            <a:tbl>
              <a:tblPr>
                <a:noFill/>
              </a:tblPr>
              <a:tblGrid>
                <a:gridCol w="6365845">
                  <a:extLst>
                    <a:ext uri="{9D8B030D-6E8A-4147-A177-3AD203B41FA5}">
                      <a16:colId xmlns:a16="http://schemas.microsoft.com/office/drawing/2014/main" val="2730961652"/>
                    </a:ext>
                  </a:extLst>
                </a:gridCol>
              </a:tblGrid>
              <a:tr h="446888">
                <a:tc>
                  <a:txBody>
                    <a:bodyPr/>
                    <a:lstStyle/>
                    <a:p>
                      <a:pPr marL="0" lvl="0" indent="0" algn="l" rtl="0">
                        <a:spcBef>
                          <a:spcPts val="0"/>
                        </a:spcBef>
                        <a:spcAft>
                          <a:spcPts val="0"/>
                        </a:spcAft>
                        <a:buNone/>
                      </a:pPr>
                      <a:r>
                        <a:rPr lang="en"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3. </a:t>
                      </a:r>
                      <a:r>
                        <a:rPr lang="en-US" sz="1800" dirty="0">
                          <a:latin typeface="Open Sans Light" panose="020F0502020204030204" pitchFamily="34" charset="0"/>
                          <a:ea typeface="Open Sans Light" panose="020F0502020204030204" pitchFamily="34" charset="0"/>
                          <a:cs typeface="Open Sans Light" panose="020F0502020204030204" pitchFamily="34" charset="0"/>
                        </a:rPr>
                        <a:t>Faster Incident Response and Forensic Investigation</a:t>
                      </a:r>
                      <a:endParaRPr sz="18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893618148"/>
                  </a:ext>
                </a:extLst>
              </a:tr>
              <a:tr h="1944057">
                <a:tc>
                  <a:txBody>
                    <a:bodyPr/>
                    <a:lstStyle/>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SIEM tools provide contextual information about incidents by correlating related events from multiple sources.</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Analysts can trace the full path of an attack — from initial compromise to affected assets — within seconds.</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This accelerates containment and remediation, reducing downtime and operational disruption.</a:t>
                      </a:r>
                    </a:p>
                    <a:p>
                      <a:pPr marL="285750" indent="-285750">
                        <a:buFont typeface="Arial" panose="020B0604020202020204" pitchFamily="34" charset="0"/>
                        <a:buChar char="•"/>
                      </a:pPr>
                      <a:r>
                        <a:rPr lang="en-US" sz="1800" dirty="0">
                          <a:latin typeface="Open Sans Light" panose="020F0502020204030204" pitchFamily="34" charset="0"/>
                          <a:ea typeface="Open Sans Light" panose="020F0502020204030204" pitchFamily="34" charset="0"/>
                          <a:cs typeface="Open Sans Light" panose="020F0502020204030204" pitchFamily="34" charset="0"/>
                        </a:rPr>
                        <a:t>The centralized log storage also serves as a valuable forensic database for post-incident investigations, enabling root cause analysis and future prevention.</a:t>
                      </a:r>
                    </a:p>
                    <a:p>
                      <a:pPr marL="0" lvl="0" indent="0" algn="l" rtl="0">
                        <a:spcBef>
                          <a:spcPts val="0"/>
                        </a:spcBef>
                        <a:spcAft>
                          <a:spcPts val="0"/>
                        </a:spcAft>
                        <a:buClr>
                          <a:schemeClr val="dk1"/>
                        </a:buClr>
                        <a:buSzPts val="1100"/>
                        <a:buFont typeface="Arial"/>
                        <a:buNone/>
                      </a:pPr>
                      <a:endParaRPr sz="180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654494095"/>
                  </a:ext>
                </a:extLst>
              </a:tr>
            </a:tbl>
          </a:graphicData>
        </a:graphic>
      </p:graphicFrame>
    </p:spTree>
    <p:extLst>
      <p:ext uri="{BB962C8B-B14F-4D97-AF65-F5344CB8AC3E}">
        <p14:creationId xmlns:p14="http://schemas.microsoft.com/office/powerpoint/2010/main" val="1348618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3" name="Picture 2" descr="A computer screen shot of a computer&#10;&#10;AI-generated content may be incorrect.">
            <a:extLst>
              <a:ext uri="{FF2B5EF4-FFF2-40B4-BE49-F238E27FC236}">
                <a16:creationId xmlns:a16="http://schemas.microsoft.com/office/drawing/2014/main" id="{F063619F-E7F3-D47C-D776-3DF81D853B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27361"/>
            <a:ext cx="6858000" cy="5372100"/>
          </a:xfrm>
          <a:prstGeom prst="rect">
            <a:avLst/>
          </a:prstGeom>
        </p:spPr>
      </p:pic>
      <p:sp>
        <p:nvSpPr>
          <p:cNvPr id="6" name="Title 5">
            <a:extLst>
              <a:ext uri="{FF2B5EF4-FFF2-40B4-BE49-F238E27FC236}">
                <a16:creationId xmlns:a16="http://schemas.microsoft.com/office/drawing/2014/main" id="{2D841613-E29A-74C5-88E2-E4CAFF03A3E6}"/>
              </a:ext>
            </a:extLst>
          </p:cNvPr>
          <p:cNvSpPr>
            <a:spLocks noGrp="1"/>
          </p:cNvSpPr>
          <p:nvPr>
            <p:ph type="title"/>
          </p:nvPr>
        </p:nvSpPr>
        <p:spPr>
          <a:xfrm>
            <a:off x="233775" y="791155"/>
            <a:ext cx="6390529" cy="1125051"/>
          </a:xfrm>
        </p:spPr>
        <p:txBody>
          <a:bodyPr/>
          <a:lstStyle/>
          <a:p>
            <a:pPr marL="0" indent="0" algn="ctr">
              <a:spcBef>
                <a:spcPts val="1324"/>
              </a:spcBef>
            </a:pPr>
            <a:r>
              <a:rPr lang="en-US" sz="2800" b="1" i="1" u="sng" dirty="0"/>
              <a:t>Gateway Virtual Machine</a:t>
            </a:r>
            <a:br>
              <a:rPr lang="en-US" sz="3200" u="sng" dirty="0">
                <a:solidFill>
                  <a:srgbClr val="0D0D0D"/>
                </a:solidFill>
                <a:highlight>
                  <a:srgbClr val="FFFFFF"/>
                </a:highlight>
                <a:latin typeface="Roboto"/>
                <a:ea typeface="Roboto"/>
                <a:cs typeface="Roboto"/>
                <a:sym typeface="Roboto"/>
              </a:rPr>
            </a:br>
            <a:br>
              <a:rPr lang="en-US" dirty="0"/>
            </a:br>
            <a:endParaRPr lang="en-IN" dirty="0"/>
          </a:p>
        </p:txBody>
      </p:sp>
      <p:sp>
        <p:nvSpPr>
          <p:cNvPr id="9" name="TextBox 8">
            <a:extLst>
              <a:ext uri="{FF2B5EF4-FFF2-40B4-BE49-F238E27FC236}">
                <a16:creationId xmlns:a16="http://schemas.microsoft.com/office/drawing/2014/main" id="{68A97552-C29B-29E6-1423-5AA3C24F1C3F}"/>
              </a:ext>
            </a:extLst>
          </p:cNvPr>
          <p:cNvSpPr txBox="1"/>
          <p:nvPr/>
        </p:nvSpPr>
        <p:spPr>
          <a:xfrm>
            <a:off x="233696" y="1379515"/>
            <a:ext cx="6301496" cy="2308324"/>
          </a:xfrm>
          <a:prstGeom prst="rect">
            <a:avLst/>
          </a:prstGeom>
          <a:noFill/>
        </p:spPr>
        <p:txBody>
          <a:bodyPr wrap="square" rtlCol="0">
            <a:spAutoFit/>
          </a:bodyPr>
          <a:lstStyle/>
          <a:p>
            <a:r>
              <a:rPr lang="en-US" dirty="0">
                <a:latin typeface="Open Sans Light" panose="020F0502020204030204" pitchFamily="34" charset="0"/>
                <a:ea typeface="Open Sans Light" panose="020F0502020204030204" pitchFamily="34" charset="0"/>
                <a:cs typeface="Open Sans Light" panose="020F0502020204030204" pitchFamily="34" charset="0"/>
              </a:rPr>
              <a:t>A dual-homed virtual machine with two network interfaces — one connected to the </a:t>
            </a:r>
            <a:r>
              <a:rPr lang="en-US" b="1" dirty="0">
                <a:latin typeface="Open Sans Light" panose="020F0502020204030204" pitchFamily="34" charset="0"/>
                <a:ea typeface="Open Sans Light" panose="020F0502020204030204" pitchFamily="34" charset="0"/>
                <a:cs typeface="Open Sans Light" panose="020F0502020204030204" pitchFamily="34" charset="0"/>
              </a:rPr>
              <a:t>Public DMZ (internet)</a:t>
            </a:r>
            <a:r>
              <a:rPr lang="en-US" dirty="0">
                <a:latin typeface="Open Sans Light" panose="020F0502020204030204" pitchFamily="34" charset="0"/>
                <a:ea typeface="Open Sans Light" panose="020F0502020204030204" pitchFamily="34" charset="0"/>
                <a:cs typeface="Open Sans Light" panose="020F0502020204030204" pitchFamily="34" charset="0"/>
              </a:rPr>
              <a:t> and the other to the </a:t>
            </a:r>
            <a:r>
              <a:rPr lang="en-US" b="1" dirty="0">
                <a:latin typeface="Open Sans Light" panose="020F0502020204030204" pitchFamily="34" charset="0"/>
                <a:ea typeface="Open Sans Light" panose="020F0502020204030204" pitchFamily="34" charset="0"/>
                <a:cs typeface="Open Sans Light" panose="020F0502020204030204" pitchFamily="34" charset="0"/>
              </a:rPr>
              <a:t>Private DMZ (internal network)</a:t>
            </a:r>
            <a:r>
              <a:rPr lang="en-US" dirty="0">
                <a:latin typeface="Open Sans Light" panose="020F0502020204030204" pitchFamily="34" charset="0"/>
                <a:ea typeface="Open Sans Light" panose="020F0502020204030204" pitchFamily="34" charset="0"/>
                <a:cs typeface="Open Sans Light" panose="020F0502020204030204" pitchFamily="34" charset="0"/>
              </a:rPr>
              <a:t>.</a:t>
            </a:r>
          </a:p>
          <a:p>
            <a:br>
              <a:rPr lang="en-US" dirty="0">
                <a:latin typeface="Open Sans Light" panose="020F0502020204030204" pitchFamily="34" charset="0"/>
                <a:ea typeface="Open Sans Light" panose="020F0502020204030204" pitchFamily="34" charset="0"/>
                <a:cs typeface="Open Sans Light" panose="020F0502020204030204" pitchFamily="34" charset="0"/>
              </a:rPr>
            </a:br>
            <a:r>
              <a:rPr lang="en-US" dirty="0">
                <a:latin typeface="Open Sans Light" panose="020F0502020204030204" pitchFamily="34" charset="0"/>
                <a:ea typeface="Open Sans Light" panose="020F0502020204030204" pitchFamily="34" charset="0"/>
                <a:cs typeface="Open Sans Light" panose="020F0502020204030204" pitchFamily="34" charset="0"/>
              </a:rPr>
              <a:t>It acts as a </a:t>
            </a:r>
            <a:r>
              <a:rPr lang="en-US" b="1" dirty="0">
                <a:latin typeface="Open Sans Light" panose="020F0502020204030204" pitchFamily="34" charset="0"/>
                <a:ea typeface="Open Sans Light" panose="020F0502020204030204" pitchFamily="34" charset="0"/>
                <a:cs typeface="Open Sans Light" panose="020F0502020204030204" pitchFamily="34" charset="0"/>
              </a:rPr>
              <a:t>bridge and firewall</a:t>
            </a:r>
            <a:r>
              <a:rPr lang="en-US" dirty="0">
                <a:latin typeface="Open Sans Light" panose="020F0502020204030204" pitchFamily="34" charset="0"/>
                <a:ea typeface="Open Sans Light" panose="020F0502020204030204" pitchFamily="34" charset="0"/>
                <a:cs typeface="Open Sans Light" panose="020F0502020204030204" pitchFamily="34" charset="0"/>
              </a:rPr>
              <a:t>, enabling internet access for internal VMs and controlling traffic flow between the internal and external networks. It ensures isolation and controlled communication.</a:t>
            </a:r>
          </a:p>
        </p:txBody>
      </p:sp>
    </p:spTree>
    <p:extLst>
      <p:ext uri="{BB962C8B-B14F-4D97-AF65-F5344CB8AC3E}">
        <p14:creationId xmlns:p14="http://schemas.microsoft.com/office/powerpoint/2010/main" val="1464301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F57C6CC4-125A-DE49-CD80-A944E47D3AD0}"/>
            </a:ext>
          </a:extLst>
        </p:cNvPr>
        <p:cNvGrpSpPr/>
        <p:nvPr/>
      </p:nvGrpSpPr>
      <p:grpSpPr>
        <a:xfrm>
          <a:off x="0" y="0"/>
          <a:ext cx="0" cy="0"/>
          <a:chOff x="0" y="0"/>
          <a:chExt cx="0" cy="0"/>
        </a:xfrm>
      </p:grpSpPr>
      <p:sp>
        <p:nvSpPr>
          <p:cNvPr id="116" name="Google Shape;116;p20">
            <a:extLst>
              <a:ext uri="{FF2B5EF4-FFF2-40B4-BE49-F238E27FC236}">
                <a16:creationId xmlns:a16="http://schemas.microsoft.com/office/drawing/2014/main" id="{CAEBA4A5-79A6-0996-DE79-4B486D1B730E}"/>
              </a:ext>
            </a:extLst>
          </p:cNvPr>
          <p:cNvSpPr txBox="1">
            <a:spLocks noGrp="1"/>
          </p:cNvSpPr>
          <p:nvPr>
            <p:ph type="title"/>
          </p:nvPr>
        </p:nvSpPr>
        <p:spPr>
          <a:xfrm>
            <a:off x="261403" y="538912"/>
            <a:ext cx="6390529" cy="988147"/>
          </a:xfrm>
          <a:prstGeom prst="rect">
            <a:avLst/>
          </a:prstGeom>
        </p:spPr>
        <p:txBody>
          <a:bodyPr spcFirstLastPara="1" wrap="square" lIns="80669" tIns="80669" rIns="80669" bIns="80669" anchor="ctr" anchorCtr="0">
            <a:noAutofit/>
          </a:bodyPr>
          <a:lstStyle/>
          <a:p>
            <a:pPr algn="ctr"/>
            <a:r>
              <a:rPr lang="en-IN" sz="2800" b="1" i="1" u="sng" dirty="0"/>
              <a:t>ELK-Server Virtual Machine</a:t>
            </a:r>
            <a:endParaRPr sz="2800" b="1" i="1" u="sng" dirty="0"/>
          </a:p>
        </p:txBody>
      </p:sp>
      <p:pic>
        <p:nvPicPr>
          <p:cNvPr id="6" name="Picture 5">
            <a:extLst>
              <a:ext uri="{FF2B5EF4-FFF2-40B4-BE49-F238E27FC236}">
                <a16:creationId xmlns:a16="http://schemas.microsoft.com/office/drawing/2014/main" id="{D89C04CF-2BC9-51BB-0BC3-6E949020A7F9}"/>
              </a:ext>
            </a:extLst>
          </p:cNvPr>
          <p:cNvPicPr>
            <a:picLocks noChangeAspect="1"/>
          </p:cNvPicPr>
          <p:nvPr/>
        </p:nvPicPr>
        <p:blipFill>
          <a:blip r:embed="rId3"/>
          <a:stretch>
            <a:fillRect/>
          </a:stretch>
        </p:blipFill>
        <p:spPr>
          <a:xfrm>
            <a:off x="0" y="3558384"/>
            <a:ext cx="6858000" cy="5511658"/>
          </a:xfrm>
          <a:prstGeom prst="rect">
            <a:avLst/>
          </a:prstGeom>
        </p:spPr>
      </p:pic>
      <p:sp>
        <p:nvSpPr>
          <p:cNvPr id="9" name="TextBox 8">
            <a:extLst>
              <a:ext uri="{FF2B5EF4-FFF2-40B4-BE49-F238E27FC236}">
                <a16:creationId xmlns:a16="http://schemas.microsoft.com/office/drawing/2014/main" id="{AC4E4598-470C-EB82-F202-C740A0CDA5EC}"/>
              </a:ext>
            </a:extLst>
          </p:cNvPr>
          <p:cNvSpPr txBox="1"/>
          <p:nvPr/>
        </p:nvSpPr>
        <p:spPr>
          <a:xfrm>
            <a:off x="289110" y="1527059"/>
            <a:ext cx="6335113" cy="1815882"/>
          </a:xfrm>
          <a:prstGeom prst="rect">
            <a:avLst/>
          </a:prstGeom>
          <a:noFill/>
        </p:spPr>
        <p:txBody>
          <a:bodyPr wrap="square" rtlCol="0">
            <a:spAutoFit/>
          </a:bodyPr>
          <a:lstStyle/>
          <a:p>
            <a:r>
              <a:rPr lang="en-US" sz="1600" dirty="0">
                <a:latin typeface="Open Sans Light" panose="020F0502020204030204" pitchFamily="34" charset="0"/>
                <a:ea typeface="Open Sans Light" panose="020F0502020204030204" pitchFamily="34" charset="0"/>
                <a:cs typeface="Open Sans Light" panose="020F0502020204030204" pitchFamily="34" charset="0"/>
              </a:rPr>
              <a:t>A virtual machine hosting the </a:t>
            </a:r>
            <a:r>
              <a:rPr lang="en-US" sz="1600" b="1" dirty="0">
                <a:latin typeface="Open Sans Light" panose="020F0502020204030204" pitchFamily="34" charset="0"/>
                <a:ea typeface="Open Sans Light" panose="020F0502020204030204" pitchFamily="34" charset="0"/>
                <a:cs typeface="Open Sans Light" panose="020F0502020204030204" pitchFamily="34" charset="0"/>
              </a:rPr>
              <a:t>Elasticsearch</a:t>
            </a:r>
            <a:r>
              <a:rPr lang="en-US" sz="1600" dirty="0">
                <a:latin typeface="Open Sans Light" panose="020F0502020204030204" pitchFamily="34" charset="0"/>
                <a:ea typeface="Open Sans Light" panose="020F0502020204030204" pitchFamily="34" charset="0"/>
                <a:cs typeface="Open Sans Light" panose="020F0502020204030204" pitchFamily="34" charset="0"/>
              </a:rPr>
              <a:t>, </a:t>
            </a:r>
            <a:r>
              <a:rPr lang="en-US" sz="1600" b="1" dirty="0">
                <a:latin typeface="Open Sans Light" panose="020F0502020204030204" pitchFamily="34" charset="0"/>
                <a:ea typeface="Open Sans Light" panose="020F0502020204030204" pitchFamily="34" charset="0"/>
                <a:cs typeface="Open Sans Light" panose="020F0502020204030204" pitchFamily="34" charset="0"/>
              </a:rPr>
              <a:t>Logstash</a:t>
            </a:r>
            <a:r>
              <a:rPr lang="en-US" sz="1600" dirty="0">
                <a:latin typeface="Open Sans Light" panose="020F0502020204030204" pitchFamily="34" charset="0"/>
                <a:ea typeface="Open Sans Light" panose="020F0502020204030204" pitchFamily="34" charset="0"/>
                <a:cs typeface="Open Sans Light" panose="020F0502020204030204" pitchFamily="34" charset="0"/>
              </a:rPr>
              <a:t> (optional), and </a:t>
            </a:r>
            <a:r>
              <a:rPr lang="en-US" sz="1600" b="1" dirty="0">
                <a:latin typeface="Open Sans Light" panose="020F0502020204030204" pitchFamily="34" charset="0"/>
                <a:ea typeface="Open Sans Light" panose="020F0502020204030204" pitchFamily="34" charset="0"/>
                <a:cs typeface="Open Sans Light" panose="020F0502020204030204" pitchFamily="34" charset="0"/>
              </a:rPr>
              <a:t>Kibana</a:t>
            </a:r>
            <a:r>
              <a:rPr lang="en-US" sz="1600" dirty="0">
                <a:latin typeface="Open Sans Light" panose="020F0502020204030204" pitchFamily="34" charset="0"/>
                <a:ea typeface="Open Sans Light" panose="020F0502020204030204" pitchFamily="34" charset="0"/>
                <a:cs typeface="Open Sans Light" panose="020F0502020204030204" pitchFamily="34" charset="0"/>
              </a:rPr>
              <a:t> services — collectively forming the </a:t>
            </a:r>
            <a:r>
              <a:rPr lang="en-US" sz="1600" b="1" dirty="0">
                <a:latin typeface="Open Sans Light" panose="020F0502020204030204" pitchFamily="34" charset="0"/>
                <a:ea typeface="Open Sans Light" panose="020F0502020204030204" pitchFamily="34" charset="0"/>
                <a:cs typeface="Open Sans Light" panose="020F0502020204030204" pitchFamily="34" charset="0"/>
              </a:rPr>
              <a:t>SIEM (Security Information and Event Management)</a:t>
            </a:r>
            <a:r>
              <a:rPr lang="en-US" sz="1600" dirty="0">
                <a:latin typeface="Open Sans Light" panose="020F0502020204030204" pitchFamily="34" charset="0"/>
                <a:ea typeface="Open Sans Light" panose="020F0502020204030204" pitchFamily="34" charset="0"/>
                <a:cs typeface="Open Sans Light" panose="020F0502020204030204" pitchFamily="34" charset="0"/>
              </a:rPr>
              <a:t> platform.</a:t>
            </a:r>
          </a:p>
          <a:p>
            <a:br>
              <a:rPr lang="en-US" sz="1600" dirty="0">
                <a:latin typeface="Open Sans Light" panose="020F0502020204030204" pitchFamily="34" charset="0"/>
                <a:ea typeface="Open Sans Light" panose="020F0502020204030204" pitchFamily="34" charset="0"/>
                <a:cs typeface="Open Sans Light" panose="020F0502020204030204" pitchFamily="34" charset="0"/>
              </a:rPr>
            </a:br>
            <a:r>
              <a:rPr lang="en-US" sz="1600" dirty="0">
                <a:latin typeface="Open Sans Light" panose="020F0502020204030204" pitchFamily="34" charset="0"/>
                <a:ea typeface="Open Sans Light" panose="020F0502020204030204" pitchFamily="34" charset="0"/>
                <a:cs typeface="Open Sans Light" panose="020F0502020204030204" pitchFamily="34" charset="0"/>
              </a:rPr>
              <a:t>It stores, indexes, and visualizes the logs sent from </a:t>
            </a:r>
            <a:r>
              <a:rPr lang="en-US" sz="1600" dirty="0" err="1">
                <a:latin typeface="Open Sans Light" panose="020F0502020204030204" pitchFamily="34" charset="0"/>
                <a:ea typeface="Open Sans Light" panose="020F0502020204030204" pitchFamily="34" charset="0"/>
                <a:cs typeface="Open Sans Light" panose="020F0502020204030204" pitchFamily="34" charset="0"/>
              </a:rPr>
              <a:t>Filebeat</a:t>
            </a:r>
            <a:r>
              <a:rPr lang="en-US" sz="1600" dirty="0">
                <a:latin typeface="Open Sans Light" panose="020F0502020204030204" pitchFamily="34" charset="0"/>
                <a:ea typeface="Open Sans Light" panose="020F0502020204030204" pitchFamily="34" charset="0"/>
                <a:cs typeface="Open Sans Light" panose="020F0502020204030204" pitchFamily="34" charset="0"/>
              </a:rPr>
              <a:t>. This VM performs centralized log analysis, threat detection, and visualization through Kibana dashboards.</a:t>
            </a:r>
          </a:p>
        </p:txBody>
      </p:sp>
    </p:spTree>
    <p:extLst>
      <p:ext uri="{BB962C8B-B14F-4D97-AF65-F5344CB8AC3E}">
        <p14:creationId xmlns:p14="http://schemas.microsoft.com/office/powerpoint/2010/main" val="153516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EF086946-810E-DDCD-3A8D-E718034A9531}"/>
            </a:ext>
          </a:extLst>
        </p:cNvPr>
        <p:cNvGrpSpPr/>
        <p:nvPr/>
      </p:nvGrpSpPr>
      <p:grpSpPr>
        <a:xfrm>
          <a:off x="0" y="0"/>
          <a:ext cx="0" cy="0"/>
          <a:chOff x="0" y="0"/>
          <a:chExt cx="0" cy="0"/>
        </a:xfrm>
      </p:grpSpPr>
      <p:sp>
        <p:nvSpPr>
          <p:cNvPr id="116" name="Google Shape;116;p20">
            <a:extLst>
              <a:ext uri="{FF2B5EF4-FFF2-40B4-BE49-F238E27FC236}">
                <a16:creationId xmlns:a16="http://schemas.microsoft.com/office/drawing/2014/main" id="{FA595B6F-D23E-54A8-D8A6-658660F553CF}"/>
              </a:ext>
            </a:extLst>
          </p:cNvPr>
          <p:cNvSpPr txBox="1">
            <a:spLocks noGrp="1"/>
          </p:cNvSpPr>
          <p:nvPr>
            <p:ph type="title"/>
          </p:nvPr>
        </p:nvSpPr>
        <p:spPr>
          <a:xfrm>
            <a:off x="233735" y="613245"/>
            <a:ext cx="6390529" cy="988147"/>
          </a:xfrm>
          <a:prstGeom prst="rect">
            <a:avLst/>
          </a:prstGeom>
        </p:spPr>
        <p:txBody>
          <a:bodyPr spcFirstLastPara="1" wrap="square" lIns="80669" tIns="80669" rIns="80669" bIns="80669" anchor="ctr" anchorCtr="0">
            <a:noAutofit/>
          </a:bodyPr>
          <a:lstStyle/>
          <a:p>
            <a:pPr algn="ctr"/>
            <a:r>
              <a:rPr lang="en" sz="2800" b="1" i="1" u="sng" dirty="0"/>
              <a:t>Filebeat Virtual Machine</a:t>
            </a:r>
            <a:endParaRPr sz="2800" b="1" i="1" u="sng" dirty="0"/>
          </a:p>
        </p:txBody>
      </p:sp>
      <p:pic>
        <p:nvPicPr>
          <p:cNvPr id="5" name="Picture 4">
            <a:extLst>
              <a:ext uri="{FF2B5EF4-FFF2-40B4-BE49-F238E27FC236}">
                <a16:creationId xmlns:a16="http://schemas.microsoft.com/office/drawing/2014/main" id="{FDC180B1-A7FA-5554-9885-2CB7FBE2494F}"/>
              </a:ext>
            </a:extLst>
          </p:cNvPr>
          <p:cNvPicPr>
            <a:picLocks noChangeAspect="1"/>
          </p:cNvPicPr>
          <p:nvPr/>
        </p:nvPicPr>
        <p:blipFill>
          <a:blip r:embed="rId3"/>
          <a:stretch>
            <a:fillRect/>
          </a:stretch>
        </p:blipFill>
        <p:spPr>
          <a:xfrm>
            <a:off x="0" y="3610535"/>
            <a:ext cx="6858000" cy="5419985"/>
          </a:xfrm>
          <a:prstGeom prst="rect">
            <a:avLst/>
          </a:prstGeom>
        </p:spPr>
      </p:pic>
      <p:sp>
        <p:nvSpPr>
          <p:cNvPr id="6" name="TextBox 5">
            <a:extLst>
              <a:ext uri="{FF2B5EF4-FFF2-40B4-BE49-F238E27FC236}">
                <a16:creationId xmlns:a16="http://schemas.microsoft.com/office/drawing/2014/main" id="{E3A627E3-3568-E286-7CAD-CEB437452F27}"/>
              </a:ext>
            </a:extLst>
          </p:cNvPr>
          <p:cNvSpPr txBox="1"/>
          <p:nvPr/>
        </p:nvSpPr>
        <p:spPr>
          <a:xfrm>
            <a:off x="309282" y="1579210"/>
            <a:ext cx="6314982" cy="2031325"/>
          </a:xfrm>
          <a:prstGeom prst="rect">
            <a:avLst/>
          </a:prstGeom>
          <a:noFill/>
        </p:spPr>
        <p:txBody>
          <a:bodyPr wrap="square" rtlCol="0">
            <a:spAutoFit/>
          </a:bodyPr>
          <a:lstStyle/>
          <a:p>
            <a:r>
              <a:rPr lang="en-US" dirty="0">
                <a:latin typeface="Open Sans Light" panose="020F0502020204030204" pitchFamily="34" charset="0"/>
                <a:ea typeface="Open Sans Light" panose="020F0502020204030204" pitchFamily="34" charset="0"/>
                <a:cs typeface="Open Sans Light" panose="020F0502020204030204" pitchFamily="34" charset="0"/>
              </a:rPr>
              <a:t>A client VM (running Kali Linux) is configured with </a:t>
            </a:r>
            <a:r>
              <a:rPr lang="en-US" b="1" dirty="0" err="1">
                <a:latin typeface="Open Sans Light" panose="020F0502020204030204" pitchFamily="34" charset="0"/>
                <a:ea typeface="Open Sans Light" panose="020F0502020204030204" pitchFamily="34" charset="0"/>
                <a:cs typeface="Open Sans Light" panose="020F0502020204030204" pitchFamily="34" charset="0"/>
              </a:rPr>
              <a:t>Filebeat</a:t>
            </a:r>
            <a:r>
              <a:rPr lang="en-US" dirty="0">
                <a:latin typeface="Open Sans Light" panose="020F0502020204030204" pitchFamily="34" charset="0"/>
                <a:ea typeface="Open Sans Light" panose="020F0502020204030204" pitchFamily="34" charset="0"/>
                <a:cs typeface="Open Sans Light" panose="020F0502020204030204" pitchFamily="34" charset="0"/>
              </a:rPr>
              <a:t>, a lightweight log shipper that collects and forwards logs to Elasticsearch.</a:t>
            </a:r>
          </a:p>
          <a:p>
            <a:br>
              <a:rPr lang="en-US" dirty="0">
                <a:latin typeface="Open Sans Light" panose="020F0502020204030204" pitchFamily="34" charset="0"/>
                <a:ea typeface="Open Sans Light" panose="020F0502020204030204" pitchFamily="34" charset="0"/>
                <a:cs typeface="Open Sans Light" panose="020F0502020204030204" pitchFamily="34" charset="0"/>
              </a:rPr>
            </a:br>
            <a:r>
              <a:rPr lang="en-US" dirty="0">
                <a:latin typeface="Open Sans Light" panose="020F0502020204030204" pitchFamily="34" charset="0"/>
                <a:ea typeface="Open Sans Light" panose="020F0502020204030204" pitchFamily="34" charset="0"/>
                <a:cs typeface="Open Sans Light" panose="020F0502020204030204" pitchFamily="34" charset="0"/>
              </a:rPr>
              <a:t>It simulates a monitored endpoint in the network — collecting system logs and securely forwarding them to the ELK server for analysis and alerting.</a:t>
            </a:r>
          </a:p>
        </p:txBody>
      </p:sp>
    </p:spTree>
    <p:extLst>
      <p:ext uri="{BB962C8B-B14F-4D97-AF65-F5344CB8AC3E}">
        <p14:creationId xmlns:p14="http://schemas.microsoft.com/office/powerpoint/2010/main" val="1087411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pPr algn="ctr"/>
            <a:r>
              <a:rPr lang="en" sz="2800" b="1" i="1" u="sng" dirty="0"/>
              <a:t>Filebeat Service on the Web Server</a:t>
            </a:r>
            <a:endParaRPr sz="2800" b="1" i="1" u="sng"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sp>
        <p:nvSpPr>
          <p:cNvPr id="8" name="Google Shape;130;p22">
            <a:extLst>
              <a:ext uri="{FF2B5EF4-FFF2-40B4-BE49-F238E27FC236}">
                <a16:creationId xmlns:a16="http://schemas.microsoft.com/office/drawing/2014/main" id="{9136182C-950A-40C2-915A-FAC5204A1E29}"/>
              </a:ext>
            </a:extLst>
          </p:cNvPr>
          <p:cNvSpPr txBox="1">
            <a:spLocks/>
          </p:cNvSpPr>
          <p:nvPr/>
        </p:nvSpPr>
        <p:spPr>
          <a:xfrm>
            <a:off x="233775" y="2123055"/>
            <a:ext cx="6390529" cy="5895000"/>
          </a:xfrm>
          <a:prstGeom prst="rect">
            <a:avLst/>
          </a:prstGeom>
          <a:noFill/>
          <a:ln>
            <a:noFill/>
          </a:ln>
        </p:spPr>
        <p:txBody>
          <a:bodyPr spcFirstLastPara="1" wrap="square" lIns="80669" tIns="80669" rIns="80669" bIns="80669" anchor="t" anchorCtr="0">
            <a:noAutofit/>
          </a:bodyPr>
          <a:lstStyle>
            <a:defPPr marR="0" lvl="0" algn="l" rtl="0">
              <a:lnSpc>
                <a:spcPct val="100000"/>
              </a:lnSpc>
              <a:spcBef>
                <a:spcPts val="0"/>
              </a:spcBef>
              <a:spcAft>
                <a:spcPts val="0"/>
              </a:spcAft>
            </a:defPPr>
            <a:lvl1pPr marL="403433" marR="0" lvl="0" indent="-302575" algn="l" rtl="0">
              <a:lnSpc>
                <a:spcPct val="115000"/>
              </a:lnSpc>
              <a:spcBef>
                <a:spcPts val="0"/>
              </a:spcBef>
              <a:spcAft>
                <a:spcPts val="0"/>
              </a:spcAft>
              <a:buClr>
                <a:srgbClr val="525C65"/>
              </a:buClr>
              <a:buSzPts val="1800"/>
              <a:buFont typeface="Open Sans Light"/>
              <a:buChar char="●"/>
              <a:defRPr sz="1800" b="0" i="0" u="none" strike="noStrike" cap="none">
                <a:solidFill>
                  <a:srgbClr val="525C65"/>
                </a:solidFill>
                <a:latin typeface="Open Sans Light"/>
                <a:ea typeface="Open Sans Light"/>
                <a:cs typeface="Open Sans Light"/>
                <a:sym typeface="Open Sans Light"/>
              </a:defRPr>
            </a:lvl1pPr>
            <a:lvl2pPr marL="806867" marR="0" lvl="1"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2pPr>
            <a:lvl3pPr marL="1210300" marR="0" lvl="2"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3pPr>
            <a:lvl4pPr marL="1613733" marR="0" lvl="3"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4pPr>
            <a:lvl5pPr marL="2017166" marR="0" lvl="4"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5pPr>
            <a:lvl6pPr marL="2420600" marR="0" lvl="5"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6pPr>
            <a:lvl7pPr marL="2824033" marR="0" lvl="6"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7pPr>
            <a:lvl8pPr marL="3227466" marR="0" lvl="7"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8pPr>
            <a:lvl9pPr marL="3630900" marR="0" lvl="8" indent="-302575" algn="l" rtl="0">
              <a:lnSpc>
                <a:spcPct val="115000"/>
              </a:lnSpc>
              <a:spcBef>
                <a:spcPts val="1412"/>
              </a:spcBef>
              <a:spcAft>
                <a:spcPts val="1412"/>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9pPr>
          </a:lstStyle>
          <a:p>
            <a:pPr marL="0" indent="0">
              <a:spcBef>
                <a:spcPts val="1324"/>
              </a:spcBef>
              <a:buNone/>
            </a:pPr>
            <a:r>
              <a:rPr lang="en-US" i="1" dirty="0">
                <a:latin typeface="Open Sans Light"/>
                <a:ea typeface="Open Sans Light"/>
                <a:cs typeface="Open Sans Light"/>
                <a:sym typeface="Open Sans Light"/>
              </a:rPr>
              <a:t>Screenshot of the </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 service on the web server (command: ‘</a:t>
            </a:r>
            <a:r>
              <a:rPr lang="en-US" i="1" dirty="0" err="1">
                <a:latin typeface="Open Sans Light"/>
                <a:ea typeface="Open Sans Light"/>
                <a:cs typeface="Open Sans Light"/>
                <a:sym typeface="Open Sans Light"/>
              </a:rPr>
              <a:t>systemctl</a:t>
            </a:r>
            <a:r>
              <a:rPr lang="en-US" i="1" dirty="0">
                <a:latin typeface="Open Sans Light"/>
                <a:ea typeface="Open Sans Light"/>
                <a:cs typeface="Open Sans Light"/>
                <a:sym typeface="Open Sans Light"/>
              </a:rPr>
              <a:t> status </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a:t>
            </a:r>
          </a:p>
          <a:p>
            <a:pPr marL="0" indent="0">
              <a:spcBef>
                <a:spcPts val="1324"/>
              </a:spcBef>
              <a:buNone/>
            </a:pPr>
            <a:r>
              <a:rPr lang="en-US" i="1" dirty="0">
                <a:latin typeface="Open Sans Light"/>
                <a:ea typeface="Open Sans Light"/>
                <a:cs typeface="Open Sans Light"/>
                <a:sym typeface="Open Sans Light"/>
              </a:rPr>
              <a:t>.</a:t>
            </a:r>
            <a:endParaRPr lang="en-US" sz="1059" dirty="0">
              <a:solidFill>
                <a:srgbClr val="0D0D0D"/>
              </a:solidFill>
              <a:highlight>
                <a:srgbClr val="FFFFFF"/>
              </a:highlight>
              <a:latin typeface="Roboto"/>
              <a:ea typeface="Roboto"/>
              <a:cs typeface="Roboto"/>
              <a:sym typeface="Roboto"/>
            </a:endParaRPr>
          </a:p>
          <a:p>
            <a:pPr marL="0" indent="0">
              <a:spcBef>
                <a:spcPts val="1324"/>
              </a:spcBef>
              <a:buNone/>
            </a:pPr>
            <a:endParaRPr lang="en-US" i="1" dirty="0">
              <a:latin typeface="Open Sans Light"/>
              <a:ea typeface="Open Sans Light"/>
              <a:cs typeface="Open Sans Light"/>
              <a:sym typeface="Open Sans Light"/>
            </a:endParaRPr>
          </a:p>
          <a:p>
            <a:pPr marL="0" indent="0">
              <a:spcBef>
                <a:spcPts val="1324"/>
              </a:spcBef>
              <a:buNone/>
            </a:pPr>
            <a:endParaRPr lang="en-US" dirty="0">
              <a:latin typeface="Open Sans Light"/>
              <a:ea typeface="Open Sans Light"/>
              <a:cs typeface="Open Sans Light"/>
              <a:sym typeface="Open Sans Light"/>
            </a:endParaRPr>
          </a:p>
        </p:txBody>
      </p:sp>
      <p:pic>
        <p:nvPicPr>
          <p:cNvPr id="3" name="Picture 2">
            <a:extLst>
              <a:ext uri="{FF2B5EF4-FFF2-40B4-BE49-F238E27FC236}">
                <a16:creationId xmlns:a16="http://schemas.microsoft.com/office/drawing/2014/main" id="{07A4FFB5-7AA5-C7A3-AD7D-F57EB72168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66226"/>
            <a:ext cx="6858000" cy="4551829"/>
          </a:xfrm>
          <a:prstGeom prst="rect">
            <a:avLst/>
          </a:prstGeom>
        </p:spPr>
      </p:pic>
    </p:spTree>
    <p:extLst>
      <p:ext uri="{BB962C8B-B14F-4D97-AF65-F5344CB8AC3E}">
        <p14:creationId xmlns:p14="http://schemas.microsoft.com/office/powerpoint/2010/main" val="3194304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Setup Monitoring</a:t>
            </a:r>
            <a:endParaRPr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sp>
        <p:nvSpPr>
          <p:cNvPr id="8" name="Google Shape;130;p22">
            <a:extLst>
              <a:ext uri="{FF2B5EF4-FFF2-40B4-BE49-F238E27FC236}">
                <a16:creationId xmlns:a16="http://schemas.microsoft.com/office/drawing/2014/main" id="{9136182C-950A-40C2-915A-FAC5204A1E29}"/>
              </a:ext>
            </a:extLst>
          </p:cNvPr>
          <p:cNvSpPr txBox="1">
            <a:spLocks/>
          </p:cNvSpPr>
          <p:nvPr/>
        </p:nvSpPr>
        <p:spPr>
          <a:xfrm>
            <a:off x="233775" y="2123055"/>
            <a:ext cx="6390529" cy="5895000"/>
          </a:xfrm>
          <a:prstGeom prst="rect">
            <a:avLst/>
          </a:prstGeom>
          <a:noFill/>
          <a:ln>
            <a:noFill/>
          </a:ln>
        </p:spPr>
        <p:txBody>
          <a:bodyPr spcFirstLastPara="1" wrap="square" lIns="80669" tIns="80669" rIns="80669" bIns="80669" anchor="t" anchorCtr="0">
            <a:noAutofit/>
          </a:bodyPr>
          <a:lstStyle>
            <a:defPPr marR="0" lvl="0" algn="l" rtl="0">
              <a:lnSpc>
                <a:spcPct val="100000"/>
              </a:lnSpc>
              <a:spcBef>
                <a:spcPts val="0"/>
              </a:spcBef>
              <a:spcAft>
                <a:spcPts val="0"/>
              </a:spcAft>
            </a:defPPr>
            <a:lvl1pPr marL="403433" marR="0" lvl="0" indent="-302575" algn="l" rtl="0">
              <a:lnSpc>
                <a:spcPct val="115000"/>
              </a:lnSpc>
              <a:spcBef>
                <a:spcPts val="0"/>
              </a:spcBef>
              <a:spcAft>
                <a:spcPts val="0"/>
              </a:spcAft>
              <a:buClr>
                <a:srgbClr val="525C65"/>
              </a:buClr>
              <a:buSzPts val="1800"/>
              <a:buFont typeface="Open Sans Light"/>
              <a:buChar char="●"/>
              <a:defRPr sz="1800" b="0" i="0" u="none" strike="noStrike" cap="none">
                <a:solidFill>
                  <a:srgbClr val="525C65"/>
                </a:solidFill>
                <a:latin typeface="Open Sans Light"/>
                <a:ea typeface="Open Sans Light"/>
                <a:cs typeface="Open Sans Light"/>
                <a:sym typeface="Open Sans Light"/>
              </a:defRPr>
            </a:lvl1pPr>
            <a:lvl2pPr marL="806867" marR="0" lvl="1"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2pPr>
            <a:lvl3pPr marL="1210300" marR="0" lvl="2"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3pPr>
            <a:lvl4pPr marL="1613733" marR="0" lvl="3"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4pPr>
            <a:lvl5pPr marL="2017166" marR="0" lvl="4"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5pPr>
            <a:lvl6pPr marL="2420600" marR="0" lvl="5"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6pPr>
            <a:lvl7pPr marL="2824033" marR="0" lvl="6"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7pPr>
            <a:lvl8pPr marL="3227466" marR="0" lvl="7"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8pPr>
            <a:lvl9pPr marL="3630900" marR="0" lvl="8" indent="-302575" algn="l" rtl="0">
              <a:lnSpc>
                <a:spcPct val="115000"/>
              </a:lnSpc>
              <a:spcBef>
                <a:spcPts val="1412"/>
              </a:spcBef>
              <a:spcAft>
                <a:spcPts val="1412"/>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9pPr>
          </a:lstStyle>
          <a:p>
            <a:pPr marL="0" indent="0">
              <a:spcBef>
                <a:spcPts val="1324"/>
              </a:spcBef>
              <a:buNone/>
            </a:pPr>
            <a:r>
              <a:rPr lang="en-US" i="1" dirty="0">
                <a:latin typeface="Open Sans Light"/>
                <a:ea typeface="Open Sans Light"/>
                <a:cs typeface="Open Sans Light"/>
                <a:sym typeface="Open Sans Light"/>
              </a:rPr>
              <a:t>Screenshot showing that Kibana receives logs from the </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 host (SIEM/Hosts/</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-VM)</a:t>
            </a:r>
          </a:p>
          <a:p>
            <a:pPr marL="0" indent="0">
              <a:spcBef>
                <a:spcPts val="1324"/>
              </a:spcBef>
              <a:buNone/>
            </a:pPr>
            <a:endParaRPr lang="en-US" i="1" dirty="0">
              <a:latin typeface="Open Sans Light"/>
              <a:ea typeface="Open Sans Light"/>
              <a:cs typeface="Open Sans Light"/>
              <a:sym typeface="Open Sans Light"/>
            </a:endParaRPr>
          </a:p>
          <a:p>
            <a:pPr marL="0" indent="0">
              <a:spcBef>
                <a:spcPts val="1324"/>
              </a:spcBef>
              <a:buNone/>
            </a:pPr>
            <a:endParaRPr lang="en-US" i="1" dirty="0">
              <a:latin typeface="Open Sans Light"/>
              <a:ea typeface="Open Sans Light"/>
              <a:cs typeface="Open Sans Light"/>
              <a:sym typeface="Open Sans Light"/>
            </a:endParaRPr>
          </a:p>
        </p:txBody>
      </p:sp>
      <p:pic>
        <p:nvPicPr>
          <p:cNvPr id="3" name="Picture 2" descr="A screenshot of a computer&#10;&#10;AI-generated content may be incorrect.">
            <a:extLst>
              <a:ext uri="{FF2B5EF4-FFF2-40B4-BE49-F238E27FC236}">
                <a16:creationId xmlns:a16="http://schemas.microsoft.com/office/drawing/2014/main" id="{E513B534-44A0-13BB-A26C-01A76C3A51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56517"/>
            <a:ext cx="6858000" cy="4013947"/>
          </a:xfrm>
          <a:prstGeom prst="rect">
            <a:avLst/>
          </a:prstGeom>
        </p:spPr>
      </p:pic>
    </p:spTree>
    <p:extLst>
      <p:ext uri="{BB962C8B-B14F-4D97-AF65-F5344CB8AC3E}">
        <p14:creationId xmlns:p14="http://schemas.microsoft.com/office/powerpoint/2010/main" val="4127580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Zero Trust</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048812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Zero Trust Comparison</a:t>
            </a:r>
            <a:endParaRPr dirty="0"/>
          </a:p>
        </p:txBody>
      </p:sp>
      <p:graphicFrame>
        <p:nvGraphicFramePr>
          <p:cNvPr id="6" name="Google Shape;234;p38">
            <a:extLst>
              <a:ext uri="{FF2B5EF4-FFF2-40B4-BE49-F238E27FC236}">
                <a16:creationId xmlns:a16="http://schemas.microsoft.com/office/drawing/2014/main" id="{FDD1B80E-BBA3-4B43-9ED0-F04D2A5D6CE6}"/>
              </a:ext>
            </a:extLst>
          </p:cNvPr>
          <p:cNvGraphicFramePr/>
          <p:nvPr>
            <p:extLst>
              <p:ext uri="{D42A27DB-BD31-4B8C-83A1-F6EECF244321}">
                <p14:modId xmlns:p14="http://schemas.microsoft.com/office/powerpoint/2010/main" val="2550546183"/>
              </p:ext>
            </p:extLst>
          </p:nvPr>
        </p:nvGraphicFramePr>
        <p:xfrm>
          <a:off x="233736" y="2114184"/>
          <a:ext cx="6390530" cy="4346137"/>
        </p:xfrm>
        <a:graphic>
          <a:graphicData uri="http://schemas.openxmlformats.org/drawingml/2006/table">
            <a:tbl>
              <a:tblPr>
                <a:noFill/>
              </a:tblPr>
              <a:tblGrid>
                <a:gridCol w="3195265">
                  <a:extLst>
                    <a:ext uri="{9D8B030D-6E8A-4147-A177-3AD203B41FA5}">
                      <a16:colId xmlns:a16="http://schemas.microsoft.com/office/drawing/2014/main" val="20000"/>
                    </a:ext>
                  </a:extLst>
                </a:gridCol>
                <a:gridCol w="3195265">
                  <a:extLst>
                    <a:ext uri="{9D8B030D-6E8A-4147-A177-3AD203B41FA5}">
                      <a16:colId xmlns:a16="http://schemas.microsoft.com/office/drawing/2014/main" val="20001"/>
                    </a:ext>
                  </a:extLst>
                </a:gridCol>
              </a:tblGrid>
              <a:tr h="263365">
                <a:tc gridSpan="2">
                  <a:txBody>
                    <a:bodyPr/>
                    <a:lstStyle/>
                    <a:p>
                      <a:pPr marL="0" lvl="0" indent="0" algn="ctr" rtl="0">
                        <a:lnSpc>
                          <a:spcPct val="115000"/>
                        </a:lnSpc>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1.</a:t>
                      </a:r>
                      <a:r>
                        <a:rPr lang="en-IN" sz="1400" b="1" dirty="0">
                          <a:latin typeface="Open Sans Light" panose="020F0502020204030204" pitchFamily="34" charset="0"/>
                          <a:ea typeface="Open Sans Light" panose="020F0502020204030204" pitchFamily="34" charset="0"/>
                          <a:cs typeface="Open Sans Light" panose="020F0502020204030204" pitchFamily="34" charset="0"/>
                        </a:rPr>
                        <a:t>Consideration of All Resources</a:t>
                      </a:r>
                      <a:endParaRPr sz="14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696247">
                <a:tc>
                  <a:txBody>
                    <a:bodyPr/>
                    <a:lstStyle/>
                    <a:p>
                      <a:pPr marL="0" lvl="0" indent="0" algn="l" rtl="0">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Zero Trust Approach:</a:t>
                      </a: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t>
                      </a: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Zero Trust eliminates the assumption of inherent trust within the network. It treats every user, device, application, and system as a potential attack vector, whether it resides inside or outside the organization’s perimeter.</a:t>
                      </a:r>
                    </a:p>
                    <a:p>
                      <a:pPr marL="0" lvl="0" indent="0" algn="l" rtl="0">
                        <a:spcBef>
                          <a:spcPts val="0"/>
                        </a:spcBef>
                        <a:spcAft>
                          <a:spcPts val="0"/>
                        </a:spcAft>
                        <a:buNone/>
                      </a:pPr>
                      <a:br>
                        <a:rPr lang="en-US" sz="1200" b="0" dirty="0">
                          <a:latin typeface="Open Sans Light" panose="020F0502020204030204" pitchFamily="34" charset="0"/>
                          <a:ea typeface="Open Sans Light" panose="020F0502020204030204" pitchFamily="34" charset="0"/>
                          <a:cs typeface="Open Sans Light" panose="020F0502020204030204" pitchFamily="34" charset="0"/>
                        </a:rPr>
                      </a:b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Every access request is evaluated based on multiple factors—identity, device health, role, location, and risk level—before permission is granted. Even internal resources must be authenticated and authorized for every interaction.</a:t>
                      </a:r>
                      <a:endParaRPr sz="1200" b="0" i="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Traditional Approach:</a:t>
                      </a: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t>
                      </a: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Traditional security models are perimeter-based, relying on the concept of a secure internal network protected by firewalls, intrusion prevention systems, and gateways. Once a user or device gains access to the internal network, it is typically considered trustworthy. </a:t>
                      </a:r>
                    </a:p>
                    <a:p>
                      <a:pPr marL="0" lvl="0" indent="0" algn="l" rtl="0">
                        <a:spcBef>
                          <a:spcPts val="0"/>
                        </a:spcBef>
                        <a:spcAft>
                          <a:spcPts val="0"/>
                        </a:spcAft>
                        <a:buNone/>
                      </a:pPr>
                      <a:endParaRPr lang="en-US" sz="1200" b="0" dirty="0">
                        <a:latin typeface="Open Sans Light" panose="020F0502020204030204" pitchFamily="34" charset="0"/>
                        <a:ea typeface="Open Sans Light" panose="020F0502020204030204" pitchFamily="34" charset="0"/>
                        <a:cs typeface="Open Sans Light" panose="020F0502020204030204" pitchFamily="34" charset="0"/>
                      </a:endParaRPr>
                    </a:p>
                    <a:p>
                      <a:pPr marL="0" lvl="0" indent="0" algn="l" rtl="0">
                        <a:spcBef>
                          <a:spcPts val="0"/>
                        </a:spcBef>
                        <a:spcAft>
                          <a:spcPts val="0"/>
                        </a:spcAft>
                        <a:buNone/>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This approach assumes that threats exist primarily outside the network perimeter.</a:t>
                      </a:r>
                      <a:br>
                        <a:rPr lang="en-US" sz="1200" b="0" dirty="0">
                          <a:latin typeface="Open Sans Light" panose="020F0502020204030204" pitchFamily="34" charset="0"/>
                          <a:ea typeface="Open Sans Light" panose="020F0502020204030204" pitchFamily="34" charset="0"/>
                          <a:cs typeface="Open Sans Light" panose="020F0502020204030204" pitchFamily="34" charset="0"/>
                        </a:rPr>
                      </a:b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As a result, internal devices, servers, and users often communicate freely with minimal verification.</a:t>
                      </a:r>
                      <a:endParaRPr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14970">
                <a:tc gridSpan="2">
                  <a:txBody>
                    <a:bodyPr/>
                    <a:lstStyle/>
                    <a:p>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Benefits of Zero Trust:</a:t>
                      </a: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Prevents lateral movement by attackers inside the network.</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Reduces the risk from insider threats and compromised accounts.</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Improves visibility and control over all resources and interactions.</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Ensures consistent policy enforcement across hybrid and cloud environments.</a:t>
                      </a:r>
                    </a:p>
                    <a:p>
                      <a:pPr marL="0" lvl="0" indent="0" algn="l" rtl="0">
                        <a:spcBef>
                          <a:spcPts val="0"/>
                        </a:spcBef>
                        <a:spcAft>
                          <a:spcPts val="0"/>
                        </a:spcAft>
                        <a:buNone/>
                      </a:pPr>
                      <a:endParaRPr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7" name="Google Shape;235;p38">
            <a:extLst>
              <a:ext uri="{FF2B5EF4-FFF2-40B4-BE49-F238E27FC236}">
                <a16:creationId xmlns:a16="http://schemas.microsoft.com/office/drawing/2014/main" id="{45581395-FB8C-4CE4-95F4-19FEA4B97CA1}"/>
              </a:ext>
            </a:extLst>
          </p:cNvPr>
          <p:cNvGraphicFramePr/>
          <p:nvPr>
            <p:extLst>
              <p:ext uri="{D42A27DB-BD31-4B8C-83A1-F6EECF244321}">
                <p14:modId xmlns:p14="http://schemas.microsoft.com/office/powerpoint/2010/main" val="3388325073"/>
              </p:ext>
            </p:extLst>
          </p:nvPr>
        </p:nvGraphicFramePr>
        <p:xfrm>
          <a:off x="233734" y="6461337"/>
          <a:ext cx="6390530" cy="3742953"/>
        </p:xfrm>
        <a:graphic>
          <a:graphicData uri="http://schemas.openxmlformats.org/drawingml/2006/table">
            <a:tbl>
              <a:tblPr>
                <a:noFill/>
              </a:tblPr>
              <a:tblGrid>
                <a:gridCol w="3195265">
                  <a:extLst>
                    <a:ext uri="{9D8B030D-6E8A-4147-A177-3AD203B41FA5}">
                      <a16:colId xmlns:a16="http://schemas.microsoft.com/office/drawing/2014/main" val="20000"/>
                    </a:ext>
                  </a:extLst>
                </a:gridCol>
                <a:gridCol w="3195265">
                  <a:extLst>
                    <a:ext uri="{9D8B030D-6E8A-4147-A177-3AD203B41FA5}">
                      <a16:colId xmlns:a16="http://schemas.microsoft.com/office/drawing/2014/main" val="20001"/>
                    </a:ext>
                  </a:extLst>
                </a:gridCol>
              </a:tblGrid>
              <a:tr h="383411">
                <a:tc gridSpan="2">
                  <a:txBody>
                    <a:bodyPr/>
                    <a:lstStyle/>
                    <a:p>
                      <a:pPr marL="0" lvl="0" indent="0" algn="ctr" rtl="0">
                        <a:lnSpc>
                          <a:spcPct val="115000"/>
                        </a:lnSpc>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2.</a:t>
                      </a:r>
                      <a:r>
                        <a:rPr lang="en-US" sz="1400" b="1" dirty="0">
                          <a:latin typeface="Open Sans Light" panose="020F0502020204030204" pitchFamily="34" charset="0"/>
                          <a:ea typeface="Open Sans Light" panose="020F0502020204030204" pitchFamily="34" charset="0"/>
                          <a:cs typeface="Open Sans Light" panose="020F0502020204030204" pitchFamily="34" charset="0"/>
                        </a:rPr>
                        <a:t>Continuous Monitoring and Dynamic Authentication</a:t>
                      </a:r>
                      <a:endParaRPr sz="14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378262">
                <a:tc>
                  <a:txBody>
                    <a:bodyPr/>
                    <a:lstStyle/>
                    <a:p>
                      <a:pPr marL="0" lvl="0" indent="0" algn="l" rtl="0">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Zero Trust Approach:</a:t>
                      </a: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t>
                      </a: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Zero Trust emphasizes continuous monitoring and dynamic authentication. User behavior, device posture, network activity, and application integrity are continuously analyzed in real time.</a:t>
                      </a:r>
                      <a:br>
                        <a:rPr lang="en-US" sz="1200" b="0" dirty="0">
                          <a:latin typeface="Open Sans Light" panose="020F0502020204030204" pitchFamily="34" charset="0"/>
                          <a:ea typeface="Open Sans Light" panose="020F0502020204030204" pitchFamily="34" charset="0"/>
                          <a:cs typeface="Open Sans Light" panose="020F0502020204030204" pitchFamily="34" charset="0"/>
                        </a:rPr>
                      </a:b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Access permissions are dynamically adjusted based on contextual risk factors, such as unusual login locations, time of access, or changes in device security posture. If suspicious activity is detected, access can be immediately revoked, and security teams are alerted.</a:t>
                      </a:r>
                      <a:endParaRPr sz="1200" b="0" i="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Traditional Approach:</a:t>
                      </a: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t>
                      </a: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In traditional security systems, authentication usually happens once, during login. After that, the session remains valid, even if the user’s device becomes compromised. Monitoring is largely reactive; logs are </a:t>
                      </a:r>
                      <a:r>
                        <a:rPr lang="en-US" sz="1200" b="0" dirty="0" err="1">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analysed</a:t>
                      </a: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only after suspicious </a:t>
                      </a:r>
                      <a:r>
                        <a:rPr lang="en-US" sz="1200" b="0" dirty="0" err="1">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behaviour</a:t>
                      </a: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or incidents occur</a:t>
                      </a:r>
                      <a:endParaRPr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973419">
                <a:tc gridSpan="2">
                  <a:txBody>
                    <a:bodyPr/>
                    <a:lstStyle/>
                    <a:p>
                      <a:pPr marL="0" lvl="0" indent="0" algn="l" rtl="0">
                        <a:spcBef>
                          <a:spcPts val="0"/>
                        </a:spcBef>
                        <a:spcAft>
                          <a:spcPts val="0"/>
                        </a:spcAft>
                        <a:buNone/>
                      </a:pPr>
                      <a:endParaRPr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71170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Zero Trust Comparison</a:t>
            </a:r>
            <a:endParaRPr dirty="0"/>
          </a:p>
        </p:txBody>
      </p:sp>
      <p:graphicFrame>
        <p:nvGraphicFramePr>
          <p:cNvPr id="5" name="Google Shape;241;p39">
            <a:extLst>
              <a:ext uri="{FF2B5EF4-FFF2-40B4-BE49-F238E27FC236}">
                <a16:creationId xmlns:a16="http://schemas.microsoft.com/office/drawing/2014/main" id="{A8BB0500-C191-4302-8135-DA1366917C17}"/>
              </a:ext>
            </a:extLst>
          </p:cNvPr>
          <p:cNvGraphicFramePr/>
          <p:nvPr>
            <p:extLst>
              <p:ext uri="{D42A27DB-BD31-4B8C-83A1-F6EECF244321}">
                <p14:modId xmlns:p14="http://schemas.microsoft.com/office/powerpoint/2010/main" val="2711425713"/>
              </p:ext>
            </p:extLst>
          </p:nvPr>
        </p:nvGraphicFramePr>
        <p:xfrm>
          <a:off x="233694" y="4088296"/>
          <a:ext cx="6390530" cy="3824880"/>
        </p:xfrm>
        <a:graphic>
          <a:graphicData uri="http://schemas.openxmlformats.org/drawingml/2006/table">
            <a:tbl>
              <a:tblPr>
                <a:noFill/>
              </a:tblPr>
              <a:tblGrid>
                <a:gridCol w="3195265">
                  <a:extLst>
                    <a:ext uri="{9D8B030D-6E8A-4147-A177-3AD203B41FA5}">
                      <a16:colId xmlns:a16="http://schemas.microsoft.com/office/drawing/2014/main" val="20000"/>
                    </a:ext>
                  </a:extLst>
                </a:gridCol>
                <a:gridCol w="3195265">
                  <a:extLst>
                    <a:ext uri="{9D8B030D-6E8A-4147-A177-3AD203B41FA5}">
                      <a16:colId xmlns:a16="http://schemas.microsoft.com/office/drawing/2014/main" val="20001"/>
                    </a:ext>
                  </a:extLst>
                </a:gridCol>
              </a:tblGrid>
              <a:tr h="393244">
                <a:tc gridSpan="2">
                  <a:txBody>
                    <a:bodyPr/>
                    <a:lstStyle/>
                    <a:p>
                      <a:pPr marL="0" lvl="0" indent="0" algn="ctr" rtl="0">
                        <a:lnSpc>
                          <a:spcPct val="115000"/>
                        </a:lnSpc>
                        <a:spcBef>
                          <a:spcPts val="0"/>
                        </a:spcBef>
                        <a:spcAft>
                          <a:spcPts val="0"/>
                        </a:spcAft>
                        <a:buNone/>
                      </a:pP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3. </a:t>
                      </a:r>
                      <a:r>
                        <a:rPr lang="en" sz="14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Secured Communication</a:t>
                      </a:r>
                      <a:endParaRPr sz="14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1542684">
                <a:tc>
                  <a:txBody>
                    <a:bodyPr/>
                    <a:lstStyle/>
                    <a:p>
                      <a:pPr marL="0" lvl="0" indent="0" algn="l" rtl="0">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Zero Trust Approach:</a:t>
                      </a: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t>
                      </a: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Zero Trust mandates that all communications—internal and external—be encrypted and verified. Each data transfer must occur over a secure channel, ensuring confidentiality and integrity across all network layers.</a:t>
                      </a:r>
                      <a:endParaRPr sz="1200" b="0" i="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Traditional Approach:</a:t>
                      </a:r>
                      <a:r>
                        <a:rPr lang="en"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 </a:t>
                      </a: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Traditional architectures typically encrypt traffic only when it crosses the perimeter (e.g., using HTTPS over the internet). Internal communications are often left unencrypted, assuming the internal environment is trusted. This makes internal data susceptible to interception or tampering if an attacker gains access.</a:t>
                      </a:r>
                      <a:endParaRPr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422110">
                <a:tc gridSpan="2">
                  <a:txBody>
                    <a:bodyPr/>
                    <a:lstStyle/>
                    <a:p>
                      <a:pPr marL="0" lvl="0" indent="0" algn="l" rtl="0">
                        <a:spcBef>
                          <a:spcPts val="0"/>
                        </a:spcBef>
                        <a:spcAft>
                          <a:spcPts val="0"/>
                        </a:spcAft>
                        <a:buNone/>
                      </a:pPr>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Benefits of Zero Trust:</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Guarantees end-to-end encryption for all data transfers, both internal and external.</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Prevents data interception and tampering by ensuring all communication occurs over trusted, encrypted channels.</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Protects sensitive organizational data in motion, maintaining confidentiality and integrity.</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Strengthens compliance with regulatory and industry standards such as GDPR, HIPAA, and ISO 27001.</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Enables secure integration between cloud services, remote users, and internal systems.</a:t>
                      </a:r>
                    </a:p>
                    <a:p>
                      <a:pPr marL="171450" indent="-171450">
                        <a:buFont typeface="Arial" panose="020B0604020202020204" pitchFamily="34" charset="0"/>
                        <a:buChar char="•"/>
                      </a:pPr>
                      <a:r>
                        <a:rPr lang="en-US" sz="1200" b="0" dirty="0">
                          <a:latin typeface="Open Sans Light" panose="020F0502020204030204" pitchFamily="34" charset="0"/>
                          <a:ea typeface="Open Sans Light" panose="020F0502020204030204" pitchFamily="34" charset="0"/>
                          <a:cs typeface="Open Sans Light" panose="020F0502020204030204" pitchFamily="34" charset="0"/>
                        </a:rPr>
                        <a:t>Reduces the risk of man-in-the-middle attacks by verifying both communicating parties</a:t>
                      </a:r>
                      <a:r>
                        <a:rPr lang="en-US" sz="1200" b="0" dirty="0"/>
                        <a:t>.</a:t>
                      </a: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4" name="Table 3">
            <a:extLst>
              <a:ext uri="{FF2B5EF4-FFF2-40B4-BE49-F238E27FC236}">
                <a16:creationId xmlns:a16="http://schemas.microsoft.com/office/drawing/2014/main" id="{FD11E6BC-255E-4518-3FFB-A3C8B13BA4F2}"/>
              </a:ext>
            </a:extLst>
          </p:cNvPr>
          <p:cNvGraphicFramePr>
            <a:graphicFrameLocks noGrp="1"/>
          </p:cNvGraphicFramePr>
          <p:nvPr>
            <p:extLst>
              <p:ext uri="{D42A27DB-BD31-4B8C-83A1-F6EECF244321}">
                <p14:modId xmlns:p14="http://schemas.microsoft.com/office/powerpoint/2010/main" val="3277085391"/>
              </p:ext>
            </p:extLst>
          </p:nvPr>
        </p:nvGraphicFramePr>
        <p:xfrm>
          <a:off x="233694" y="1974574"/>
          <a:ext cx="6390528" cy="2113722"/>
        </p:xfrm>
        <a:graphic>
          <a:graphicData uri="http://schemas.openxmlformats.org/drawingml/2006/table">
            <a:tbl>
              <a:tblPr firstRow="1" bandRow="1">
                <a:tableStyleId>{5940675A-B579-460E-94D1-54222C63F5DA}</a:tableStyleId>
              </a:tblPr>
              <a:tblGrid>
                <a:gridCol w="6390528">
                  <a:extLst>
                    <a:ext uri="{9D8B030D-6E8A-4147-A177-3AD203B41FA5}">
                      <a16:colId xmlns:a16="http://schemas.microsoft.com/office/drawing/2014/main" val="2748731720"/>
                    </a:ext>
                  </a:extLst>
                </a:gridCol>
              </a:tblGrid>
              <a:tr h="2113722">
                <a:tc>
                  <a:txBody>
                    <a:bodyPr/>
                    <a:lstStyle/>
                    <a:p>
                      <a:r>
                        <a:rPr lang="en" sz="1200" b="1"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Benefits of Zero Trust: </a:t>
                      </a:r>
                    </a:p>
                    <a:p>
                      <a:pPr marL="285750" indent="-285750">
                        <a:buFont typeface="Arial" panose="020B0604020202020204" pitchFamily="34" charset="0"/>
                        <a:buChar char="•"/>
                      </a:pP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Real-Time Threat Detection: Enables continuous assessment of user and device behavior, identifying anomalies the moment they occur.</a:t>
                      </a:r>
                    </a:p>
                    <a:p>
                      <a:pPr marL="285750" indent="-285750">
                        <a:buFont typeface="Arial" panose="020B0604020202020204" pitchFamily="34" charset="0"/>
                        <a:buChar char="•"/>
                      </a:pP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Reduced Insider Threats: Constant validation makes it harder for compromised internal accounts or malicious insiders to exploit their privileges.</a:t>
                      </a:r>
                    </a:p>
                    <a:p>
                      <a:pPr marL="285750" indent="-285750">
                        <a:buFont typeface="Arial" panose="020B0604020202020204" pitchFamily="34" charset="0"/>
                        <a:buChar char="•"/>
                      </a:pP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Adaptive Security Controls: Automatically adjusts access permissions based on changing risk levels (e.g., unusual login location or device compromise).</a:t>
                      </a:r>
                    </a:p>
                    <a:p>
                      <a:pPr marL="285750" indent="-285750">
                        <a:buFont typeface="Arial" panose="020B0604020202020204" pitchFamily="34" charset="0"/>
                        <a:buChar char="•"/>
                      </a:pP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Enhanced Incident Response: Provides security teams with real-time data and alerts to act quickly and contain threats.</a:t>
                      </a:r>
                    </a:p>
                    <a:p>
                      <a:pPr marL="285750" indent="-285750">
                        <a:buFont typeface="Arial" panose="020B0604020202020204" pitchFamily="34" charset="0"/>
                        <a:buChar char="•"/>
                      </a:pPr>
                      <a:r>
                        <a:rPr lang="en-US" sz="1200" b="0" dirty="0">
                          <a:solidFill>
                            <a:srgbClr val="525C65"/>
                          </a:solidFill>
                          <a:latin typeface="Open Sans Light" panose="020F0502020204030204" pitchFamily="34" charset="0"/>
                          <a:ea typeface="Open Sans Light" panose="020F0502020204030204" pitchFamily="34" charset="0"/>
                          <a:cs typeface="Open Sans Light" panose="020F0502020204030204" pitchFamily="34" charset="0"/>
                          <a:sym typeface="Open Sans"/>
                        </a:rPr>
                        <a:t>Improved Visibility and Compliance: Generates detailed activity logs and analytics for auditing, regulatory compliance, and forensic investigations.</a:t>
                      </a:r>
                    </a:p>
                  </a:txBody>
                  <a:tcPr/>
                </a:tc>
                <a:extLst>
                  <a:ext uri="{0D108BD9-81ED-4DB2-BD59-A6C34878D82A}">
                    <a16:rowId xmlns:a16="http://schemas.microsoft.com/office/drawing/2014/main" val="519266990"/>
                  </a:ext>
                </a:extLst>
              </a:tr>
            </a:tbl>
          </a:graphicData>
        </a:graphic>
      </p:graphicFrame>
    </p:spTree>
    <p:extLst>
      <p:ext uri="{BB962C8B-B14F-4D97-AF65-F5344CB8AC3E}">
        <p14:creationId xmlns:p14="http://schemas.microsoft.com/office/powerpoint/2010/main" val="2241876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Zero Trust Model</a:t>
            </a:r>
            <a:endParaRPr dirty="0"/>
          </a:p>
        </p:txBody>
      </p:sp>
      <p:graphicFrame>
        <p:nvGraphicFramePr>
          <p:cNvPr id="4" name="Google Shape;253;p41">
            <a:extLst>
              <a:ext uri="{FF2B5EF4-FFF2-40B4-BE49-F238E27FC236}">
                <a16:creationId xmlns:a16="http://schemas.microsoft.com/office/drawing/2014/main" id="{E735C933-276F-48AB-B746-092BC0997E8F}"/>
              </a:ext>
            </a:extLst>
          </p:cNvPr>
          <p:cNvGraphicFramePr/>
          <p:nvPr>
            <p:extLst>
              <p:ext uri="{D42A27DB-BD31-4B8C-83A1-F6EECF244321}">
                <p14:modId xmlns:p14="http://schemas.microsoft.com/office/powerpoint/2010/main" val="3185661291"/>
              </p:ext>
            </p:extLst>
          </p:nvPr>
        </p:nvGraphicFramePr>
        <p:xfrm>
          <a:off x="233736" y="2123074"/>
          <a:ext cx="6390529" cy="6960414"/>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659505">
                <a:tc>
                  <a:txBody>
                    <a:bodyPr/>
                    <a:lstStyle/>
                    <a:p>
                      <a:pPr marL="0" lvl="0" indent="0" algn="ctr" rtl="0">
                        <a:lnSpc>
                          <a:spcPct val="115000"/>
                        </a:lnSpc>
                        <a:spcBef>
                          <a:spcPts val="0"/>
                        </a:spcBef>
                        <a:spcAft>
                          <a:spcPts val="0"/>
                        </a:spcAft>
                        <a:buNone/>
                      </a:pPr>
                      <a:r>
                        <a:rPr lang="en" sz="1600" dirty="0">
                          <a:solidFill>
                            <a:srgbClr val="525C65"/>
                          </a:solidFill>
                          <a:latin typeface="Open Sans"/>
                          <a:ea typeface="Open Sans"/>
                          <a:cs typeface="Open Sans"/>
                          <a:sym typeface="Open Sans"/>
                        </a:rPr>
                        <a:t>Device Agent and Gateway</a:t>
                      </a: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300909">
                <a:tc>
                  <a:txBody>
                    <a:bodyPr/>
                    <a:lstStyle/>
                    <a:p>
                      <a:pPr marL="0" lvl="0" indent="0" algn="l" rtl="0">
                        <a:spcBef>
                          <a:spcPts val="0"/>
                        </a:spcBef>
                        <a:spcAft>
                          <a:spcPts val="0"/>
                        </a:spcAft>
                        <a:buNone/>
                      </a:pPr>
                      <a:r>
                        <a:rPr lang="en-US" sz="1600" dirty="0">
                          <a:latin typeface="Open Sans Light" panose="020F0502020204030204" pitchFamily="34" charset="0"/>
                          <a:ea typeface="Open Sans Light" panose="020F0502020204030204" pitchFamily="34" charset="0"/>
                          <a:cs typeface="Open Sans Light" panose="020F0502020204030204" pitchFamily="34" charset="0"/>
                        </a:rPr>
                        <a:t>For XYZ, the Device Agent &amp; Gateway model is the definitive choice, mandating continuous verification of both user identity and endpoint security posture. </a:t>
                      </a:r>
                    </a:p>
                    <a:p>
                      <a:pPr marL="0" lvl="0" indent="0" algn="l" rtl="0">
                        <a:spcBef>
                          <a:spcPts val="0"/>
                        </a:spcBef>
                        <a:spcAft>
                          <a:spcPts val="0"/>
                        </a:spcAft>
                        <a:buNone/>
                      </a:pPr>
                      <a:endParaRPr lang="en-US" sz="1600" dirty="0">
                        <a:latin typeface="Open Sans Light" panose="020F0502020204030204" pitchFamily="34" charset="0"/>
                        <a:ea typeface="Open Sans Light" panose="020F0502020204030204" pitchFamily="34" charset="0"/>
                        <a:cs typeface="Open Sans Light" panose="020F0502020204030204" pitchFamily="34" charset="0"/>
                      </a:endParaRPr>
                    </a:p>
                    <a:p>
                      <a:pPr marL="0" lvl="0" indent="0" algn="l" rtl="0">
                        <a:spcBef>
                          <a:spcPts val="0"/>
                        </a:spcBef>
                        <a:spcAft>
                          <a:spcPts val="0"/>
                        </a:spcAft>
                        <a:buNone/>
                      </a:pPr>
                      <a:r>
                        <a:rPr lang="en-US" sz="1600" dirty="0"/>
                        <a:t>A traditional VPN connects the "On-Premise Network" to the "Private Subnet," effectively making the remote user's computer part of that trusted network. If that on-premise computer gets malware, it can easily attack the databases because the network trusts it.</a:t>
                      </a:r>
                    </a:p>
                    <a:p>
                      <a:pPr marL="0" lvl="0" indent="0" algn="l" rtl="0">
                        <a:spcBef>
                          <a:spcPts val="0"/>
                        </a:spcBef>
                        <a:spcAft>
                          <a:spcPts val="0"/>
                        </a:spcAft>
                        <a:buNone/>
                      </a:pPr>
                      <a:endParaRPr lang="en-US" sz="1600" dirty="0"/>
                    </a:p>
                    <a:p>
                      <a:pPr marL="0" lvl="0" indent="0" algn="l" rtl="0">
                        <a:spcBef>
                          <a:spcPts val="0"/>
                        </a:spcBef>
                        <a:spcAft>
                          <a:spcPts val="0"/>
                        </a:spcAft>
                        <a:buNone/>
                      </a:pPr>
                      <a:r>
                        <a:rPr lang="en-US" sz="1600" dirty="0"/>
                        <a:t>The agent and gateway model eliminates this broad network access. When an administrator on-premise tries to connect, the gateway intercepts the request. It verifies the user's identity </a:t>
                      </a:r>
                      <a:r>
                        <a:rPr lang="en-US" sz="1600" i="1" dirty="0"/>
                        <a:t>and</a:t>
                      </a:r>
                      <a:r>
                        <a:rPr lang="en-US" sz="1600" dirty="0"/>
                        <a:t> the health of their computer via the agent. Access is then only granted to the </a:t>
                      </a:r>
                      <a:r>
                        <a:rPr lang="en-US" sz="1600" i="1" dirty="0"/>
                        <a:t>specific database or server</a:t>
                      </a:r>
                      <a:r>
                        <a:rPr lang="en-US" sz="1600" dirty="0"/>
                        <a:t> they are authorized to manage, for that specific session. The rest of the private subnet remains invisible and inaccessible.</a:t>
                      </a:r>
                    </a:p>
                    <a:p>
                      <a:pPr marL="0" lvl="0" indent="0" algn="l" rtl="0">
                        <a:spcBef>
                          <a:spcPts val="0"/>
                        </a:spcBef>
                        <a:spcAft>
                          <a:spcPts val="0"/>
                        </a:spcAft>
                        <a:buNone/>
                      </a:pPr>
                      <a:endParaRPr lang="en-US" sz="1600" i="1" dirty="0">
                        <a:solidFill>
                          <a:srgbClr val="525C65"/>
                        </a:solidFill>
                        <a:latin typeface="Open Sans Light"/>
                        <a:ea typeface="Open Sans Light"/>
                        <a:cs typeface="Open Sans Light"/>
                        <a:sym typeface="Open Sans Light"/>
                      </a:endParaRPr>
                    </a:p>
                    <a:p>
                      <a:pPr marL="285750" indent="-285750">
                        <a:buFont typeface="Arial" panose="020B0604020202020204" pitchFamily="34" charset="0"/>
                        <a:buChar char="•"/>
                      </a:pPr>
                      <a:r>
                        <a:rPr lang="en-US" sz="1400" b="1" dirty="0">
                          <a:latin typeface="Open Sans Light" panose="020F0502020204030204" pitchFamily="34" charset="0"/>
                          <a:ea typeface="Open Sans Light" panose="020F0502020204030204" pitchFamily="34" charset="0"/>
                          <a:cs typeface="Open Sans Light" panose="020F0502020204030204" pitchFamily="34" charset="0"/>
                        </a:rPr>
                        <a:t>Dual Verification:</a:t>
                      </a:r>
                      <a:r>
                        <a:rPr lang="en-US" sz="1400" dirty="0">
                          <a:latin typeface="Open Sans Light" panose="020F0502020204030204" pitchFamily="34" charset="0"/>
                          <a:ea typeface="Open Sans Light" panose="020F0502020204030204" pitchFamily="34" charset="0"/>
                          <a:cs typeface="Open Sans Light" panose="020F0502020204030204" pitchFamily="34" charset="0"/>
                        </a:rPr>
                        <a:t> This model's core strength is its requirement to verify </a:t>
                      </a:r>
                      <a:r>
                        <a:rPr lang="en-US" sz="1400" b="1" dirty="0">
                          <a:latin typeface="Open Sans Light" panose="020F0502020204030204" pitchFamily="34" charset="0"/>
                          <a:ea typeface="Open Sans Light" panose="020F0502020204030204" pitchFamily="34" charset="0"/>
                          <a:cs typeface="Open Sans Light" panose="020F0502020204030204" pitchFamily="34" charset="0"/>
                        </a:rPr>
                        <a:t>both the user's identity and the device's security health</a:t>
                      </a:r>
                      <a:r>
                        <a:rPr lang="en-US" sz="1400" dirty="0">
                          <a:latin typeface="Open Sans Light" panose="020F0502020204030204" pitchFamily="34" charset="0"/>
                          <a:ea typeface="Open Sans Light" panose="020F0502020204030204" pitchFamily="34" charset="0"/>
                          <a:cs typeface="Open Sans Light" panose="020F0502020204030204" pitchFamily="34" charset="0"/>
                        </a:rPr>
                        <a:t>. Access is only granted if both are compliant.</a:t>
                      </a:r>
                    </a:p>
                    <a:p>
                      <a:pPr marL="285750" indent="-285750">
                        <a:buFont typeface="Arial" panose="020B0604020202020204" pitchFamily="34" charset="0"/>
                        <a:buChar char="•"/>
                      </a:pPr>
                      <a:r>
                        <a:rPr lang="en-US" sz="1400" b="1" dirty="0">
                          <a:latin typeface="Open Sans Light" panose="020F0502020204030204" pitchFamily="34" charset="0"/>
                          <a:ea typeface="Open Sans Light" panose="020F0502020204030204" pitchFamily="34" charset="0"/>
                          <a:cs typeface="Open Sans Light" panose="020F0502020204030204" pitchFamily="34" charset="0"/>
                        </a:rPr>
                        <a:t>Secures the Modern Workforce:</a:t>
                      </a:r>
                      <a:r>
                        <a:rPr lang="en-US" sz="1400" dirty="0">
                          <a:latin typeface="Open Sans Light" panose="020F0502020204030204" pitchFamily="34" charset="0"/>
                          <a:ea typeface="Open Sans Light" panose="020F0502020204030204" pitchFamily="34" charset="0"/>
                          <a:cs typeface="Open Sans Light" panose="020F0502020204030204" pitchFamily="34" charset="0"/>
                        </a:rPr>
                        <a:t> It is perfectly suited for a hybrid network, creating a </a:t>
                      </a:r>
                      <a:r>
                        <a:rPr lang="en-US" sz="1400" b="1" dirty="0">
                          <a:latin typeface="Open Sans Light" panose="020F0502020204030204" pitchFamily="34" charset="0"/>
                          <a:ea typeface="Open Sans Light" panose="020F0502020204030204" pitchFamily="34" charset="0"/>
                          <a:cs typeface="Open Sans Light" panose="020F0502020204030204" pitchFamily="34" charset="0"/>
                        </a:rPr>
                        <a:t>consistent security perimeter</a:t>
                      </a:r>
                      <a:r>
                        <a:rPr lang="en-US" sz="1400" dirty="0">
                          <a:latin typeface="Open Sans Light" panose="020F0502020204030204" pitchFamily="34" charset="0"/>
                          <a:ea typeface="Open Sans Light" panose="020F0502020204030204" pitchFamily="34" charset="0"/>
                          <a:cs typeface="Open Sans Light" panose="020F0502020204030204" pitchFamily="34" charset="0"/>
                        </a:rPr>
                        <a:t> that protects every user and device, whether they are in the office, at home, or travelling.</a:t>
                      </a: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718684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4099</TotalTime>
  <Words>2317</Words>
  <Application>Microsoft Office PowerPoint</Application>
  <PresentationFormat>On-screen Show (4:3)</PresentationFormat>
  <Paragraphs>150</Paragraphs>
  <Slides>24</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24</vt:i4>
      </vt:variant>
    </vt:vector>
  </HeadingPairs>
  <TitlesOfParts>
    <vt:vector size="34" baseType="lpstr">
      <vt:lpstr>Arial</vt:lpstr>
      <vt:lpstr>Calibri</vt:lpstr>
      <vt:lpstr>Corbel</vt:lpstr>
      <vt:lpstr>Helvetica Neue</vt:lpstr>
      <vt:lpstr>Open Sans</vt:lpstr>
      <vt:lpstr>Open Sans Light</vt:lpstr>
      <vt:lpstr>Roboto</vt:lpstr>
      <vt:lpstr>Wingdings</vt:lpstr>
      <vt:lpstr>Banded</vt:lpstr>
      <vt:lpstr>Simple Light</vt:lpstr>
      <vt:lpstr>PowerPoint Presentation</vt:lpstr>
      <vt:lpstr>Overview</vt:lpstr>
      <vt:lpstr>PowerPoint Presentation</vt:lpstr>
      <vt:lpstr>Network Vulnerabilities</vt:lpstr>
      <vt:lpstr>Network Vulnerabilities</vt:lpstr>
      <vt:lpstr>Network Redesign</vt:lpstr>
      <vt:lpstr>Convince the Stakeholders</vt:lpstr>
      <vt:lpstr>Convince the Stakeholders</vt:lpstr>
      <vt:lpstr>PowerPoint Presentation</vt:lpstr>
      <vt:lpstr>Public Network Subnet</vt:lpstr>
      <vt:lpstr>Private Network Subnet</vt:lpstr>
      <vt:lpstr>Internal Network Subnet</vt:lpstr>
      <vt:lpstr>PowerPoint Presentation</vt:lpstr>
      <vt:lpstr>Understanding SIEM Benefits</vt:lpstr>
      <vt:lpstr>Understanding SIEM Benefits</vt:lpstr>
      <vt:lpstr>Gateway Virtual Machine  </vt:lpstr>
      <vt:lpstr>ELK-Server Virtual Machine</vt:lpstr>
      <vt:lpstr>Filebeat Virtual Machine</vt:lpstr>
      <vt:lpstr>Filebeat Service on the Web Server</vt:lpstr>
      <vt:lpstr>Setup Monitoring</vt:lpstr>
      <vt:lpstr>PowerPoint Presentation</vt:lpstr>
      <vt:lpstr>Zero Trust Comparison</vt:lpstr>
      <vt:lpstr>Zero Trust Comparison</vt:lpstr>
      <vt:lpstr>Zero Trust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Arnav Gupta</dc:creator>
  <cp:lastModifiedBy>Chitransh Mathur</cp:lastModifiedBy>
  <cp:revision>13</cp:revision>
  <dcterms:created xsi:type="dcterms:W3CDTF">2024-12-31T07:43:09Z</dcterms:created>
  <dcterms:modified xsi:type="dcterms:W3CDTF">2025-10-08T17:12:11Z</dcterms:modified>
</cp:coreProperties>
</file>